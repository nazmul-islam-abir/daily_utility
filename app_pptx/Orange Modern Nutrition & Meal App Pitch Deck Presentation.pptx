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nter Medium" charset="1" panose="02000503000000020004"/>
      <p:regular r:id="rId16"/>
    </p:embeddedFont>
    <p:embeddedFont>
      <p:font typeface="Inter Semi-Bold" charset="1" panose="02000503000000020004"/>
      <p:regular r:id="rId17"/>
    </p:embeddedFont>
    <p:embeddedFont>
      <p:font typeface="Inter Bold" charset="1" panose="02000503000000020004"/>
      <p:regular r:id="rId18"/>
    </p:embeddedFont>
    <p:embeddedFont>
      <p:font typeface="Inter" charset="1" panose="020005030000000200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media/image6.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2" Target="../media/image13.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11" Target="../media/image29.png" Type="http://schemas.openxmlformats.org/officeDocument/2006/relationships/image"/><Relationship Id="rId12" Target="../media/image30.svg" Type="http://schemas.openxmlformats.org/officeDocument/2006/relationships/image"/><Relationship Id="rId2" Target="../media/image20.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6.pn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9.jpeg" Type="http://schemas.openxmlformats.org/officeDocument/2006/relationships/image"/><Relationship Id="rId5" Target="../media/image40.jpeg" Type="http://schemas.openxmlformats.org/officeDocument/2006/relationships/image"/><Relationship Id="rId6" Target="../media/image4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svg" Type="http://schemas.openxmlformats.org/officeDocument/2006/relationships/image"/><Relationship Id="rId11" Target="../media/image48.png" Type="http://schemas.openxmlformats.org/officeDocument/2006/relationships/image"/><Relationship Id="rId12" Target="../media/image49.svg" Type="http://schemas.openxmlformats.org/officeDocument/2006/relationships/image"/><Relationship Id="rId13" Target="../media/image50.png" Type="http://schemas.openxmlformats.org/officeDocument/2006/relationships/image"/><Relationship Id="rId14" Target="../media/image51.svg" Type="http://schemas.openxmlformats.org/officeDocument/2006/relationships/image"/><Relationship Id="rId2" Target="../media/image1.png" Type="http://schemas.openxmlformats.org/officeDocument/2006/relationships/image"/><Relationship Id="rId3" Target="../media/image4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3.jpe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4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2230762">
            <a:off x="2459055" y="924443"/>
            <a:ext cx="19465889" cy="15997422"/>
          </a:xfrm>
          <a:custGeom>
            <a:avLst/>
            <a:gdLst/>
            <a:ahLst/>
            <a:cxnLst/>
            <a:rect r="r" b="b" t="t" l="l"/>
            <a:pathLst>
              <a:path h="15997422" w="19465889">
                <a:moveTo>
                  <a:pt x="0" y="0"/>
                </a:moveTo>
                <a:lnTo>
                  <a:pt x="19465890" y="0"/>
                </a:lnTo>
                <a:lnTo>
                  <a:pt x="19465890" y="15997422"/>
                </a:lnTo>
                <a:lnTo>
                  <a:pt x="0" y="15997422"/>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2192000" y="401620"/>
            <a:ext cx="4792993" cy="9483760"/>
            <a:chOff x="0" y="0"/>
            <a:chExt cx="2620010" cy="5184140"/>
          </a:xfrm>
        </p:grpSpPr>
        <p:sp>
          <p:nvSpPr>
            <p:cNvPr name="Freeform 4" id="4"/>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 id="5"/>
            <p:cNvSpPr/>
            <p:nvPr/>
          </p:nvSpPr>
          <p:spPr>
            <a:xfrm flipH="false" flipV="false" rot="-5400000">
              <a:off x="-1127754" y="1469384"/>
              <a:ext cx="4876800" cy="2250453"/>
            </a:xfrm>
            <a:custGeom>
              <a:avLst/>
              <a:gdLst/>
              <a:ahLst/>
              <a:cxnLst/>
              <a:rect r="r" b="b" t="t" l="l"/>
              <a:pathLst>
                <a:path h="2250453" w="4876800">
                  <a:moveTo>
                    <a:pt x="4876800" y="2040889"/>
                  </a:moveTo>
                  <a:lnTo>
                    <a:pt x="4876800" y="1769110"/>
                  </a:lnTo>
                  <a:lnTo>
                    <a:pt x="4819650" y="1769110"/>
                  </a:lnTo>
                  <a:cubicBezTo>
                    <a:pt x="4754880" y="1769110"/>
                    <a:pt x="4701540" y="1715770"/>
                    <a:pt x="4701540" y="1650999"/>
                  </a:cubicBezTo>
                  <a:lnTo>
                    <a:pt x="4701540" y="601980"/>
                  </a:lnTo>
                  <a:cubicBezTo>
                    <a:pt x="4701540" y="537210"/>
                    <a:pt x="4754880" y="483870"/>
                    <a:pt x="4819650" y="483870"/>
                  </a:cubicBezTo>
                  <a:lnTo>
                    <a:pt x="4876800" y="483870"/>
                  </a:lnTo>
                  <a:lnTo>
                    <a:pt x="4876800" y="209550"/>
                  </a:lnTo>
                  <a:cubicBezTo>
                    <a:pt x="4876800" y="93980"/>
                    <a:pt x="4782820" y="0"/>
                    <a:pt x="4667250" y="0"/>
                  </a:cubicBezTo>
                  <a:lnTo>
                    <a:pt x="209550" y="0"/>
                  </a:lnTo>
                  <a:cubicBezTo>
                    <a:pt x="93980" y="0"/>
                    <a:pt x="0" y="93980"/>
                    <a:pt x="0" y="209550"/>
                  </a:cubicBezTo>
                  <a:lnTo>
                    <a:pt x="0" y="2040889"/>
                  </a:lnTo>
                  <a:cubicBezTo>
                    <a:pt x="0" y="2156460"/>
                    <a:pt x="93980" y="2250439"/>
                    <a:pt x="209550" y="2250439"/>
                  </a:cubicBezTo>
                  <a:lnTo>
                    <a:pt x="4667250" y="2250439"/>
                  </a:lnTo>
                  <a:cubicBezTo>
                    <a:pt x="4782820" y="2251710"/>
                    <a:pt x="4876800" y="2157729"/>
                    <a:pt x="4876800" y="2040889"/>
                  </a:cubicBezTo>
                  <a:close/>
                </a:path>
              </a:pathLst>
            </a:custGeom>
            <a:blipFill>
              <a:blip r:embed="rId3"/>
              <a:stretch>
                <a:fillRect l="0" t="-42299" r="-12763" b="-40750"/>
              </a:stretch>
            </a:blipFill>
          </p:spPr>
        </p:sp>
        <p:sp>
          <p:nvSpPr>
            <p:cNvPr name="Freeform 6" id="6"/>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FF5B37"/>
            </a:solidFill>
          </p:spPr>
        </p:sp>
        <p:sp>
          <p:nvSpPr>
            <p:cNvPr name="Freeform 7" id="7"/>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FF5B37"/>
            </a:solidFill>
          </p:spPr>
        </p:sp>
        <p:sp>
          <p:nvSpPr>
            <p:cNvPr name="Freeform 8" id="8"/>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FF5B37"/>
            </a:solidFill>
          </p:spPr>
        </p:sp>
        <p:sp>
          <p:nvSpPr>
            <p:cNvPr name="Freeform 9" id="9"/>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FF5B37"/>
            </a:solidFill>
          </p:spPr>
        </p:sp>
        <p:sp>
          <p:nvSpPr>
            <p:cNvPr name="Freeform 10" id="10"/>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FF5B37"/>
            </a:solidFill>
          </p:spPr>
        </p:sp>
        <p:sp>
          <p:nvSpPr>
            <p:cNvPr name="Freeform 11" id="11"/>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FF5B37"/>
            </a:solidFill>
          </p:spPr>
        </p:sp>
        <p:sp>
          <p:nvSpPr>
            <p:cNvPr name="Freeform 12" id="12"/>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000000"/>
            </a:solidFill>
          </p:spPr>
        </p:sp>
      </p:grpSp>
      <p:sp>
        <p:nvSpPr>
          <p:cNvPr name="Freeform 13" id="13"/>
          <p:cNvSpPr/>
          <p:nvPr/>
        </p:nvSpPr>
        <p:spPr>
          <a:xfrm flipH="false" flipV="false" rot="0">
            <a:off x="609600" y="609600"/>
            <a:ext cx="446522" cy="341792"/>
          </a:xfrm>
          <a:custGeom>
            <a:avLst/>
            <a:gdLst/>
            <a:ahLst/>
            <a:cxnLst/>
            <a:rect r="r" b="b" t="t" l="l"/>
            <a:pathLst>
              <a:path h="341792" w="446522">
                <a:moveTo>
                  <a:pt x="0" y="0"/>
                </a:moveTo>
                <a:lnTo>
                  <a:pt x="446522" y="0"/>
                </a:lnTo>
                <a:lnTo>
                  <a:pt x="446522" y="341792"/>
                </a:lnTo>
                <a:lnTo>
                  <a:pt x="0" y="3417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609600" y="6718185"/>
            <a:ext cx="2339485" cy="751668"/>
            <a:chOff x="0" y="0"/>
            <a:chExt cx="616161" cy="197970"/>
          </a:xfrm>
        </p:grpSpPr>
        <p:sp>
          <p:nvSpPr>
            <p:cNvPr name="Freeform 15" id="15"/>
            <p:cNvSpPr/>
            <p:nvPr/>
          </p:nvSpPr>
          <p:spPr>
            <a:xfrm flipH="false" flipV="false" rot="0">
              <a:off x="0" y="0"/>
              <a:ext cx="616161" cy="197970"/>
            </a:xfrm>
            <a:custGeom>
              <a:avLst/>
              <a:gdLst/>
              <a:ahLst/>
              <a:cxnLst/>
              <a:rect r="r" b="b" t="t" l="l"/>
              <a:pathLst>
                <a:path h="197970" w="616161">
                  <a:moveTo>
                    <a:pt x="98985" y="0"/>
                  </a:moveTo>
                  <a:lnTo>
                    <a:pt x="517176" y="0"/>
                  </a:lnTo>
                  <a:cubicBezTo>
                    <a:pt x="571844" y="0"/>
                    <a:pt x="616161" y="44317"/>
                    <a:pt x="616161" y="98985"/>
                  </a:cubicBezTo>
                  <a:lnTo>
                    <a:pt x="616161" y="98985"/>
                  </a:lnTo>
                  <a:cubicBezTo>
                    <a:pt x="616161" y="125238"/>
                    <a:pt x="605732" y="150415"/>
                    <a:pt x="587169" y="168978"/>
                  </a:cubicBezTo>
                  <a:cubicBezTo>
                    <a:pt x="568605" y="187541"/>
                    <a:pt x="543428" y="197970"/>
                    <a:pt x="517176" y="197970"/>
                  </a:cubicBezTo>
                  <a:lnTo>
                    <a:pt x="98985" y="197970"/>
                  </a:lnTo>
                  <a:cubicBezTo>
                    <a:pt x="44317" y="197970"/>
                    <a:pt x="0" y="153653"/>
                    <a:pt x="0" y="98985"/>
                  </a:cubicBezTo>
                  <a:lnTo>
                    <a:pt x="0" y="98985"/>
                  </a:lnTo>
                  <a:cubicBezTo>
                    <a:pt x="0" y="44317"/>
                    <a:pt x="44317" y="0"/>
                    <a:pt x="98985" y="0"/>
                  </a:cubicBezTo>
                  <a:close/>
                </a:path>
              </a:pathLst>
            </a:custGeom>
            <a:solidFill>
              <a:srgbClr val="FF5B37"/>
            </a:solidFill>
            <a:ln cap="rnd">
              <a:noFill/>
              <a:prstDash val="solid"/>
              <a:round/>
            </a:ln>
          </p:spPr>
        </p:sp>
        <p:sp>
          <p:nvSpPr>
            <p:cNvPr name="TextBox 16" id="16"/>
            <p:cNvSpPr txBox="true"/>
            <p:nvPr/>
          </p:nvSpPr>
          <p:spPr>
            <a:xfrm>
              <a:off x="0" y="0"/>
              <a:ext cx="616161" cy="197970"/>
            </a:xfrm>
            <a:prstGeom prst="rect">
              <a:avLst/>
            </a:prstGeom>
          </p:spPr>
          <p:txBody>
            <a:bodyPr anchor="ctr" rtlCol="false" tIns="50800" lIns="50800" bIns="50800" rIns="50800"/>
            <a:lstStyle/>
            <a:p>
              <a:pPr algn="ctr" marL="0" indent="0" lvl="0">
                <a:lnSpc>
                  <a:spcPts val="2640"/>
                </a:lnSpc>
                <a:spcBef>
                  <a:spcPct val="0"/>
                </a:spcBef>
              </a:pPr>
              <a:r>
                <a:rPr lang="en-US" b="true" sz="2200">
                  <a:solidFill>
                    <a:srgbClr val="F5F5F5"/>
                  </a:solidFill>
                  <a:latin typeface="Inter Medium"/>
                  <a:ea typeface="Inter Medium"/>
                  <a:cs typeface="Inter Medium"/>
                  <a:sym typeface="Inter Medium"/>
                </a:rPr>
                <a:t>Proposal</a:t>
              </a:r>
            </a:p>
          </p:txBody>
        </p:sp>
      </p:grpSp>
      <p:sp>
        <p:nvSpPr>
          <p:cNvPr name="TextBox 17" id="17"/>
          <p:cNvSpPr txBox="true"/>
          <p:nvPr/>
        </p:nvSpPr>
        <p:spPr>
          <a:xfrm rot="0">
            <a:off x="609600" y="1611118"/>
            <a:ext cx="8382000" cy="3286125"/>
          </a:xfrm>
          <a:prstGeom prst="rect">
            <a:avLst/>
          </a:prstGeom>
        </p:spPr>
        <p:txBody>
          <a:bodyPr anchor="t" rtlCol="false" tIns="0" lIns="0" bIns="0" rIns="0">
            <a:spAutoFit/>
          </a:bodyPr>
          <a:lstStyle/>
          <a:p>
            <a:pPr algn="l" marL="0" indent="0" lvl="0">
              <a:lnSpc>
                <a:spcPts val="8639"/>
              </a:lnSpc>
            </a:pPr>
            <a:r>
              <a:rPr lang="en-US" b="true" sz="7199" spc="-115">
                <a:solidFill>
                  <a:srgbClr val="000000"/>
                </a:solidFill>
                <a:latin typeface="Inter Semi-Bold"/>
                <a:ea typeface="Inter Semi-Bold"/>
                <a:cs typeface="Inter Semi-Bold"/>
                <a:sym typeface="Inter Semi-Bold"/>
              </a:rPr>
              <a:t>Nutrition Tec</a:t>
            </a:r>
            <a:r>
              <a:rPr lang="en-US" b="true" sz="7199" spc="-115">
                <a:solidFill>
                  <a:srgbClr val="000000"/>
                </a:solidFill>
                <a:latin typeface="Inter Semi-Bold"/>
                <a:ea typeface="Inter Semi-Bold"/>
                <a:cs typeface="Inter Semi-Bold"/>
                <a:sym typeface="Inter Semi-Bold"/>
              </a:rPr>
              <a:t>h and Personalized Meal App Pitch Deck</a:t>
            </a:r>
          </a:p>
        </p:txBody>
      </p:sp>
      <p:sp>
        <p:nvSpPr>
          <p:cNvPr name="TextBox 18" id="18"/>
          <p:cNvSpPr txBox="true"/>
          <p:nvPr/>
        </p:nvSpPr>
        <p:spPr>
          <a:xfrm rot="0">
            <a:off x="1195748" y="613809"/>
            <a:ext cx="1391384" cy="333375"/>
          </a:xfrm>
          <a:prstGeom prst="rect">
            <a:avLst/>
          </a:prstGeom>
        </p:spPr>
        <p:txBody>
          <a:bodyPr anchor="t" rtlCol="false" tIns="0" lIns="0" bIns="0" rIns="0">
            <a:spAutoFit/>
          </a:bodyPr>
          <a:lstStyle/>
          <a:p>
            <a:pPr algn="l" marL="0" indent="0" lvl="0">
              <a:lnSpc>
                <a:spcPts val="2640"/>
              </a:lnSpc>
              <a:spcBef>
                <a:spcPct val="0"/>
              </a:spcBef>
            </a:pPr>
            <a:r>
              <a:rPr lang="en-US" b="true" sz="2200" spc="-35">
                <a:solidFill>
                  <a:srgbClr val="000000"/>
                </a:solidFill>
                <a:latin typeface="Inter Bold"/>
                <a:ea typeface="Inter Bold"/>
                <a:cs typeface="Inter Bold"/>
                <a:sym typeface="Inter Bold"/>
              </a:rPr>
              <a:t>Rimberio</a:t>
            </a:r>
          </a:p>
        </p:txBody>
      </p:sp>
      <p:sp>
        <p:nvSpPr>
          <p:cNvPr name="TextBox 19" id="19"/>
          <p:cNvSpPr txBox="true"/>
          <p:nvPr/>
        </p:nvSpPr>
        <p:spPr>
          <a:xfrm rot="0">
            <a:off x="609600" y="5332325"/>
            <a:ext cx="8382000" cy="824865"/>
          </a:xfrm>
          <a:prstGeom prst="rect">
            <a:avLst/>
          </a:prstGeom>
        </p:spPr>
        <p:txBody>
          <a:bodyPr anchor="t" rtlCol="false" tIns="0" lIns="0" bIns="0" rIns="0">
            <a:spAutoFit/>
          </a:bodyPr>
          <a:lstStyle/>
          <a:p>
            <a:pPr algn="l" marL="0" indent="0" lvl="0">
              <a:lnSpc>
                <a:spcPts val="3359"/>
              </a:lnSpc>
            </a:pPr>
            <a:r>
              <a:rPr lang="en-US" sz="2400" spc="-38">
                <a:solidFill>
                  <a:srgbClr val="000000"/>
                </a:solidFill>
                <a:latin typeface="Inter"/>
                <a:ea typeface="Inter"/>
                <a:cs typeface="Inter"/>
                <a:sym typeface="Inter"/>
              </a:rPr>
              <a:t>Lorem ipsum dolor sit amet, proin morbi elit.</a:t>
            </a:r>
            <a:r>
              <a:rPr lang="en-US" sz="2400" spc="-38">
                <a:solidFill>
                  <a:srgbClr val="000000"/>
                </a:solidFill>
                <a:latin typeface="Inter"/>
                <a:ea typeface="Inter"/>
                <a:cs typeface="Inter"/>
                <a:sym typeface="Inter"/>
              </a:rPr>
              <a:t> Quam velit leo, turpis nec risus sed, felis eu velit. Cras massa</a:t>
            </a:r>
          </a:p>
        </p:txBody>
      </p:sp>
      <p:sp>
        <p:nvSpPr>
          <p:cNvPr name="TextBox 20" id="20"/>
          <p:cNvSpPr txBox="true"/>
          <p:nvPr/>
        </p:nvSpPr>
        <p:spPr>
          <a:xfrm rot="0">
            <a:off x="609600" y="8608829"/>
            <a:ext cx="2590800" cy="619125"/>
          </a:xfrm>
          <a:prstGeom prst="rect">
            <a:avLst/>
          </a:prstGeom>
        </p:spPr>
        <p:txBody>
          <a:bodyPr anchor="t" rtlCol="false" tIns="0" lIns="0" bIns="0" rIns="0">
            <a:spAutoFit/>
          </a:bodyPr>
          <a:lstStyle/>
          <a:p>
            <a:pPr algn="l" marL="0" indent="0" lvl="0">
              <a:lnSpc>
                <a:spcPts val="4800"/>
              </a:lnSpc>
              <a:spcBef>
                <a:spcPct val="0"/>
              </a:spcBef>
            </a:pPr>
            <a:r>
              <a:rPr lang="en-US" b="true" sz="4000" spc="-64">
                <a:solidFill>
                  <a:srgbClr val="FF5B37"/>
                </a:solidFill>
                <a:latin typeface="Inter Semi-Bold"/>
                <a:ea typeface="Inter Semi-Bold"/>
                <a:cs typeface="Inter Semi-Bold"/>
                <a:sym typeface="Inter Semi-Bold"/>
              </a:rPr>
              <a:t>1,400+</a:t>
            </a:r>
          </a:p>
        </p:txBody>
      </p:sp>
      <p:sp>
        <p:nvSpPr>
          <p:cNvPr name="TextBox 21" id="21"/>
          <p:cNvSpPr txBox="true"/>
          <p:nvPr/>
        </p:nvSpPr>
        <p:spPr>
          <a:xfrm rot="0">
            <a:off x="609600" y="9328150"/>
            <a:ext cx="2590800" cy="34925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App Download</a:t>
            </a:r>
          </a:p>
        </p:txBody>
      </p:sp>
      <p:sp>
        <p:nvSpPr>
          <p:cNvPr name="TextBox 22" id="22"/>
          <p:cNvSpPr txBox="true"/>
          <p:nvPr/>
        </p:nvSpPr>
        <p:spPr>
          <a:xfrm rot="0">
            <a:off x="3657600" y="8608829"/>
            <a:ext cx="2590800" cy="619125"/>
          </a:xfrm>
          <a:prstGeom prst="rect">
            <a:avLst/>
          </a:prstGeom>
        </p:spPr>
        <p:txBody>
          <a:bodyPr anchor="t" rtlCol="false" tIns="0" lIns="0" bIns="0" rIns="0">
            <a:spAutoFit/>
          </a:bodyPr>
          <a:lstStyle/>
          <a:p>
            <a:pPr algn="l" marL="0" indent="0" lvl="0">
              <a:lnSpc>
                <a:spcPts val="4800"/>
              </a:lnSpc>
              <a:spcBef>
                <a:spcPct val="0"/>
              </a:spcBef>
            </a:pPr>
            <a:r>
              <a:rPr lang="en-US" b="true" sz="4000" spc="-64">
                <a:solidFill>
                  <a:srgbClr val="FF5B37"/>
                </a:solidFill>
                <a:latin typeface="Inter Semi-Bold"/>
                <a:ea typeface="Inter Semi-Bold"/>
                <a:cs typeface="Inter Semi-Bold"/>
                <a:sym typeface="Inter Semi-Bold"/>
              </a:rPr>
              <a:t>$ 45,000</a:t>
            </a:r>
          </a:p>
        </p:txBody>
      </p:sp>
      <p:sp>
        <p:nvSpPr>
          <p:cNvPr name="TextBox 23" id="23"/>
          <p:cNvSpPr txBox="true"/>
          <p:nvPr/>
        </p:nvSpPr>
        <p:spPr>
          <a:xfrm rot="0">
            <a:off x="3657600" y="9328150"/>
            <a:ext cx="2590800" cy="34925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Revenue Streams</a:t>
            </a:r>
          </a:p>
        </p:txBody>
      </p:sp>
      <p:sp>
        <p:nvSpPr>
          <p:cNvPr name="TextBox 24" id="24"/>
          <p:cNvSpPr txBox="true"/>
          <p:nvPr/>
        </p:nvSpPr>
        <p:spPr>
          <a:xfrm rot="0">
            <a:off x="3505200" y="6888597"/>
            <a:ext cx="2743200" cy="372745"/>
          </a:xfrm>
          <a:prstGeom prst="rect">
            <a:avLst/>
          </a:prstGeom>
        </p:spPr>
        <p:txBody>
          <a:bodyPr anchor="t" rtlCol="false" tIns="0" lIns="0" bIns="0" rIns="0">
            <a:spAutoFit/>
          </a:bodyPr>
          <a:lstStyle/>
          <a:p>
            <a:pPr algn="l" marL="0" indent="0" lvl="0">
              <a:lnSpc>
                <a:spcPts val="3080"/>
              </a:lnSpc>
            </a:pPr>
            <a:r>
              <a:rPr lang="en-US" sz="2200" spc="-35">
                <a:solidFill>
                  <a:srgbClr val="000000"/>
                </a:solidFill>
                <a:latin typeface="Inter"/>
                <a:ea typeface="Inter"/>
                <a:cs typeface="Inter"/>
                <a:sym typeface="Inter"/>
              </a:rPr>
              <a:t>Q4 2032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609600" y="609600"/>
            <a:ext cx="446522" cy="341792"/>
          </a:xfrm>
          <a:custGeom>
            <a:avLst/>
            <a:gdLst/>
            <a:ahLst/>
            <a:cxnLst/>
            <a:rect r="r" b="b" t="t" l="l"/>
            <a:pathLst>
              <a:path h="341792" w="446522">
                <a:moveTo>
                  <a:pt x="0" y="0"/>
                </a:moveTo>
                <a:lnTo>
                  <a:pt x="446522" y="0"/>
                </a:lnTo>
                <a:lnTo>
                  <a:pt x="446522" y="341792"/>
                </a:lnTo>
                <a:lnTo>
                  <a:pt x="0" y="3417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877425" y="0"/>
            <a:ext cx="9329541" cy="10287000"/>
            <a:chOff x="0" y="0"/>
            <a:chExt cx="2457163" cy="2709333"/>
          </a:xfrm>
        </p:grpSpPr>
        <p:sp>
          <p:nvSpPr>
            <p:cNvPr name="Freeform 4" id="4"/>
            <p:cNvSpPr/>
            <p:nvPr/>
          </p:nvSpPr>
          <p:spPr>
            <a:xfrm flipH="false" flipV="false" rot="0">
              <a:off x="0" y="0"/>
              <a:ext cx="2457163" cy="2709333"/>
            </a:xfrm>
            <a:custGeom>
              <a:avLst/>
              <a:gdLst/>
              <a:ahLst/>
              <a:cxnLst/>
              <a:rect r="r" b="b" t="t" l="l"/>
              <a:pathLst>
                <a:path h="2709333" w="2457163">
                  <a:moveTo>
                    <a:pt x="26555" y="0"/>
                  </a:moveTo>
                  <a:lnTo>
                    <a:pt x="2430608" y="0"/>
                  </a:lnTo>
                  <a:cubicBezTo>
                    <a:pt x="2445274" y="0"/>
                    <a:pt x="2457163" y="11889"/>
                    <a:pt x="2457163" y="26555"/>
                  </a:cubicBezTo>
                  <a:lnTo>
                    <a:pt x="2457163" y="2682779"/>
                  </a:lnTo>
                  <a:cubicBezTo>
                    <a:pt x="2457163" y="2697444"/>
                    <a:pt x="2445274" y="2709333"/>
                    <a:pt x="2430608" y="2709333"/>
                  </a:cubicBezTo>
                  <a:lnTo>
                    <a:pt x="26555" y="2709333"/>
                  </a:lnTo>
                  <a:cubicBezTo>
                    <a:pt x="11889" y="2709333"/>
                    <a:pt x="0" y="2697444"/>
                    <a:pt x="0" y="2682779"/>
                  </a:cubicBezTo>
                  <a:lnTo>
                    <a:pt x="0" y="26555"/>
                  </a:lnTo>
                  <a:cubicBezTo>
                    <a:pt x="0" y="11889"/>
                    <a:pt x="11889" y="0"/>
                    <a:pt x="26555" y="0"/>
                  </a:cubicBezTo>
                  <a:close/>
                </a:path>
              </a:pathLst>
            </a:custGeom>
            <a:solidFill>
              <a:srgbClr val="F5F5F5"/>
            </a:solidFill>
            <a:ln cap="rnd">
              <a:noFill/>
              <a:prstDash val="solid"/>
              <a:round/>
            </a:ln>
          </p:spPr>
        </p:sp>
        <p:sp>
          <p:nvSpPr>
            <p:cNvPr name="TextBox 5" id="5"/>
            <p:cNvSpPr txBox="true"/>
            <p:nvPr/>
          </p:nvSpPr>
          <p:spPr>
            <a:xfrm>
              <a:off x="0" y="0"/>
              <a:ext cx="2457163" cy="2709333"/>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10439400" y="609600"/>
            <a:ext cx="7239000" cy="9067800"/>
            <a:chOff x="0" y="0"/>
            <a:chExt cx="1121511" cy="1404840"/>
          </a:xfrm>
        </p:grpSpPr>
        <p:sp>
          <p:nvSpPr>
            <p:cNvPr name="Freeform 7" id="7"/>
            <p:cNvSpPr/>
            <p:nvPr/>
          </p:nvSpPr>
          <p:spPr>
            <a:xfrm flipH="false" flipV="false" rot="0">
              <a:off x="0" y="0"/>
              <a:ext cx="1121511" cy="1404840"/>
            </a:xfrm>
            <a:custGeom>
              <a:avLst/>
              <a:gdLst/>
              <a:ahLst/>
              <a:cxnLst/>
              <a:rect r="r" b="b" t="t" l="l"/>
              <a:pathLst>
                <a:path h="1404840" w="1121511">
                  <a:moveTo>
                    <a:pt x="34223" y="0"/>
                  </a:moveTo>
                  <a:lnTo>
                    <a:pt x="1087287" y="0"/>
                  </a:lnTo>
                  <a:cubicBezTo>
                    <a:pt x="1106188" y="0"/>
                    <a:pt x="1121511" y="15322"/>
                    <a:pt x="1121511" y="34223"/>
                  </a:cubicBezTo>
                  <a:lnTo>
                    <a:pt x="1121511" y="1370616"/>
                  </a:lnTo>
                  <a:cubicBezTo>
                    <a:pt x="1121511" y="1379693"/>
                    <a:pt x="1117905" y="1388398"/>
                    <a:pt x="1111487" y="1394816"/>
                  </a:cubicBezTo>
                  <a:cubicBezTo>
                    <a:pt x="1105069" y="1401234"/>
                    <a:pt x="1096364" y="1404840"/>
                    <a:pt x="1087287" y="1404840"/>
                  </a:cubicBezTo>
                  <a:lnTo>
                    <a:pt x="34223" y="1404840"/>
                  </a:lnTo>
                  <a:cubicBezTo>
                    <a:pt x="25147" y="1404840"/>
                    <a:pt x="16442" y="1401234"/>
                    <a:pt x="10024" y="1394816"/>
                  </a:cubicBezTo>
                  <a:cubicBezTo>
                    <a:pt x="3606" y="1388398"/>
                    <a:pt x="0" y="1379693"/>
                    <a:pt x="0" y="1370616"/>
                  </a:cubicBezTo>
                  <a:lnTo>
                    <a:pt x="0" y="34223"/>
                  </a:lnTo>
                  <a:cubicBezTo>
                    <a:pt x="0" y="25147"/>
                    <a:pt x="3606" y="16442"/>
                    <a:pt x="10024" y="10024"/>
                  </a:cubicBezTo>
                  <a:cubicBezTo>
                    <a:pt x="16442" y="3606"/>
                    <a:pt x="25147" y="0"/>
                    <a:pt x="34223" y="0"/>
                  </a:cubicBezTo>
                  <a:close/>
                </a:path>
              </a:pathLst>
            </a:custGeom>
            <a:blipFill>
              <a:blip r:embed="rId4"/>
              <a:stretch>
                <a:fillRect l="-43862" t="0" r="-43862" b="0"/>
              </a:stretch>
            </a:blipFill>
          </p:spPr>
        </p:sp>
      </p:grpSp>
      <p:sp>
        <p:nvSpPr>
          <p:cNvPr name="TextBox 8" id="8"/>
          <p:cNvSpPr txBox="true"/>
          <p:nvPr/>
        </p:nvSpPr>
        <p:spPr>
          <a:xfrm rot="0">
            <a:off x="609600" y="1611118"/>
            <a:ext cx="8686800" cy="971550"/>
          </a:xfrm>
          <a:prstGeom prst="rect">
            <a:avLst/>
          </a:prstGeom>
        </p:spPr>
        <p:txBody>
          <a:bodyPr anchor="t" rtlCol="false" tIns="0" lIns="0" bIns="0" rIns="0">
            <a:spAutoFit/>
          </a:bodyPr>
          <a:lstStyle/>
          <a:p>
            <a:pPr algn="l" marL="0" indent="0" lvl="0">
              <a:lnSpc>
                <a:spcPts val="7679"/>
              </a:lnSpc>
            </a:pPr>
            <a:r>
              <a:rPr lang="en-US" b="true" sz="6399" spc="-102">
                <a:solidFill>
                  <a:srgbClr val="000000"/>
                </a:solidFill>
                <a:latin typeface="Inter Bold"/>
                <a:ea typeface="Inter Bold"/>
                <a:cs typeface="Inter Bold"/>
                <a:sym typeface="Inter Bold"/>
              </a:rPr>
              <a:t>The Nutrition C</a:t>
            </a:r>
            <a:r>
              <a:rPr lang="en-US" b="true" sz="6399" spc="-102">
                <a:solidFill>
                  <a:srgbClr val="000000"/>
                </a:solidFill>
                <a:latin typeface="Inter Bold"/>
                <a:ea typeface="Inter Bold"/>
                <a:cs typeface="Inter Bold"/>
                <a:sym typeface="Inter Bold"/>
              </a:rPr>
              <a:t>risis</a:t>
            </a:r>
          </a:p>
        </p:txBody>
      </p:sp>
      <p:sp>
        <p:nvSpPr>
          <p:cNvPr name="TextBox 9" id="9"/>
          <p:cNvSpPr txBox="true"/>
          <p:nvPr/>
        </p:nvSpPr>
        <p:spPr>
          <a:xfrm rot="0">
            <a:off x="1195748" y="613809"/>
            <a:ext cx="1391384" cy="333375"/>
          </a:xfrm>
          <a:prstGeom prst="rect">
            <a:avLst/>
          </a:prstGeom>
        </p:spPr>
        <p:txBody>
          <a:bodyPr anchor="t" rtlCol="false" tIns="0" lIns="0" bIns="0" rIns="0">
            <a:spAutoFit/>
          </a:bodyPr>
          <a:lstStyle/>
          <a:p>
            <a:pPr algn="l" marL="0" indent="0" lvl="0">
              <a:lnSpc>
                <a:spcPts val="2640"/>
              </a:lnSpc>
              <a:spcBef>
                <a:spcPct val="0"/>
              </a:spcBef>
            </a:pPr>
            <a:r>
              <a:rPr lang="en-US" b="true" sz="2200" spc="-35">
                <a:solidFill>
                  <a:srgbClr val="000000"/>
                </a:solidFill>
                <a:latin typeface="Inter Bold"/>
                <a:ea typeface="Inter Bold"/>
                <a:cs typeface="Inter Bold"/>
                <a:sym typeface="Inter Bold"/>
              </a:rPr>
              <a:t>Rimberio</a:t>
            </a:r>
          </a:p>
        </p:txBody>
      </p:sp>
      <p:sp>
        <p:nvSpPr>
          <p:cNvPr name="TextBox 10" id="10"/>
          <p:cNvSpPr txBox="true"/>
          <p:nvPr/>
        </p:nvSpPr>
        <p:spPr>
          <a:xfrm rot="0">
            <a:off x="609600" y="3841218"/>
            <a:ext cx="8686800" cy="105410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Lorem ipsum dolor sit amet, consectetur adipiscing elit,</a:t>
            </a:r>
            <a:r>
              <a:rPr lang="en-US" sz="2000" spc="-32">
                <a:solidFill>
                  <a:srgbClr val="000000"/>
                </a:solidFill>
                <a:latin typeface="Inter"/>
                <a:ea typeface="Inter"/>
                <a:cs typeface="Inter"/>
                <a:sym typeface="Inter"/>
              </a:rPr>
              <a:t> sed do eiusmod tempor incididunt ut labore et dolore magna aliqua. Ut enim ad minim veniam, quis nostrud exercitation ullamco.</a:t>
            </a:r>
          </a:p>
        </p:txBody>
      </p:sp>
      <p:sp>
        <p:nvSpPr>
          <p:cNvPr name="TextBox 11" id="11"/>
          <p:cNvSpPr txBox="true"/>
          <p:nvPr/>
        </p:nvSpPr>
        <p:spPr>
          <a:xfrm rot="0">
            <a:off x="609600" y="5865362"/>
            <a:ext cx="4051149" cy="619125"/>
          </a:xfrm>
          <a:prstGeom prst="rect">
            <a:avLst/>
          </a:prstGeom>
        </p:spPr>
        <p:txBody>
          <a:bodyPr anchor="t" rtlCol="false" tIns="0" lIns="0" bIns="0" rIns="0">
            <a:spAutoFit/>
          </a:bodyPr>
          <a:lstStyle/>
          <a:p>
            <a:pPr algn="l" marL="0" indent="0" lvl="0">
              <a:lnSpc>
                <a:spcPts val="4800"/>
              </a:lnSpc>
              <a:spcBef>
                <a:spcPct val="0"/>
              </a:spcBef>
            </a:pPr>
            <a:r>
              <a:rPr lang="en-US" b="true" sz="4000" spc="-64">
                <a:solidFill>
                  <a:srgbClr val="FF5B37"/>
                </a:solidFill>
                <a:latin typeface="Inter Semi-Bold"/>
                <a:ea typeface="Inter Semi-Bold"/>
                <a:cs typeface="Inter Semi-Bold"/>
                <a:sym typeface="Inter Semi-Bold"/>
              </a:rPr>
              <a:t>$ 280 billion</a:t>
            </a:r>
          </a:p>
        </p:txBody>
      </p:sp>
      <p:sp>
        <p:nvSpPr>
          <p:cNvPr name="TextBox 12" id="12"/>
          <p:cNvSpPr txBox="true"/>
          <p:nvPr/>
        </p:nvSpPr>
        <p:spPr>
          <a:xfrm rot="0">
            <a:off x="609600" y="6584684"/>
            <a:ext cx="4051149" cy="70167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People spend $280 billion on diets annually, with a 95% failure rate.</a:t>
            </a:r>
          </a:p>
        </p:txBody>
      </p:sp>
      <p:sp>
        <p:nvSpPr>
          <p:cNvPr name="TextBox 13" id="13"/>
          <p:cNvSpPr txBox="true"/>
          <p:nvPr/>
        </p:nvSpPr>
        <p:spPr>
          <a:xfrm rot="0">
            <a:off x="5245251" y="5865362"/>
            <a:ext cx="4051149" cy="619125"/>
          </a:xfrm>
          <a:prstGeom prst="rect">
            <a:avLst/>
          </a:prstGeom>
        </p:spPr>
        <p:txBody>
          <a:bodyPr anchor="t" rtlCol="false" tIns="0" lIns="0" bIns="0" rIns="0">
            <a:spAutoFit/>
          </a:bodyPr>
          <a:lstStyle/>
          <a:p>
            <a:pPr algn="l" marL="0" indent="0" lvl="0">
              <a:lnSpc>
                <a:spcPts val="4800"/>
              </a:lnSpc>
              <a:spcBef>
                <a:spcPct val="0"/>
              </a:spcBef>
            </a:pPr>
            <a:r>
              <a:rPr lang="en-US" b="true" sz="4000" spc="-64">
                <a:solidFill>
                  <a:srgbClr val="FF5B37"/>
                </a:solidFill>
                <a:latin typeface="Inter Semi-Bold"/>
                <a:ea typeface="Inter Semi-Bold"/>
                <a:cs typeface="Inter Semi-Bold"/>
                <a:sym typeface="Inter Semi-Bold"/>
              </a:rPr>
              <a:t>$ 250 / session</a:t>
            </a:r>
          </a:p>
        </p:txBody>
      </p:sp>
      <p:sp>
        <p:nvSpPr>
          <p:cNvPr name="TextBox 14" id="14"/>
          <p:cNvSpPr txBox="true"/>
          <p:nvPr/>
        </p:nvSpPr>
        <p:spPr>
          <a:xfrm rot="0">
            <a:off x="5245251" y="6584684"/>
            <a:ext cx="4051149" cy="70167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Professional nutritionists cost around $250 per session.</a:t>
            </a:r>
          </a:p>
        </p:txBody>
      </p:sp>
      <p:sp>
        <p:nvSpPr>
          <p:cNvPr name="TextBox 15" id="15"/>
          <p:cNvSpPr txBox="true"/>
          <p:nvPr/>
        </p:nvSpPr>
        <p:spPr>
          <a:xfrm rot="0">
            <a:off x="609600" y="8256404"/>
            <a:ext cx="4051149" cy="619125"/>
          </a:xfrm>
          <a:prstGeom prst="rect">
            <a:avLst/>
          </a:prstGeom>
        </p:spPr>
        <p:txBody>
          <a:bodyPr anchor="t" rtlCol="false" tIns="0" lIns="0" bIns="0" rIns="0">
            <a:spAutoFit/>
          </a:bodyPr>
          <a:lstStyle/>
          <a:p>
            <a:pPr algn="l" marL="0" indent="0" lvl="0">
              <a:lnSpc>
                <a:spcPts val="4800"/>
              </a:lnSpc>
              <a:spcBef>
                <a:spcPct val="0"/>
              </a:spcBef>
            </a:pPr>
            <a:r>
              <a:rPr lang="en-US" b="true" sz="4000" spc="-64">
                <a:solidFill>
                  <a:srgbClr val="FF5B37"/>
                </a:solidFill>
                <a:latin typeface="Inter Semi-Bold"/>
                <a:ea typeface="Inter Semi-Bold"/>
                <a:cs typeface="Inter Semi-Bold"/>
                <a:sym typeface="Inter Semi-Bold"/>
              </a:rPr>
              <a:t>86 million+</a:t>
            </a:r>
          </a:p>
        </p:txBody>
      </p:sp>
      <p:sp>
        <p:nvSpPr>
          <p:cNvPr name="TextBox 16" id="16"/>
          <p:cNvSpPr txBox="true"/>
          <p:nvPr/>
        </p:nvSpPr>
        <p:spPr>
          <a:xfrm rot="0">
            <a:off x="609600" y="8975725"/>
            <a:ext cx="4051149" cy="70167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86 million consumers are searching for a solution that actually works.</a:t>
            </a:r>
          </a:p>
        </p:txBody>
      </p:sp>
      <p:sp>
        <p:nvSpPr>
          <p:cNvPr name="TextBox 17" id="17"/>
          <p:cNvSpPr txBox="true"/>
          <p:nvPr/>
        </p:nvSpPr>
        <p:spPr>
          <a:xfrm rot="0">
            <a:off x="5245251" y="8256404"/>
            <a:ext cx="4051149" cy="619125"/>
          </a:xfrm>
          <a:prstGeom prst="rect">
            <a:avLst/>
          </a:prstGeom>
        </p:spPr>
        <p:txBody>
          <a:bodyPr anchor="t" rtlCol="false" tIns="0" lIns="0" bIns="0" rIns="0">
            <a:spAutoFit/>
          </a:bodyPr>
          <a:lstStyle/>
          <a:p>
            <a:pPr algn="l" marL="0" indent="0" lvl="0">
              <a:lnSpc>
                <a:spcPts val="4800"/>
              </a:lnSpc>
              <a:spcBef>
                <a:spcPct val="0"/>
              </a:spcBef>
            </a:pPr>
            <a:r>
              <a:rPr lang="en-US" b="true" sz="4000" spc="-64">
                <a:solidFill>
                  <a:srgbClr val="FF5B37"/>
                </a:solidFill>
                <a:latin typeface="Inter Semi-Bold"/>
                <a:ea typeface="Inter Semi-Bold"/>
                <a:cs typeface="Inter Semi-Bold"/>
                <a:sym typeface="Inter Semi-Bold"/>
              </a:rPr>
              <a:t>242,000</a:t>
            </a:r>
          </a:p>
        </p:txBody>
      </p:sp>
      <p:sp>
        <p:nvSpPr>
          <p:cNvPr name="TextBox 18" id="18"/>
          <p:cNvSpPr txBox="true"/>
          <p:nvPr/>
        </p:nvSpPr>
        <p:spPr>
          <a:xfrm rot="0">
            <a:off x="5245251" y="8975725"/>
            <a:ext cx="4051149" cy="70167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74% of adults globally are overweight and have obesity.</a:t>
            </a:r>
          </a:p>
        </p:txBody>
      </p:sp>
      <p:sp>
        <p:nvSpPr>
          <p:cNvPr name="TextBox 19" id="19"/>
          <p:cNvSpPr txBox="true"/>
          <p:nvPr/>
        </p:nvSpPr>
        <p:spPr>
          <a:xfrm rot="0">
            <a:off x="609600" y="3393892"/>
            <a:ext cx="8686800" cy="349250"/>
          </a:xfrm>
          <a:prstGeom prst="rect">
            <a:avLst/>
          </a:prstGeom>
        </p:spPr>
        <p:txBody>
          <a:bodyPr anchor="t" rtlCol="false" tIns="0" lIns="0" bIns="0" rIns="0">
            <a:spAutoFit/>
          </a:bodyPr>
          <a:lstStyle/>
          <a:p>
            <a:pPr algn="l" marL="0" indent="0" lvl="0">
              <a:lnSpc>
                <a:spcPts val="2800"/>
              </a:lnSpc>
            </a:pPr>
            <a:r>
              <a:rPr lang="en-US" b="true" sz="2000" spc="-32">
                <a:solidFill>
                  <a:srgbClr val="000000"/>
                </a:solidFill>
                <a:latin typeface="Inter Semi-Bold"/>
                <a:ea typeface="Inter Semi-Bold"/>
                <a:cs typeface="Inter Semi-Bold"/>
                <a:sym typeface="Inter Semi-Bold"/>
              </a:rPr>
              <a:t>Diets Fail Because They're Generic</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874240" y="0"/>
            <a:ext cx="12332726" cy="10287000"/>
            <a:chOff x="0" y="0"/>
            <a:chExt cx="3248125" cy="2709333"/>
          </a:xfrm>
        </p:grpSpPr>
        <p:sp>
          <p:nvSpPr>
            <p:cNvPr name="Freeform 3" id="3"/>
            <p:cNvSpPr/>
            <p:nvPr/>
          </p:nvSpPr>
          <p:spPr>
            <a:xfrm flipH="false" flipV="false" rot="0">
              <a:off x="0" y="0"/>
              <a:ext cx="3248125" cy="2709333"/>
            </a:xfrm>
            <a:custGeom>
              <a:avLst/>
              <a:gdLst/>
              <a:ahLst/>
              <a:cxnLst/>
              <a:rect r="r" b="b" t="t" l="l"/>
              <a:pathLst>
                <a:path h="2709333" w="3248125">
                  <a:moveTo>
                    <a:pt x="20088" y="0"/>
                  </a:moveTo>
                  <a:lnTo>
                    <a:pt x="3228037" y="0"/>
                  </a:lnTo>
                  <a:cubicBezTo>
                    <a:pt x="3239131" y="0"/>
                    <a:pt x="3248125" y="8994"/>
                    <a:pt x="3248125" y="20088"/>
                  </a:cubicBezTo>
                  <a:lnTo>
                    <a:pt x="3248125" y="2689245"/>
                  </a:lnTo>
                  <a:cubicBezTo>
                    <a:pt x="3248125" y="2694573"/>
                    <a:pt x="3246009" y="2699682"/>
                    <a:pt x="3242241" y="2703450"/>
                  </a:cubicBezTo>
                  <a:cubicBezTo>
                    <a:pt x="3238474" y="2707217"/>
                    <a:pt x="3233365" y="2709333"/>
                    <a:pt x="3228037" y="2709333"/>
                  </a:cubicBezTo>
                  <a:lnTo>
                    <a:pt x="20088" y="2709333"/>
                  </a:lnTo>
                  <a:cubicBezTo>
                    <a:pt x="8994" y="2709333"/>
                    <a:pt x="0" y="2700339"/>
                    <a:pt x="0" y="2689245"/>
                  </a:cubicBezTo>
                  <a:lnTo>
                    <a:pt x="0" y="20088"/>
                  </a:lnTo>
                  <a:cubicBezTo>
                    <a:pt x="0" y="14760"/>
                    <a:pt x="2116" y="9651"/>
                    <a:pt x="5884" y="5884"/>
                  </a:cubicBezTo>
                  <a:cubicBezTo>
                    <a:pt x="9651" y="2116"/>
                    <a:pt x="14760" y="0"/>
                    <a:pt x="20088" y="0"/>
                  </a:cubicBezTo>
                  <a:close/>
                </a:path>
              </a:pathLst>
            </a:custGeom>
            <a:solidFill>
              <a:srgbClr val="F5F5F5"/>
            </a:solidFill>
            <a:ln cap="rnd">
              <a:noFill/>
              <a:prstDash val="solid"/>
              <a:round/>
            </a:ln>
          </p:spPr>
        </p:sp>
        <p:sp>
          <p:nvSpPr>
            <p:cNvPr name="TextBox 4" id="4"/>
            <p:cNvSpPr txBox="true"/>
            <p:nvPr/>
          </p:nvSpPr>
          <p:spPr>
            <a:xfrm>
              <a:off x="0" y="0"/>
              <a:ext cx="3248125" cy="2709333"/>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5" id="5"/>
          <p:cNvGrpSpPr>
            <a:grpSpLocks noChangeAspect="true"/>
          </p:cNvGrpSpPr>
          <p:nvPr/>
        </p:nvGrpSpPr>
        <p:grpSpPr>
          <a:xfrm rot="0">
            <a:off x="7468481" y="609600"/>
            <a:ext cx="4580644" cy="9063591"/>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5400000">
              <a:off x="-1127754" y="1469384"/>
              <a:ext cx="4876800" cy="2250453"/>
            </a:xfrm>
            <a:custGeom>
              <a:avLst/>
              <a:gdLst/>
              <a:ahLst/>
              <a:cxnLst/>
              <a:rect r="r" b="b" t="t" l="l"/>
              <a:pathLst>
                <a:path h="2250453" w="4876800">
                  <a:moveTo>
                    <a:pt x="4876800" y="2040889"/>
                  </a:moveTo>
                  <a:lnTo>
                    <a:pt x="4876800" y="1769110"/>
                  </a:lnTo>
                  <a:lnTo>
                    <a:pt x="4819650" y="1769110"/>
                  </a:lnTo>
                  <a:cubicBezTo>
                    <a:pt x="4754880" y="1769110"/>
                    <a:pt x="4701540" y="1715770"/>
                    <a:pt x="4701540" y="1650999"/>
                  </a:cubicBezTo>
                  <a:lnTo>
                    <a:pt x="4701540" y="601980"/>
                  </a:lnTo>
                  <a:cubicBezTo>
                    <a:pt x="4701540" y="537210"/>
                    <a:pt x="4754880" y="483870"/>
                    <a:pt x="4819650" y="483870"/>
                  </a:cubicBezTo>
                  <a:lnTo>
                    <a:pt x="4876800" y="483870"/>
                  </a:lnTo>
                  <a:lnTo>
                    <a:pt x="4876800" y="209550"/>
                  </a:lnTo>
                  <a:cubicBezTo>
                    <a:pt x="4876800" y="93980"/>
                    <a:pt x="4782820" y="0"/>
                    <a:pt x="4667250" y="0"/>
                  </a:cubicBezTo>
                  <a:lnTo>
                    <a:pt x="209550" y="0"/>
                  </a:lnTo>
                  <a:cubicBezTo>
                    <a:pt x="93980" y="0"/>
                    <a:pt x="0" y="93980"/>
                    <a:pt x="0" y="209550"/>
                  </a:cubicBezTo>
                  <a:lnTo>
                    <a:pt x="0" y="2040889"/>
                  </a:lnTo>
                  <a:cubicBezTo>
                    <a:pt x="0" y="2156460"/>
                    <a:pt x="93980" y="2250439"/>
                    <a:pt x="209550" y="2250439"/>
                  </a:cubicBezTo>
                  <a:lnTo>
                    <a:pt x="4667250" y="2250439"/>
                  </a:lnTo>
                  <a:cubicBezTo>
                    <a:pt x="4782820" y="2251710"/>
                    <a:pt x="4876800" y="2157729"/>
                    <a:pt x="4876800" y="2040889"/>
                  </a:cubicBezTo>
                  <a:close/>
                </a:path>
              </a:pathLst>
            </a:custGeom>
            <a:blipFill>
              <a:blip r:embed="rId2"/>
              <a:stretch>
                <a:fillRect l="0" t="-28464" r="0" b="-28464"/>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FF5B37"/>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FF5B37"/>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FF5B37"/>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FF5B37"/>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FF5B37"/>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FF5B37"/>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000000"/>
            </a:solidFill>
          </p:spPr>
        </p:sp>
      </p:grpSp>
      <p:sp>
        <p:nvSpPr>
          <p:cNvPr name="Freeform 15" id="15"/>
          <p:cNvSpPr/>
          <p:nvPr/>
        </p:nvSpPr>
        <p:spPr>
          <a:xfrm flipH="false" flipV="false" rot="0">
            <a:off x="609600" y="609600"/>
            <a:ext cx="446522" cy="341792"/>
          </a:xfrm>
          <a:custGeom>
            <a:avLst/>
            <a:gdLst/>
            <a:ahLst/>
            <a:cxnLst/>
            <a:rect r="r" b="b" t="t" l="l"/>
            <a:pathLst>
              <a:path h="341792" w="446522">
                <a:moveTo>
                  <a:pt x="0" y="0"/>
                </a:moveTo>
                <a:lnTo>
                  <a:pt x="446522" y="0"/>
                </a:lnTo>
                <a:lnTo>
                  <a:pt x="446522" y="341792"/>
                </a:lnTo>
                <a:lnTo>
                  <a:pt x="0" y="3417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1572875" y="1750064"/>
            <a:ext cx="838200" cy="838200"/>
            <a:chOff x="0" y="0"/>
            <a:chExt cx="160553" cy="160553"/>
          </a:xfrm>
        </p:grpSpPr>
        <p:sp>
          <p:nvSpPr>
            <p:cNvPr name="Freeform 17" id="17"/>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18" id="18"/>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19" id="19"/>
          <p:cNvSpPr/>
          <p:nvPr/>
        </p:nvSpPr>
        <p:spPr>
          <a:xfrm flipH="false" flipV="false" rot="0">
            <a:off x="11740515" y="1911989"/>
            <a:ext cx="502920" cy="457200"/>
          </a:xfrm>
          <a:custGeom>
            <a:avLst/>
            <a:gdLst/>
            <a:ahLst/>
            <a:cxnLst/>
            <a:rect r="r" b="b" t="t" l="l"/>
            <a:pathLst>
              <a:path h="457200" w="502920">
                <a:moveTo>
                  <a:pt x="0" y="0"/>
                </a:moveTo>
                <a:lnTo>
                  <a:pt x="502920" y="0"/>
                </a:lnTo>
                <a:lnTo>
                  <a:pt x="50292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0" id="20"/>
          <p:cNvGrpSpPr/>
          <p:nvPr/>
        </p:nvGrpSpPr>
        <p:grpSpPr>
          <a:xfrm rot="0">
            <a:off x="11572875" y="5536978"/>
            <a:ext cx="838200" cy="838200"/>
            <a:chOff x="0" y="0"/>
            <a:chExt cx="160553" cy="160553"/>
          </a:xfrm>
        </p:grpSpPr>
        <p:sp>
          <p:nvSpPr>
            <p:cNvPr name="Freeform 21" id="21"/>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22" id="22"/>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23" id="23"/>
          <p:cNvSpPr/>
          <p:nvPr/>
        </p:nvSpPr>
        <p:spPr>
          <a:xfrm flipH="false" flipV="false" rot="0">
            <a:off x="11752489" y="5727478"/>
            <a:ext cx="478971" cy="457200"/>
          </a:xfrm>
          <a:custGeom>
            <a:avLst/>
            <a:gdLst/>
            <a:ahLst/>
            <a:cxnLst/>
            <a:rect r="r" b="b" t="t" l="l"/>
            <a:pathLst>
              <a:path h="457200" w="478971">
                <a:moveTo>
                  <a:pt x="0" y="0"/>
                </a:moveTo>
                <a:lnTo>
                  <a:pt x="478972" y="0"/>
                </a:lnTo>
                <a:lnTo>
                  <a:pt x="478972"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4" id="24"/>
          <p:cNvGrpSpPr/>
          <p:nvPr/>
        </p:nvGrpSpPr>
        <p:grpSpPr>
          <a:xfrm rot="0">
            <a:off x="11572875" y="3643521"/>
            <a:ext cx="838200" cy="838200"/>
            <a:chOff x="0" y="0"/>
            <a:chExt cx="160553" cy="160553"/>
          </a:xfrm>
        </p:grpSpPr>
        <p:sp>
          <p:nvSpPr>
            <p:cNvPr name="Freeform 25" id="25"/>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26" id="26"/>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27" id="27"/>
          <p:cNvSpPr/>
          <p:nvPr/>
        </p:nvSpPr>
        <p:spPr>
          <a:xfrm flipH="false" flipV="false" rot="0">
            <a:off x="11774182" y="3834021"/>
            <a:ext cx="435587" cy="457200"/>
          </a:xfrm>
          <a:custGeom>
            <a:avLst/>
            <a:gdLst/>
            <a:ahLst/>
            <a:cxnLst/>
            <a:rect r="r" b="b" t="t" l="l"/>
            <a:pathLst>
              <a:path h="457200" w="435587">
                <a:moveTo>
                  <a:pt x="0" y="0"/>
                </a:moveTo>
                <a:lnTo>
                  <a:pt x="435586" y="0"/>
                </a:lnTo>
                <a:lnTo>
                  <a:pt x="435586"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8" id="28"/>
          <p:cNvSpPr txBox="true"/>
          <p:nvPr/>
        </p:nvSpPr>
        <p:spPr>
          <a:xfrm rot="0">
            <a:off x="12829586" y="1974449"/>
            <a:ext cx="4848814" cy="70167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An AI-powered meal planning app that learns your unique preferences.</a:t>
            </a:r>
          </a:p>
        </p:txBody>
      </p:sp>
      <p:sp>
        <p:nvSpPr>
          <p:cNvPr name="TextBox 29" id="29"/>
          <p:cNvSpPr txBox="true"/>
          <p:nvPr/>
        </p:nvSpPr>
        <p:spPr>
          <a:xfrm rot="0">
            <a:off x="12829586" y="1543459"/>
            <a:ext cx="4848814"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strike="noStrike" u="none">
                <a:solidFill>
                  <a:srgbClr val="000000"/>
                </a:solidFill>
                <a:latin typeface="Inter Semi-Bold"/>
                <a:ea typeface="Inter Semi-Bold"/>
                <a:cs typeface="Inter Semi-Bold"/>
                <a:sym typeface="Inter Semi-Bold"/>
              </a:rPr>
              <a:t>AI Trained on Clinical Nutrition Data</a:t>
            </a:r>
          </a:p>
        </p:txBody>
      </p:sp>
      <p:sp>
        <p:nvSpPr>
          <p:cNvPr name="TextBox 30" id="30"/>
          <p:cNvSpPr txBox="true"/>
          <p:nvPr/>
        </p:nvSpPr>
        <p:spPr>
          <a:xfrm rot="0">
            <a:off x="609600" y="1611118"/>
            <a:ext cx="5486400" cy="1943100"/>
          </a:xfrm>
          <a:prstGeom prst="rect">
            <a:avLst/>
          </a:prstGeom>
        </p:spPr>
        <p:txBody>
          <a:bodyPr anchor="t" rtlCol="false" tIns="0" lIns="0" bIns="0" rIns="0">
            <a:spAutoFit/>
          </a:bodyPr>
          <a:lstStyle/>
          <a:p>
            <a:pPr algn="l" marL="0" indent="0" lvl="0">
              <a:lnSpc>
                <a:spcPts val="7679"/>
              </a:lnSpc>
            </a:pPr>
            <a:r>
              <a:rPr lang="en-US" b="true" sz="6399" spc="-102">
                <a:solidFill>
                  <a:srgbClr val="000000"/>
                </a:solidFill>
                <a:latin typeface="Inter Bold"/>
                <a:ea typeface="Inter Bold"/>
                <a:cs typeface="Inter Bold"/>
                <a:sym typeface="Inter Bold"/>
              </a:rPr>
              <a:t>Our Solution (The App)</a:t>
            </a:r>
          </a:p>
        </p:txBody>
      </p:sp>
      <p:sp>
        <p:nvSpPr>
          <p:cNvPr name="TextBox 31" id="31"/>
          <p:cNvSpPr txBox="true"/>
          <p:nvPr/>
        </p:nvSpPr>
        <p:spPr>
          <a:xfrm rot="0">
            <a:off x="1195748" y="613809"/>
            <a:ext cx="1391384" cy="333375"/>
          </a:xfrm>
          <a:prstGeom prst="rect">
            <a:avLst/>
          </a:prstGeom>
        </p:spPr>
        <p:txBody>
          <a:bodyPr anchor="t" rtlCol="false" tIns="0" lIns="0" bIns="0" rIns="0">
            <a:spAutoFit/>
          </a:bodyPr>
          <a:lstStyle/>
          <a:p>
            <a:pPr algn="l" marL="0" indent="0" lvl="0">
              <a:lnSpc>
                <a:spcPts val="2640"/>
              </a:lnSpc>
              <a:spcBef>
                <a:spcPct val="0"/>
              </a:spcBef>
            </a:pPr>
            <a:r>
              <a:rPr lang="en-US" b="true" sz="2200" spc="-35">
                <a:solidFill>
                  <a:srgbClr val="000000"/>
                </a:solidFill>
                <a:latin typeface="Inter Bold"/>
                <a:ea typeface="Inter Bold"/>
                <a:cs typeface="Inter Bold"/>
                <a:sym typeface="Inter Bold"/>
              </a:rPr>
              <a:t>Rimberio</a:t>
            </a:r>
          </a:p>
        </p:txBody>
      </p:sp>
      <p:sp>
        <p:nvSpPr>
          <p:cNvPr name="TextBox 32" id="32"/>
          <p:cNvSpPr txBox="true"/>
          <p:nvPr/>
        </p:nvSpPr>
        <p:spPr>
          <a:xfrm rot="0">
            <a:off x="609600" y="4881421"/>
            <a:ext cx="5511054" cy="140652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Lorem ipsum dolor sit amet, consectetur adipiscing elit,</a:t>
            </a:r>
            <a:r>
              <a:rPr lang="en-US" sz="2000" spc="-32">
                <a:solidFill>
                  <a:srgbClr val="000000"/>
                </a:solidFill>
                <a:latin typeface="Inter"/>
                <a:ea typeface="Inter"/>
                <a:cs typeface="Inter"/>
                <a:sym typeface="Inter"/>
              </a:rPr>
              <a:t> sed do eiusmod tempor incididunt ut labore et dolore magna aliqua. Ut enim ad minim veniam, quis nostrud.</a:t>
            </a:r>
          </a:p>
        </p:txBody>
      </p:sp>
      <p:sp>
        <p:nvSpPr>
          <p:cNvPr name="TextBox 33" id="33"/>
          <p:cNvSpPr txBox="true"/>
          <p:nvPr/>
        </p:nvSpPr>
        <p:spPr>
          <a:xfrm rot="0">
            <a:off x="609600" y="4434096"/>
            <a:ext cx="5511054" cy="349250"/>
          </a:xfrm>
          <a:prstGeom prst="rect">
            <a:avLst/>
          </a:prstGeom>
        </p:spPr>
        <p:txBody>
          <a:bodyPr anchor="t" rtlCol="false" tIns="0" lIns="0" bIns="0" rIns="0">
            <a:spAutoFit/>
          </a:bodyPr>
          <a:lstStyle/>
          <a:p>
            <a:pPr algn="l" marL="0" indent="0" lvl="0">
              <a:lnSpc>
                <a:spcPts val="2800"/>
              </a:lnSpc>
            </a:pPr>
            <a:r>
              <a:rPr lang="en-US" b="true" sz="2000" spc="-32">
                <a:solidFill>
                  <a:srgbClr val="000000"/>
                </a:solidFill>
                <a:latin typeface="Inter Semi-Bold"/>
                <a:ea typeface="Inter Semi-Bold"/>
                <a:cs typeface="Inter Semi-Bold"/>
                <a:sym typeface="Inter Semi-Bold"/>
              </a:rPr>
              <a:t>Th</a:t>
            </a:r>
            <a:r>
              <a:rPr lang="en-US" b="true" sz="2000" spc="-32">
                <a:solidFill>
                  <a:srgbClr val="000000"/>
                </a:solidFill>
                <a:latin typeface="Inter Semi-Bold"/>
                <a:ea typeface="Inter Semi-Bold"/>
                <a:cs typeface="Inter Semi-Bold"/>
                <a:sym typeface="Inter Semi-Bold"/>
              </a:rPr>
              <a:t>e World's First Personal AI Nutritionist</a:t>
            </a:r>
          </a:p>
        </p:txBody>
      </p:sp>
      <p:sp>
        <p:nvSpPr>
          <p:cNvPr name="TextBox 34" id="34"/>
          <p:cNvSpPr txBox="true"/>
          <p:nvPr/>
        </p:nvSpPr>
        <p:spPr>
          <a:xfrm rot="0">
            <a:off x="12829586" y="3867906"/>
            <a:ext cx="4848814" cy="70167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Delivers</a:t>
            </a:r>
            <a:r>
              <a:rPr lang="en-US" sz="2000" spc="-32">
                <a:solidFill>
                  <a:srgbClr val="000000"/>
                </a:solidFill>
                <a:latin typeface="Inter"/>
                <a:ea typeface="Inter"/>
                <a:cs typeface="Inter"/>
                <a:sym typeface="Inter"/>
              </a:rPr>
              <a:t> a fully personalized daily nutrition plan that actually works for you.</a:t>
            </a:r>
          </a:p>
        </p:txBody>
      </p:sp>
      <p:sp>
        <p:nvSpPr>
          <p:cNvPr name="TextBox 35" id="35"/>
          <p:cNvSpPr txBox="true"/>
          <p:nvPr/>
        </p:nvSpPr>
        <p:spPr>
          <a:xfrm rot="0">
            <a:off x="12829586" y="3436916"/>
            <a:ext cx="4848814"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Hyper-Pe</a:t>
            </a:r>
            <a:r>
              <a:rPr lang="en-US" b="true" sz="2000" spc="-32" strike="noStrike" u="none">
                <a:solidFill>
                  <a:srgbClr val="000000"/>
                </a:solidFill>
                <a:latin typeface="Inter Semi-Bold"/>
                <a:ea typeface="Inter Semi-Bold"/>
                <a:cs typeface="Inter Semi-Bold"/>
                <a:sym typeface="Inter Semi-Bold"/>
              </a:rPr>
              <a:t>r</a:t>
            </a:r>
            <a:r>
              <a:rPr lang="en-US" b="true" sz="2000" spc="-32" strike="noStrike" u="none">
                <a:solidFill>
                  <a:srgbClr val="000000"/>
                </a:solidFill>
                <a:latin typeface="Inter Semi-Bold"/>
                <a:ea typeface="Inter Semi-Bold"/>
                <a:cs typeface="Inter Semi-Bold"/>
                <a:sym typeface="Inter Semi-Bold"/>
              </a:rPr>
              <a:t>son</a:t>
            </a:r>
            <a:r>
              <a:rPr lang="en-US" b="true" sz="2000" spc="-32" strike="noStrike" u="none">
                <a:solidFill>
                  <a:srgbClr val="000000"/>
                </a:solidFill>
                <a:latin typeface="Inter Semi-Bold"/>
                <a:ea typeface="Inter Semi-Bold"/>
                <a:cs typeface="Inter Semi-Bold"/>
                <a:sym typeface="Inter Semi-Bold"/>
              </a:rPr>
              <a:t>a</a:t>
            </a:r>
            <a:r>
              <a:rPr lang="en-US" b="true" sz="2000" spc="-32" strike="noStrike" u="none">
                <a:solidFill>
                  <a:srgbClr val="000000"/>
                </a:solidFill>
                <a:latin typeface="Inter Semi-Bold"/>
                <a:ea typeface="Inter Semi-Bold"/>
                <a:cs typeface="Inter Semi-Bold"/>
                <a:sym typeface="Inter Semi-Bold"/>
              </a:rPr>
              <a:t>l</a:t>
            </a:r>
            <a:r>
              <a:rPr lang="en-US" b="true" sz="2000" spc="-32" strike="noStrike" u="none">
                <a:solidFill>
                  <a:srgbClr val="000000"/>
                </a:solidFill>
                <a:latin typeface="Inter Semi-Bold"/>
                <a:ea typeface="Inter Semi-Bold"/>
                <a:cs typeface="Inter Semi-Bold"/>
                <a:sym typeface="Inter Semi-Bold"/>
              </a:rPr>
              <a:t>i</a:t>
            </a:r>
            <a:r>
              <a:rPr lang="en-US" b="true" sz="2000" spc="-32" strike="noStrike" u="none">
                <a:solidFill>
                  <a:srgbClr val="000000"/>
                </a:solidFill>
                <a:latin typeface="Inter Semi-Bold"/>
                <a:ea typeface="Inter Semi-Bold"/>
                <a:cs typeface="Inter Semi-Bold"/>
                <a:sym typeface="Inter Semi-Bold"/>
              </a:rPr>
              <a:t>z</a:t>
            </a:r>
            <a:r>
              <a:rPr lang="en-US" b="true" sz="2000" spc="-32" strike="noStrike" u="none">
                <a:solidFill>
                  <a:srgbClr val="000000"/>
                </a:solidFill>
                <a:latin typeface="Inter Semi-Bold"/>
                <a:ea typeface="Inter Semi-Bold"/>
                <a:cs typeface="Inter Semi-Bold"/>
                <a:sym typeface="Inter Semi-Bold"/>
              </a:rPr>
              <a:t>ed </a:t>
            </a:r>
            <a:r>
              <a:rPr lang="en-US" b="true" sz="2000" spc="-32" strike="noStrike" u="none">
                <a:solidFill>
                  <a:srgbClr val="000000"/>
                </a:solidFill>
                <a:latin typeface="Inter Semi-Bold"/>
                <a:ea typeface="Inter Semi-Bold"/>
                <a:cs typeface="Inter Semi-Bold"/>
                <a:sym typeface="Inter Semi-Bold"/>
              </a:rPr>
              <a:t>t</a:t>
            </a:r>
            <a:r>
              <a:rPr lang="en-US" b="true" sz="2000" spc="-32" strike="noStrike" u="none">
                <a:solidFill>
                  <a:srgbClr val="000000"/>
                </a:solidFill>
                <a:latin typeface="Inter Semi-Bold"/>
                <a:ea typeface="Inter Semi-Bold"/>
                <a:cs typeface="Inter Semi-Bold"/>
                <a:sym typeface="Inter Semi-Bold"/>
              </a:rPr>
              <a:t>o </a:t>
            </a:r>
            <a:r>
              <a:rPr lang="en-US" b="true" sz="2000" spc="-32" strike="noStrike" u="none">
                <a:solidFill>
                  <a:srgbClr val="000000"/>
                </a:solidFill>
                <a:latin typeface="Inter Semi-Bold"/>
                <a:ea typeface="Inter Semi-Bold"/>
                <a:cs typeface="Inter Semi-Bold"/>
                <a:sym typeface="Inter Semi-Bold"/>
              </a:rPr>
              <a:t>Yo</a:t>
            </a:r>
            <a:r>
              <a:rPr lang="en-US" b="true" sz="2000" spc="-32" strike="noStrike" u="none">
                <a:solidFill>
                  <a:srgbClr val="000000"/>
                </a:solidFill>
                <a:latin typeface="Inter Semi-Bold"/>
                <a:ea typeface="Inter Semi-Bold"/>
                <a:cs typeface="Inter Semi-Bold"/>
                <a:sym typeface="Inter Semi-Bold"/>
              </a:rPr>
              <a:t>ur</a:t>
            </a:r>
            <a:r>
              <a:rPr lang="en-US" b="true" sz="2000" spc="-32" strike="noStrike" u="none">
                <a:solidFill>
                  <a:srgbClr val="000000"/>
                </a:solidFill>
                <a:latin typeface="Inter Semi-Bold"/>
                <a:ea typeface="Inter Semi-Bold"/>
                <a:cs typeface="Inter Semi-Bold"/>
                <a:sym typeface="Inter Semi-Bold"/>
              </a:rPr>
              <a:t> B</a:t>
            </a:r>
            <a:r>
              <a:rPr lang="en-US" b="true" sz="2000" spc="-32" strike="noStrike" u="none">
                <a:solidFill>
                  <a:srgbClr val="000000"/>
                </a:solidFill>
                <a:latin typeface="Inter Semi-Bold"/>
                <a:ea typeface="Inter Semi-Bold"/>
                <a:cs typeface="Inter Semi-Bold"/>
                <a:sym typeface="Inter Semi-Bold"/>
              </a:rPr>
              <a:t>i</a:t>
            </a:r>
            <a:r>
              <a:rPr lang="en-US" b="true" sz="2000" spc="-32" strike="noStrike" u="none">
                <a:solidFill>
                  <a:srgbClr val="000000"/>
                </a:solidFill>
                <a:latin typeface="Inter Semi-Bold"/>
                <a:ea typeface="Inter Semi-Bold"/>
                <a:cs typeface="Inter Semi-Bold"/>
                <a:sym typeface="Inter Semi-Bold"/>
              </a:rPr>
              <a:t>ol</a:t>
            </a:r>
            <a:r>
              <a:rPr lang="en-US" b="true" sz="2000" spc="-32" strike="noStrike" u="none">
                <a:solidFill>
                  <a:srgbClr val="000000"/>
                </a:solidFill>
                <a:latin typeface="Inter Semi-Bold"/>
                <a:ea typeface="Inter Semi-Bold"/>
                <a:cs typeface="Inter Semi-Bold"/>
                <a:sym typeface="Inter Semi-Bold"/>
              </a:rPr>
              <a:t>o</a:t>
            </a:r>
            <a:r>
              <a:rPr lang="en-US" b="true" sz="2000" spc="-32" strike="noStrike" u="none">
                <a:solidFill>
                  <a:srgbClr val="000000"/>
                </a:solidFill>
                <a:latin typeface="Inter Semi-Bold"/>
                <a:ea typeface="Inter Semi-Bold"/>
                <a:cs typeface="Inter Semi-Bold"/>
                <a:sym typeface="Inter Semi-Bold"/>
              </a:rPr>
              <a:t>gy</a:t>
            </a:r>
          </a:p>
        </p:txBody>
      </p:sp>
      <p:sp>
        <p:nvSpPr>
          <p:cNvPr name="TextBox 36" id="36"/>
          <p:cNvSpPr txBox="true"/>
          <p:nvPr/>
        </p:nvSpPr>
        <p:spPr>
          <a:xfrm rot="0">
            <a:off x="12829586" y="5761363"/>
            <a:ext cx="4848814" cy="70167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W</a:t>
            </a:r>
            <a:r>
              <a:rPr lang="en-US" sz="2000" spc="-32">
                <a:solidFill>
                  <a:srgbClr val="000000"/>
                </a:solidFill>
                <a:latin typeface="Inter"/>
                <a:ea typeface="Inter"/>
                <a:cs typeface="Inter"/>
                <a:sym typeface="Inter"/>
              </a:rPr>
              <a:t>e'll give you a nutrition plan so precisely designed just for you only.</a:t>
            </a:r>
          </a:p>
        </p:txBody>
      </p:sp>
      <p:sp>
        <p:nvSpPr>
          <p:cNvPr name="TextBox 37" id="37"/>
          <p:cNvSpPr txBox="true"/>
          <p:nvPr/>
        </p:nvSpPr>
        <p:spPr>
          <a:xfrm rot="0">
            <a:off x="12829586" y="5330373"/>
            <a:ext cx="4848814"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An App Designed Just for You</a:t>
            </a:r>
          </a:p>
        </p:txBody>
      </p:sp>
      <p:sp>
        <p:nvSpPr>
          <p:cNvPr name="TextBox 38" id="38"/>
          <p:cNvSpPr txBox="true"/>
          <p:nvPr/>
        </p:nvSpPr>
        <p:spPr>
          <a:xfrm rot="0">
            <a:off x="12829586" y="7857330"/>
            <a:ext cx="4848814" cy="619125"/>
          </a:xfrm>
          <a:prstGeom prst="rect">
            <a:avLst/>
          </a:prstGeom>
        </p:spPr>
        <p:txBody>
          <a:bodyPr anchor="t" rtlCol="false" tIns="0" lIns="0" bIns="0" rIns="0">
            <a:spAutoFit/>
          </a:bodyPr>
          <a:lstStyle/>
          <a:p>
            <a:pPr algn="l" marL="0" indent="0" lvl="0">
              <a:lnSpc>
                <a:spcPts val="4800"/>
              </a:lnSpc>
              <a:spcBef>
                <a:spcPct val="0"/>
              </a:spcBef>
            </a:pPr>
            <a:r>
              <a:rPr lang="en-US" b="true" sz="4000" spc="-64">
                <a:solidFill>
                  <a:srgbClr val="FF5B37"/>
                </a:solidFill>
                <a:latin typeface="Inter Semi-Bold"/>
                <a:ea typeface="Inter Semi-Bold"/>
                <a:cs typeface="Inter Semi-Bold"/>
                <a:sym typeface="Inter Semi-Bold"/>
              </a:rPr>
              <a:t>$ 123,000</a:t>
            </a:r>
          </a:p>
        </p:txBody>
      </p:sp>
      <p:sp>
        <p:nvSpPr>
          <p:cNvPr name="TextBox 39" id="39"/>
          <p:cNvSpPr txBox="true"/>
          <p:nvPr/>
        </p:nvSpPr>
        <p:spPr>
          <a:xfrm rot="0">
            <a:off x="12829586" y="8623300"/>
            <a:ext cx="4848814" cy="105410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Lorem ipsum dolor sit amet, proin morbi elit. Quam velit leo, turpis nec risus sed, felis eu velit. Cras massa</a:t>
            </a:r>
          </a:p>
        </p:txBody>
      </p:sp>
      <p:sp>
        <p:nvSpPr>
          <p:cNvPr name="TextBox 40" id="40"/>
          <p:cNvSpPr txBox="true"/>
          <p:nvPr/>
        </p:nvSpPr>
        <p:spPr>
          <a:xfrm rot="0">
            <a:off x="609600" y="7329522"/>
            <a:ext cx="5486400" cy="105410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Lorem ipsum dolor sit amet, proin morbi elit.</a:t>
            </a:r>
            <a:r>
              <a:rPr lang="en-US" sz="2000" spc="-32">
                <a:solidFill>
                  <a:srgbClr val="000000"/>
                </a:solidFill>
                <a:latin typeface="Inter"/>
                <a:ea typeface="Inter"/>
                <a:cs typeface="Inter"/>
                <a:sym typeface="Inter"/>
              </a:rPr>
              <a:t> Quam velit leo, turpis nec risus sed, felis eu velit. Lorem ipsum Cras massa</a:t>
            </a:r>
          </a:p>
        </p:txBody>
      </p:sp>
      <p:sp>
        <p:nvSpPr>
          <p:cNvPr name="TextBox 41" id="41"/>
          <p:cNvSpPr txBox="true"/>
          <p:nvPr/>
        </p:nvSpPr>
        <p:spPr>
          <a:xfrm rot="0">
            <a:off x="609600" y="6882196"/>
            <a:ext cx="5511054" cy="349250"/>
          </a:xfrm>
          <a:prstGeom prst="rect">
            <a:avLst/>
          </a:prstGeom>
        </p:spPr>
        <p:txBody>
          <a:bodyPr anchor="t" rtlCol="false" tIns="0" lIns="0" bIns="0" rIns="0">
            <a:spAutoFit/>
          </a:bodyPr>
          <a:lstStyle/>
          <a:p>
            <a:pPr algn="l" marL="0" indent="0" lvl="0">
              <a:lnSpc>
                <a:spcPts val="2800"/>
              </a:lnSpc>
            </a:pPr>
            <a:r>
              <a:rPr lang="en-US" b="true" sz="2000" spc="-32">
                <a:solidFill>
                  <a:srgbClr val="000000"/>
                </a:solidFill>
                <a:latin typeface="Inter Semi-Bold"/>
                <a:ea typeface="Inter Semi-Bold"/>
                <a:cs typeface="Inter Semi-Bold"/>
                <a:sym typeface="Inter Semi-Bold"/>
              </a:rPr>
              <a:t>World-Class Nutr</a:t>
            </a:r>
            <a:r>
              <a:rPr lang="en-US" b="true" sz="2000" spc="-32">
                <a:solidFill>
                  <a:srgbClr val="000000"/>
                </a:solidFill>
                <a:latin typeface="Inter Semi-Bold"/>
                <a:ea typeface="Inter Semi-Bold"/>
                <a:cs typeface="Inter Semi-Bold"/>
                <a:sym typeface="Inter Semi-Bold"/>
              </a:rPr>
              <a:t>itionist in Your Pocket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09600" y="4063610"/>
            <a:ext cx="7751225" cy="6223390"/>
            <a:chOff x="0" y="0"/>
            <a:chExt cx="7467600" cy="5995670"/>
          </a:xfrm>
        </p:grpSpPr>
        <p:sp>
          <p:nvSpPr>
            <p:cNvPr name="Freeform 3" id="3"/>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4" id="4"/>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F5F5F5"/>
            </a:solidFill>
          </p:spPr>
        </p:sp>
        <p:sp>
          <p:nvSpPr>
            <p:cNvPr name="Freeform 5" id="5"/>
            <p:cNvSpPr/>
            <p:nvPr/>
          </p:nvSpPr>
          <p:spPr>
            <a:xfrm flipH="false" flipV="false" rot="0">
              <a:off x="2434265" y="5210810"/>
              <a:ext cx="2596530" cy="786130"/>
            </a:xfrm>
            <a:custGeom>
              <a:avLst/>
              <a:gdLst/>
              <a:ahLst/>
              <a:cxnLst/>
              <a:rect r="r" b="b" t="t" l="l"/>
              <a:pathLst>
                <a:path h="786130" w="25965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E9E9E9"/>
            </a:solidFill>
          </p:spPr>
        </p:sp>
        <p:sp>
          <p:nvSpPr>
            <p:cNvPr name="Freeform 6" id="6"/>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2"/>
              <a:stretch>
                <a:fillRect l="0" t="-5" r="0" b="-5"/>
              </a:stretch>
            </a:blipFill>
          </p:spPr>
        </p:sp>
      </p:grpSp>
      <p:grpSp>
        <p:nvGrpSpPr>
          <p:cNvPr name="Group 7" id="7"/>
          <p:cNvGrpSpPr/>
          <p:nvPr/>
        </p:nvGrpSpPr>
        <p:grpSpPr>
          <a:xfrm rot="0">
            <a:off x="8991600" y="1611118"/>
            <a:ext cx="4076700" cy="3766441"/>
            <a:chOff x="0" y="0"/>
            <a:chExt cx="1073699" cy="991985"/>
          </a:xfrm>
        </p:grpSpPr>
        <p:sp>
          <p:nvSpPr>
            <p:cNvPr name="Freeform 8" id="8"/>
            <p:cNvSpPr/>
            <p:nvPr/>
          </p:nvSpPr>
          <p:spPr>
            <a:xfrm flipH="false" flipV="false" rot="0">
              <a:off x="0" y="0"/>
              <a:ext cx="1073699" cy="991985"/>
            </a:xfrm>
            <a:custGeom>
              <a:avLst/>
              <a:gdLst/>
              <a:ahLst/>
              <a:cxnLst/>
              <a:rect r="r" b="b" t="t" l="l"/>
              <a:pathLst>
                <a:path h="991985" w="1073699">
                  <a:moveTo>
                    <a:pt x="60770" y="0"/>
                  </a:moveTo>
                  <a:lnTo>
                    <a:pt x="1012929" y="0"/>
                  </a:lnTo>
                  <a:cubicBezTo>
                    <a:pt x="1046491" y="0"/>
                    <a:pt x="1073699" y="27208"/>
                    <a:pt x="1073699" y="60770"/>
                  </a:cubicBezTo>
                  <a:lnTo>
                    <a:pt x="1073699" y="931214"/>
                  </a:lnTo>
                  <a:cubicBezTo>
                    <a:pt x="1073699" y="947332"/>
                    <a:pt x="1067296" y="962789"/>
                    <a:pt x="1055900" y="974185"/>
                  </a:cubicBezTo>
                  <a:cubicBezTo>
                    <a:pt x="1044503" y="985582"/>
                    <a:pt x="1029046" y="991985"/>
                    <a:pt x="1012929" y="991985"/>
                  </a:cubicBezTo>
                  <a:lnTo>
                    <a:pt x="60770" y="991985"/>
                  </a:lnTo>
                  <a:cubicBezTo>
                    <a:pt x="27208" y="991985"/>
                    <a:pt x="0" y="964777"/>
                    <a:pt x="0" y="931214"/>
                  </a:cubicBezTo>
                  <a:lnTo>
                    <a:pt x="0" y="60770"/>
                  </a:lnTo>
                  <a:cubicBezTo>
                    <a:pt x="0" y="27208"/>
                    <a:pt x="27208" y="0"/>
                    <a:pt x="60770" y="0"/>
                  </a:cubicBezTo>
                  <a:close/>
                </a:path>
              </a:pathLst>
            </a:custGeom>
            <a:solidFill>
              <a:srgbClr val="F5F5F5"/>
            </a:solidFill>
            <a:ln cap="rnd">
              <a:noFill/>
              <a:prstDash val="solid"/>
              <a:round/>
            </a:ln>
          </p:spPr>
        </p:sp>
        <p:sp>
          <p:nvSpPr>
            <p:cNvPr name="TextBox 9" id="9"/>
            <p:cNvSpPr txBox="true"/>
            <p:nvPr/>
          </p:nvSpPr>
          <p:spPr>
            <a:xfrm>
              <a:off x="0" y="0"/>
              <a:ext cx="1073699" cy="99198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Freeform 10" id="10"/>
          <p:cNvSpPr/>
          <p:nvPr/>
        </p:nvSpPr>
        <p:spPr>
          <a:xfrm flipH="false" flipV="false" rot="0">
            <a:off x="609600" y="609600"/>
            <a:ext cx="446522" cy="341792"/>
          </a:xfrm>
          <a:custGeom>
            <a:avLst/>
            <a:gdLst/>
            <a:ahLst/>
            <a:cxnLst/>
            <a:rect r="r" b="b" t="t" l="l"/>
            <a:pathLst>
              <a:path h="341792" w="446522">
                <a:moveTo>
                  <a:pt x="0" y="0"/>
                </a:moveTo>
                <a:lnTo>
                  <a:pt x="446522" y="0"/>
                </a:lnTo>
                <a:lnTo>
                  <a:pt x="446522" y="341792"/>
                </a:lnTo>
                <a:lnTo>
                  <a:pt x="0" y="3417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9442009" y="2051598"/>
            <a:ext cx="838200" cy="838200"/>
            <a:chOff x="0" y="0"/>
            <a:chExt cx="160553" cy="160553"/>
          </a:xfrm>
        </p:grpSpPr>
        <p:sp>
          <p:nvSpPr>
            <p:cNvPr name="Freeform 12" id="12"/>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13" id="13"/>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14" id="14"/>
          <p:cNvSpPr/>
          <p:nvPr/>
        </p:nvSpPr>
        <p:spPr>
          <a:xfrm flipH="false" flipV="false" rot="0">
            <a:off x="9632509" y="2242098"/>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13601700" y="1611118"/>
            <a:ext cx="4076700" cy="3766441"/>
            <a:chOff x="0" y="0"/>
            <a:chExt cx="1073699" cy="991985"/>
          </a:xfrm>
        </p:grpSpPr>
        <p:sp>
          <p:nvSpPr>
            <p:cNvPr name="Freeform 16" id="16"/>
            <p:cNvSpPr/>
            <p:nvPr/>
          </p:nvSpPr>
          <p:spPr>
            <a:xfrm flipH="false" flipV="false" rot="0">
              <a:off x="0" y="0"/>
              <a:ext cx="1073699" cy="991985"/>
            </a:xfrm>
            <a:custGeom>
              <a:avLst/>
              <a:gdLst/>
              <a:ahLst/>
              <a:cxnLst/>
              <a:rect r="r" b="b" t="t" l="l"/>
              <a:pathLst>
                <a:path h="991985" w="1073699">
                  <a:moveTo>
                    <a:pt x="60770" y="0"/>
                  </a:moveTo>
                  <a:lnTo>
                    <a:pt x="1012929" y="0"/>
                  </a:lnTo>
                  <a:cubicBezTo>
                    <a:pt x="1046491" y="0"/>
                    <a:pt x="1073699" y="27208"/>
                    <a:pt x="1073699" y="60770"/>
                  </a:cubicBezTo>
                  <a:lnTo>
                    <a:pt x="1073699" y="931214"/>
                  </a:lnTo>
                  <a:cubicBezTo>
                    <a:pt x="1073699" y="947332"/>
                    <a:pt x="1067296" y="962789"/>
                    <a:pt x="1055900" y="974185"/>
                  </a:cubicBezTo>
                  <a:cubicBezTo>
                    <a:pt x="1044503" y="985582"/>
                    <a:pt x="1029046" y="991985"/>
                    <a:pt x="1012929" y="991985"/>
                  </a:cubicBezTo>
                  <a:lnTo>
                    <a:pt x="60770" y="991985"/>
                  </a:lnTo>
                  <a:cubicBezTo>
                    <a:pt x="27208" y="991985"/>
                    <a:pt x="0" y="964777"/>
                    <a:pt x="0" y="931214"/>
                  </a:cubicBezTo>
                  <a:lnTo>
                    <a:pt x="0" y="60770"/>
                  </a:lnTo>
                  <a:cubicBezTo>
                    <a:pt x="0" y="27208"/>
                    <a:pt x="27208" y="0"/>
                    <a:pt x="60770" y="0"/>
                  </a:cubicBezTo>
                  <a:close/>
                </a:path>
              </a:pathLst>
            </a:custGeom>
            <a:solidFill>
              <a:srgbClr val="F5F5F5"/>
            </a:solidFill>
            <a:ln cap="rnd">
              <a:noFill/>
              <a:prstDash val="solid"/>
              <a:round/>
            </a:ln>
          </p:spPr>
        </p:sp>
        <p:sp>
          <p:nvSpPr>
            <p:cNvPr name="TextBox 17" id="17"/>
            <p:cNvSpPr txBox="true"/>
            <p:nvPr/>
          </p:nvSpPr>
          <p:spPr>
            <a:xfrm>
              <a:off x="0" y="0"/>
              <a:ext cx="1073699" cy="99198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8" id="18"/>
          <p:cNvGrpSpPr/>
          <p:nvPr/>
        </p:nvGrpSpPr>
        <p:grpSpPr>
          <a:xfrm rot="0">
            <a:off x="14052109" y="2051598"/>
            <a:ext cx="838200" cy="838200"/>
            <a:chOff x="0" y="0"/>
            <a:chExt cx="160553" cy="160553"/>
          </a:xfrm>
        </p:grpSpPr>
        <p:sp>
          <p:nvSpPr>
            <p:cNvPr name="Freeform 19" id="19"/>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20" id="20"/>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21" id="21"/>
          <p:cNvSpPr/>
          <p:nvPr/>
        </p:nvSpPr>
        <p:spPr>
          <a:xfrm flipH="false" flipV="false" rot="0">
            <a:off x="14253416" y="2242098"/>
            <a:ext cx="435587" cy="457200"/>
          </a:xfrm>
          <a:custGeom>
            <a:avLst/>
            <a:gdLst/>
            <a:ahLst/>
            <a:cxnLst/>
            <a:rect r="r" b="b" t="t" l="l"/>
            <a:pathLst>
              <a:path h="457200" w="435587">
                <a:moveTo>
                  <a:pt x="0" y="0"/>
                </a:moveTo>
                <a:lnTo>
                  <a:pt x="435587" y="0"/>
                </a:lnTo>
                <a:lnTo>
                  <a:pt x="435587"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2" id="22"/>
          <p:cNvGrpSpPr/>
          <p:nvPr/>
        </p:nvGrpSpPr>
        <p:grpSpPr>
          <a:xfrm rot="0">
            <a:off x="8991600" y="5910959"/>
            <a:ext cx="4076700" cy="3766441"/>
            <a:chOff x="0" y="0"/>
            <a:chExt cx="1073699" cy="991985"/>
          </a:xfrm>
        </p:grpSpPr>
        <p:sp>
          <p:nvSpPr>
            <p:cNvPr name="Freeform 23" id="23"/>
            <p:cNvSpPr/>
            <p:nvPr/>
          </p:nvSpPr>
          <p:spPr>
            <a:xfrm flipH="false" flipV="false" rot="0">
              <a:off x="0" y="0"/>
              <a:ext cx="1073699" cy="991985"/>
            </a:xfrm>
            <a:custGeom>
              <a:avLst/>
              <a:gdLst/>
              <a:ahLst/>
              <a:cxnLst/>
              <a:rect r="r" b="b" t="t" l="l"/>
              <a:pathLst>
                <a:path h="991985" w="1073699">
                  <a:moveTo>
                    <a:pt x="60770" y="0"/>
                  </a:moveTo>
                  <a:lnTo>
                    <a:pt x="1012929" y="0"/>
                  </a:lnTo>
                  <a:cubicBezTo>
                    <a:pt x="1046491" y="0"/>
                    <a:pt x="1073699" y="27208"/>
                    <a:pt x="1073699" y="60770"/>
                  </a:cubicBezTo>
                  <a:lnTo>
                    <a:pt x="1073699" y="931214"/>
                  </a:lnTo>
                  <a:cubicBezTo>
                    <a:pt x="1073699" y="947332"/>
                    <a:pt x="1067296" y="962789"/>
                    <a:pt x="1055900" y="974185"/>
                  </a:cubicBezTo>
                  <a:cubicBezTo>
                    <a:pt x="1044503" y="985582"/>
                    <a:pt x="1029046" y="991985"/>
                    <a:pt x="1012929" y="991985"/>
                  </a:cubicBezTo>
                  <a:lnTo>
                    <a:pt x="60770" y="991985"/>
                  </a:lnTo>
                  <a:cubicBezTo>
                    <a:pt x="27208" y="991985"/>
                    <a:pt x="0" y="964777"/>
                    <a:pt x="0" y="931214"/>
                  </a:cubicBezTo>
                  <a:lnTo>
                    <a:pt x="0" y="60770"/>
                  </a:lnTo>
                  <a:cubicBezTo>
                    <a:pt x="0" y="27208"/>
                    <a:pt x="27208" y="0"/>
                    <a:pt x="60770" y="0"/>
                  </a:cubicBezTo>
                  <a:close/>
                </a:path>
              </a:pathLst>
            </a:custGeom>
            <a:solidFill>
              <a:srgbClr val="F5F5F5"/>
            </a:solidFill>
            <a:ln cap="rnd">
              <a:noFill/>
              <a:prstDash val="solid"/>
              <a:round/>
            </a:ln>
          </p:spPr>
        </p:sp>
        <p:sp>
          <p:nvSpPr>
            <p:cNvPr name="TextBox 24" id="24"/>
            <p:cNvSpPr txBox="true"/>
            <p:nvPr/>
          </p:nvSpPr>
          <p:spPr>
            <a:xfrm>
              <a:off x="0" y="0"/>
              <a:ext cx="1073699" cy="99198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25" id="25"/>
          <p:cNvGrpSpPr/>
          <p:nvPr/>
        </p:nvGrpSpPr>
        <p:grpSpPr>
          <a:xfrm rot="0">
            <a:off x="9442009" y="6351439"/>
            <a:ext cx="838200" cy="838200"/>
            <a:chOff x="0" y="0"/>
            <a:chExt cx="160553" cy="160553"/>
          </a:xfrm>
        </p:grpSpPr>
        <p:sp>
          <p:nvSpPr>
            <p:cNvPr name="Freeform 26" id="26"/>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27" id="27"/>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grpSp>
        <p:nvGrpSpPr>
          <p:cNvPr name="Group 28" id="28"/>
          <p:cNvGrpSpPr/>
          <p:nvPr/>
        </p:nvGrpSpPr>
        <p:grpSpPr>
          <a:xfrm rot="0">
            <a:off x="13601700" y="5910959"/>
            <a:ext cx="4076700" cy="3766441"/>
            <a:chOff x="0" y="0"/>
            <a:chExt cx="1073699" cy="991985"/>
          </a:xfrm>
        </p:grpSpPr>
        <p:sp>
          <p:nvSpPr>
            <p:cNvPr name="Freeform 29" id="29"/>
            <p:cNvSpPr/>
            <p:nvPr/>
          </p:nvSpPr>
          <p:spPr>
            <a:xfrm flipH="false" flipV="false" rot="0">
              <a:off x="0" y="0"/>
              <a:ext cx="1073699" cy="991985"/>
            </a:xfrm>
            <a:custGeom>
              <a:avLst/>
              <a:gdLst/>
              <a:ahLst/>
              <a:cxnLst/>
              <a:rect r="r" b="b" t="t" l="l"/>
              <a:pathLst>
                <a:path h="991985" w="1073699">
                  <a:moveTo>
                    <a:pt x="60770" y="0"/>
                  </a:moveTo>
                  <a:lnTo>
                    <a:pt x="1012929" y="0"/>
                  </a:lnTo>
                  <a:cubicBezTo>
                    <a:pt x="1046491" y="0"/>
                    <a:pt x="1073699" y="27208"/>
                    <a:pt x="1073699" y="60770"/>
                  </a:cubicBezTo>
                  <a:lnTo>
                    <a:pt x="1073699" y="931214"/>
                  </a:lnTo>
                  <a:cubicBezTo>
                    <a:pt x="1073699" y="947332"/>
                    <a:pt x="1067296" y="962789"/>
                    <a:pt x="1055900" y="974185"/>
                  </a:cubicBezTo>
                  <a:cubicBezTo>
                    <a:pt x="1044503" y="985582"/>
                    <a:pt x="1029046" y="991985"/>
                    <a:pt x="1012929" y="991985"/>
                  </a:cubicBezTo>
                  <a:lnTo>
                    <a:pt x="60770" y="991985"/>
                  </a:lnTo>
                  <a:cubicBezTo>
                    <a:pt x="27208" y="991985"/>
                    <a:pt x="0" y="964777"/>
                    <a:pt x="0" y="931214"/>
                  </a:cubicBezTo>
                  <a:lnTo>
                    <a:pt x="0" y="60770"/>
                  </a:lnTo>
                  <a:cubicBezTo>
                    <a:pt x="0" y="27208"/>
                    <a:pt x="27208" y="0"/>
                    <a:pt x="60770" y="0"/>
                  </a:cubicBezTo>
                  <a:close/>
                </a:path>
              </a:pathLst>
            </a:custGeom>
            <a:solidFill>
              <a:srgbClr val="F5F5F5"/>
            </a:solidFill>
            <a:ln cap="rnd">
              <a:noFill/>
              <a:prstDash val="solid"/>
              <a:round/>
            </a:ln>
          </p:spPr>
        </p:sp>
        <p:sp>
          <p:nvSpPr>
            <p:cNvPr name="TextBox 30" id="30"/>
            <p:cNvSpPr txBox="true"/>
            <p:nvPr/>
          </p:nvSpPr>
          <p:spPr>
            <a:xfrm>
              <a:off x="0" y="0"/>
              <a:ext cx="1073699" cy="99198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31" id="31"/>
          <p:cNvGrpSpPr/>
          <p:nvPr/>
        </p:nvGrpSpPr>
        <p:grpSpPr>
          <a:xfrm rot="0">
            <a:off x="14052109" y="6351439"/>
            <a:ext cx="838200" cy="838200"/>
            <a:chOff x="0" y="0"/>
            <a:chExt cx="160553" cy="160553"/>
          </a:xfrm>
        </p:grpSpPr>
        <p:sp>
          <p:nvSpPr>
            <p:cNvPr name="Freeform 32" id="32"/>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33" id="33"/>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34" id="34"/>
          <p:cNvSpPr/>
          <p:nvPr/>
        </p:nvSpPr>
        <p:spPr>
          <a:xfrm flipH="false" flipV="false" rot="0">
            <a:off x="9643731" y="6541939"/>
            <a:ext cx="434756" cy="457200"/>
          </a:xfrm>
          <a:custGeom>
            <a:avLst/>
            <a:gdLst/>
            <a:ahLst/>
            <a:cxnLst/>
            <a:rect r="r" b="b" t="t" l="l"/>
            <a:pathLst>
              <a:path h="457200" w="434756">
                <a:moveTo>
                  <a:pt x="0" y="0"/>
                </a:moveTo>
                <a:lnTo>
                  <a:pt x="434756" y="0"/>
                </a:lnTo>
                <a:lnTo>
                  <a:pt x="434756"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14242609" y="6541939"/>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6" id="36"/>
          <p:cNvSpPr txBox="true"/>
          <p:nvPr/>
        </p:nvSpPr>
        <p:spPr>
          <a:xfrm rot="0">
            <a:off x="609600" y="1611118"/>
            <a:ext cx="7751225" cy="1943100"/>
          </a:xfrm>
          <a:prstGeom prst="rect">
            <a:avLst/>
          </a:prstGeom>
        </p:spPr>
        <p:txBody>
          <a:bodyPr anchor="t" rtlCol="false" tIns="0" lIns="0" bIns="0" rIns="0">
            <a:spAutoFit/>
          </a:bodyPr>
          <a:lstStyle/>
          <a:p>
            <a:pPr algn="l" marL="0" indent="0" lvl="0">
              <a:lnSpc>
                <a:spcPts val="7679"/>
              </a:lnSpc>
            </a:pPr>
            <a:r>
              <a:rPr lang="en-US" b="true" sz="6399" spc="-102">
                <a:solidFill>
                  <a:srgbClr val="000000"/>
                </a:solidFill>
                <a:latin typeface="Inter Bold"/>
                <a:ea typeface="Inter Bold"/>
                <a:cs typeface="Inter Bold"/>
                <a:sym typeface="Inter Bold"/>
              </a:rPr>
              <a:t>How Our AI Technology Works</a:t>
            </a:r>
          </a:p>
        </p:txBody>
      </p:sp>
      <p:sp>
        <p:nvSpPr>
          <p:cNvPr name="TextBox 37" id="37"/>
          <p:cNvSpPr txBox="true"/>
          <p:nvPr/>
        </p:nvSpPr>
        <p:spPr>
          <a:xfrm rot="0">
            <a:off x="1195748" y="613809"/>
            <a:ext cx="1391384" cy="333375"/>
          </a:xfrm>
          <a:prstGeom prst="rect">
            <a:avLst/>
          </a:prstGeom>
        </p:spPr>
        <p:txBody>
          <a:bodyPr anchor="t" rtlCol="false" tIns="0" lIns="0" bIns="0" rIns="0">
            <a:spAutoFit/>
          </a:bodyPr>
          <a:lstStyle/>
          <a:p>
            <a:pPr algn="l" marL="0" indent="0" lvl="0">
              <a:lnSpc>
                <a:spcPts val="2640"/>
              </a:lnSpc>
              <a:spcBef>
                <a:spcPct val="0"/>
              </a:spcBef>
            </a:pPr>
            <a:r>
              <a:rPr lang="en-US" b="true" sz="2200" spc="-35">
                <a:solidFill>
                  <a:srgbClr val="000000"/>
                </a:solidFill>
                <a:latin typeface="Inter Bold"/>
                <a:ea typeface="Inter Bold"/>
                <a:cs typeface="Inter Bold"/>
                <a:sym typeface="Inter Bold"/>
              </a:rPr>
              <a:t>Rimberio</a:t>
            </a:r>
          </a:p>
        </p:txBody>
      </p:sp>
      <p:sp>
        <p:nvSpPr>
          <p:cNvPr name="TextBox 38" id="38"/>
          <p:cNvSpPr txBox="true"/>
          <p:nvPr/>
        </p:nvSpPr>
        <p:spPr>
          <a:xfrm rot="0">
            <a:off x="9442009" y="3882978"/>
            <a:ext cx="3175881" cy="105410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Gut</a:t>
            </a:r>
            <a:r>
              <a:rPr lang="en-US" sz="2000" spc="-32">
                <a:solidFill>
                  <a:srgbClr val="000000"/>
                </a:solidFill>
                <a:latin typeface="Inter"/>
                <a:ea typeface="Inter"/>
                <a:cs typeface="Inter"/>
                <a:sym typeface="Inter"/>
              </a:rPr>
              <a:t> health questionnaire mapped to personalized food tolerance profile</a:t>
            </a:r>
          </a:p>
        </p:txBody>
      </p:sp>
      <p:sp>
        <p:nvSpPr>
          <p:cNvPr name="TextBox 39" id="39"/>
          <p:cNvSpPr txBox="true"/>
          <p:nvPr/>
        </p:nvSpPr>
        <p:spPr>
          <a:xfrm rot="0">
            <a:off x="9442009" y="3451988"/>
            <a:ext cx="3175881"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strike="noStrike" u="none">
                <a:solidFill>
                  <a:srgbClr val="000000"/>
                </a:solidFill>
                <a:latin typeface="Inter Semi-Bold"/>
                <a:ea typeface="Inter Semi-Bold"/>
                <a:cs typeface="Inter Semi-Bold"/>
                <a:sym typeface="Inter Semi-Bold"/>
              </a:rPr>
              <a:t>O</a:t>
            </a:r>
            <a:r>
              <a:rPr lang="en-US" b="true" sz="2000" spc="-32" strike="noStrike" u="none">
                <a:solidFill>
                  <a:srgbClr val="000000"/>
                </a:solidFill>
                <a:latin typeface="Inter Semi-Bold"/>
                <a:ea typeface="Inter Semi-Bold"/>
                <a:cs typeface="Inter Semi-Bold"/>
                <a:sym typeface="Inter Semi-Bold"/>
              </a:rPr>
              <a:t>n</a:t>
            </a:r>
            <a:r>
              <a:rPr lang="en-US" b="true" sz="2000" spc="-32" strike="noStrike" u="none">
                <a:solidFill>
                  <a:srgbClr val="000000"/>
                </a:solidFill>
                <a:latin typeface="Inter Semi-Bold"/>
                <a:ea typeface="Inter Semi-Bold"/>
                <a:cs typeface="Inter Semi-Bold"/>
                <a:sym typeface="Inter Semi-Bold"/>
              </a:rPr>
              <a:t>bo</a:t>
            </a:r>
            <a:r>
              <a:rPr lang="en-US" b="true" sz="2000" spc="-32" strike="noStrike" u="none">
                <a:solidFill>
                  <a:srgbClr val="000000"/>
                </a:solidFill>
                <a:latin typeface="Inter Semi-Bold"/>
                <a:ea typeface="Inter Semi-Bold"/>
                <a:cs typeface="Inter Semi-Bold"/>
                <a:sym typeface="Inter Semi-Bold"/>
              </a:rPr>
              <a:t>ar</a:t>
            </a:r>
            <a:r>
              <a:rPr lang="en-US" b="true" sz="2000" spc="-32" strike="noStrike" u="none">
                <a:solidFill>
                  <a:srgbClr val="000000"/>
                </a:solidFill>
                <a:latin typeface="Inter Semi-Bold"/>
                <a:ea typeface="Inter Semi-Bold"/>
                <a:cs typeface="Inter Semi-Bold"/>
                <a:sym typeface="Inter Semi-Bold"/>
              </a:rPr>
              <a:t>d</a:t>
            </a:r>
            <a:r>
              <a:rPr lang="en-US" b="true" sz="2000" spc="-32" strike="noStrike" u="none">
                <a:solidFill>
                  <a:srgbClr val="000000"/>
                </a:solidFill>
                <a:latin typeface="Inter Semi-Bold"/>
                <a:ea typeface="Inter Semi-Bold"/>
                <a:cs typeface="Inter Semi-Bold"/>
                <a:sym typeface="Inter Semi-Bold"/>
              </a:rPr>
              <a:t>in</a:t>
            </a:r>
            <a:r>
              <a:rPr lang="en-US" b="true" sz="2000" spc="-32" strike="noStrike" u="none">
                <a:solidFill>
                  <a:srgbClr val="000000"/>
                </a:solidFill>
                <a:latin typeface="Inter Semi-Bold"/>
                <a:ea typeface="Inter Semi-Bold"/>
                <a:cs typeface="Inter Semi-Bold"/>
                <a:sym typeface="Inter Semi-Bold"/>
              </a:rPr>
              <a:t>g</a:t>
            </a:r>
            <a:r>
              <a:rPr lang="en-US" b="true" sz="2000" spc="-32" strike="noStrike" u="none">
                <a:solidFill>
                  <a:srgbClr val="000000"/>
                </a:solidFill>
                <a:latin typeface="Inter Semi-Bold"/>
                <a:ea typeface="Inter Semi-Bold"/>
                <a:cs typeface="Inter Semi-Bold"/>
                <a:sym typeface="Inter Semi-Bold"/>
              </a:rPr>
              <a:t> </a:t>
            </a:r>
            <a:r>
              <a:rPr lang="en-US" b="true" sz="2000" spc="-32" strike="noStrike" u="none">
                <a:solidFill>
                  <a:srgbClr val="000000"/>
                </a:solidFill>
                <a:latin typeface="Inter Semi-Bold"/>
                <a:ea typeface="Inter Semi-Bold"/>
                <a:cs typeface="Inter Semi-Bold"/>
                <a:sym typeface="Inter Semi-Bold"/>
              </a:rPr>
              <a:t>In</a:t>
            </a:r>
            <a:r>
              <a:rPr lang="en-US" b="true" sz="2000" spc="-32" strike="noStrike" u="none">
                <a:solidFill>
                  <a:srgbClr val="000000"/>
                </a:solidFill>
                <a:latin typeface="Inter Semi-Bold"/>
                <a:ea typeface="Inter Semi-Bold"/>
                <a:cs typeface="Inter Semi-Bold"/>
                <a:sym typeface="Inter Semi-Bold"/>
              </a:rPr>
              <a:t>t</a:t>
            </a:r>
            <a:r>
              <a:rPr lang="en-US" b="true" sz="2000" spc="-32" strike="noStrike" u="none">
                <a:solidFill>
                  <a:srgbClr val="000000"/>
                </a:solidFill>
                <a:latin typeface="Inter Semi-Bold"/>
                <a:ea typeface="Inter Semi-Bold"/>
                <a:cs typeface="Inter Semi-Bold"/>
                <a:sym typeface="Inter Semi-Bold"/>
              </a:rPr>
              <a:t>elligence</a:t>
            </a:r>
          </a:p>
        </p:txBody>
      </p:sp>
      <p:sp>
        <p:nvSpPr>
          <p:cNvPr name="TextBox 40" id="40"/>
          <p:cNvSpPr txBox="true"/>
          <p:nvPr/>
        </p:nvSpPr>
        <p:spPr>
          <a:xfrm rot="0">
            <a:off x="14052109" y="3882978"/>
            <a:ext cx="3175881" cy="105410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Proprietary</a:t>
            </a:r>
            <a:r>
              <a:rPr lang="en-US" sz="2000" spc="-32">
                <a:solidFill>
                  <a:srgbClr val="000000"/>
                </a:solidFill>
                <a:latin typeface="Inter"/>
                <a:ea typeface="Inter"/>
                <a:cs typeface="Inter"/>
                <a:sym typeface="Inter"/>
              </a:rPr>
              <a:t> ML algorithm processes 48+ biometric variables simultaneously</a:t>
            </a:r>
          </a:p>
        </p:txBody>
      </p:sp>
      <p:sp>
        <p:nvSpPr>
          <p:cNvPr name="TextBox 41" id="41"/>
          <p:cNvSpPr txBox="true"/>
          <p:nvPr/>
        </p:nvSpPr>
        <p:spPr>
          <a:xfrm rot="0">
            <a:off x="14052109" y="3451988"/>
            <a:ext cx="3175881"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AI Perso</a:t>
            </a:r>
            <a:r>
              <a:rPr lang="en-US" b="true" sz="2000" spc="-32" strike="noStrike" u="none">
                <a:solidFill>
                  <a:srgbClr val="000000"/>
                </a:solidFill>
                <a:latin typeface="Inter Semi-Bold"/>
                <a:ea typeface="Inter Semi-Bold"/>
                <a:cs typeface="Inter Semi-Bold"/>
                <a:sym typeface="Inter Semi-Bold"/>
              </a:rPr>
              <a:t>nalization En</a:t>
            </a:r>
            <a:r>
              <a:rPr lang="en-US" b="true" sz="2000" spc="-32" strike="noStrike" u="none">
                <a:solidFill>
                  <a:srgbClr val="000000"/>
                </a:solidFill>
                <a:latin typeface="Inter Semi-Bold"/>
                <a:ea typeface="Inter Semi-Bold"/>
                <a:cs typeface="Inter Semi-Bold"/>
                <a:sym typeface="Inter Semi-Bold"/>
              </a:rPr>
              <a:t>g</a:t>
            </a:r>
            <a:r>
              <a:rPr lang="en-US" b="true" sz="2000" spc="-32" strike="noStrike" u="none">
                <a:solidFill>
                  <a:srgbClr val="000000"/>
                </a:solidFill>
                <a:latin typeface="Inter Semi-Bold"/>
                <a:ea typeface="Inter Semi-Bold"/>
                <a:cs typeface="Inter Semi-Bold"/>
                <a:sym typeface="Inter Semi-Bold"/>
              </a:rPr>
              <a:t>ine</a:t>
            </a:r>
          </a:p>
        </p:txBody>
      </p:sp>
      <p:sp>
        <p:nvSpPr>
          <p:cNvPr name="TextBox 42" id="42"/>
          <p:cNvSpPr txBox="true"/>
          <p:nvPr/>
        </p:nvSpPr>
        <p:spPr>
          <a:xfrm rot="0">
            <a:off x="9442009" y="8182820"/>
            <a:ext cx="3175881" cy="105410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User</a:t>
            </a:r>
            <a:r>
              <a:rPr lang="en-US" sz="2000" spc="-32">
                <a:solidFill>
                  <a:srgbClr val="000000"/>
                </a:solidFill>
                <a:latin typeface="Inter"/>
                <a:ea typeface="Inter"/>
                <a:cs typeface="Inter"/>
                <a:sym typeface="Inter"/>
              </a:rPr>
              <a:t> feedback after every meal refines for better future recommendations.</a:t>
            </a:r>
          </a:p>
        </p:txBody>
      </p:sp>
      <p:sp>
        <p:nvSpPr>
          <p:cNvPr name="TextBox 43" id="43"/>
          <p:cNvSpPr txBox="true"/>
          <p:nvPr/>
        </p:nvSpPr>
        <p:spPr>
          <a:xfrm rot="0">
            <a:off x="9442009" y="7751830"/>
            <a:ext cx="3175881"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Co</a:t>
            </a:r>
            <a:r>
              <a:rPr lang="en-US" b="true" sz="2000" spc="-32" strike="noStrike" u="none">
                <a:solidFill>
                  <a:srgbClr val="000000"/>
                </a:solidFill>
                <a:latin typeface="Inter Semi-Bold"/>
                <a:ea typeface="Inter Semi-Bold"/>
                <a:cs typeface="Inter Semi-Bold"/>
                <a:sym typeface="Inter Semi-Bold"/>
              </a:rPr>
              <a:t>ntinuo</a:t>
            </a:r>
            <a:r>
              <a:rPr lang="en-US" b="true" sz="2000" spc="-32" strike="noStrike" u="none">
                <a:solidFill>
                  <a:srgbClr val="000000"/>
                </a:solidFill>
                <a:latin typeface="Inter Semi-Bold"/>
                <a:ea typeface="Inter Semi-Bold"/>
                <a:cs typeface="Inter Semi-Bold"/>
                <a:sym typeface="Inter Semi-Bold"/>
              </a:rPr>
              <a:t>us Le</a:t>
            </a:r>
            <a:r>
              <a:rPr lang="en-US" b="true" sz="2000" spc="-32" strike="noStrike" u="none">
                <a:solidFill>
                  <a:srgbClr val="000000"/>
                </a:solidFill>
                <a:latin typeface="Inter Semi-Bold"/>
                <a:ea typeface="Inter Semi-Bold"/>
                <a:cs typeface="Inter Semi-Bold"/>
                <a:sym typeface="Inter Semi-Bold"/>
              </a:rPr>
              <a:t>arning</a:t>
            </a:r>
          </a:p>
        </p:txBody>
      </p:sp>
      <p:sp>
        <p:nvSpPr>
          <p:cNvPr name="TextBox 44" id="44"/>
          <p:cNvSpPr txBox="true"/>
          <p:nvPr/>
        </p:nvSpPr>
        <p:spPr>
          <a:xfrm rot="0">
            <a:off x="14052109" y="8182820"/>
            <a:ext cx="3175881" cy="105410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Real-time</a:t>
            </a:r>
            <a:r>
              <a:rPr lang="en-US" sz="2000" spc="-32">
                <a:solidFill>
                  <a:srgbClr val="000000"/>
                </a:solidFill>
                <a:latin typeface="Inter"/>
                <a:ea typeface="Inter"/>
                <a:cs typeface="Inter"/>
                <a:sym typeface="Inter"/>
              </a:rPr>
              <a:t> sync with any wearable devices, such as a smart watch, etc.</a:t>
            </a:r>
          </a:p>
        </p:txBody>
      </p:sp>
      <p:sp>
        <p:nvSpPr>
          <p:cNvPr name="TextBox 45" id="45"/>
          <p:cNvSpPr txBox="true"/>
          <p:nvPr/>
        </p:nvSpPr>
        <p:spPr>
          <a:xfrm rot="0">
            <a:off x="14052109" y="7751830"/>
            <a:ext cx="3175881"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Wear</a:t>
            </a:r>
            <a:r>
              <a:rPr lang="en-US" b="true" sz="2000" spc="-32" strike="noStrike" u="none">
                <a:solidFill>
                  <a:srgbClr val="000000"/>
                </a:solidFill>
                <a:latin typeface="Inter Semi-Bold"/>
                <a:ea typeface="Inter Semi-Bold"/>
                <a:cs typeface="Inter Semi-Bold"/>
                <a:sym typeface="Inter Semi-Bold"/>
              </a:rPr>
              <a:t>able &amp; Device Sync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5B37"/>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745415" y="1611118"/>
            <a:ext cx="6024276" cy="11920064"/>
            <a:chOff x="0" y="0"/>
            <a:chExt cx="2620010" cy="5184140"/>
          </a:xfrm>
        </p:grpSpPr>
        <p:sp>
          <p:nvSpPr>
            <p:cNvPr name="Freeform 3" id="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 id="4"/>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94468" t="0" r="-94468" b="0"/>
              </a:stretch>
            </a:blipFill>
          </p:spPr>
        </p:sp>
        <p:sp>
          <p:nvSpPr>
            <p:cNvPr name="Freeform 5" id="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FF5B37"/>
            </a:solidFill>
          </p:spPr>
        </p:sp>
        <p:sp>
          <p:nvSpPr>
            <p:cNvPr name="Freeform 6" id="6"/>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FF5B37"/>
            </a:solidFill>
          </p:spPr>
        </p:sp>
        <p:sp>
          <p:nvSpPr>
            <p:cNvPr name="Freeform 7" id="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000000"/>
            </a:solidFill>
          </p:spPr>
        </p:sp>
        <p:sp>
          <p:nvSpPr>
            <p:cNvPr name="Freeform 8" id="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000000"/>
            </a:solidFill>
          </p:spPr>
        </p:sp>
        <p:sp>
          <p:nvSpPr>
            <p:cNvPr name="Freeform 9" id="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000000"/>
            </a:solidFill>
          </p:spPr>
        </p:sp>
        <p:sp>
          <p:nvSpPr>
            <p:cNvPr name="Freeform 10" id="1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000000"/>
            </a:solidFill>
          </p:spPr>
        </p:sp>
        <p:sp>
          <p:nvSpPr>
            <p:cNvPr name="Freeform 11" id="1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000000"/>
            </a:solidFill>
          </p:spPr>
        </p:sp>
      </p:grpSp>
      <p:sp>
        <p:nvSpPr>
          <p:cNvPr name="Freeform 12" id="12"/>
          <p:cNvSpPr/>
          <p:nvPr/>
        </p:nvSpPr>
        <p:spPr>
          <a:xfrm flipH="false" flipV="false" rot="0">
            <a:off x="609600" y="609600"/>
            <a:ext cx="446522" cy="341792"/>
          </a:xfrm>
          <a:custGeom>
            <a:avLst/>
            <a:gdLst/>
            <a:ahLst/>
            <a:cxnLst/>
            <a:rect r="r" b="b" t="t" l="l"/>
            <a:pathLst>
              <a:path h="341792" w="446522">
                <a:moveTo>
                  <a:pt x="0" y="0"/>
                </a:moveTo>
                <a:lnTo>
                  <a:pt x="446522" y="0"/>
                </a:lnTo>
                <a:lnTo>
                  <a:pt x="446522" y="341792"/>
                </a:lnTo>
                <a:lnTo>
                  <a:pt x="0" y="3417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6096000" y="5549653"/>
            <a:ext cx="838200" cy="838200"/>
            <a:chOff x="0" y="0"/>
            <a:chExt cx="160553" cy="160553"/>
          </a:xfrm>
        </p:grpSpPr>
        <p:sp>
          <p:nvSpPr>
            <p:cNvPr name="Freeform 14" id="14"/>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7E4D9"/>
            </a:solidFill>
            <a:ln cap="rnd">
              <a:noFill/>
              <a:prstDash val="solid"/>
              <a:round/>
            </a:ln>
          </p:spPr>
        </p:sp>
        <p:sp>
          <p:nvSpPr>
            <p:cNvPr name="TextBox 15" id="15"/>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grpSp>
        <p:nvGrpSpPr>
          <p:cNvPr name="Group 16" id="16"/>
          <p:cNvGrpSpPr/>
          <p:nvPr/>
        </p:nvGrpSpPr>
        <p:grpSpPr>
          <a:xfrm rot="0">
            <a:off x="12343139" y="5549653"/>
            <a:ext cx="838200" cy="838200"/>
            <a:chOff x="0" y="0"/>
            <a:chExt cx="160553" cy="160553"/>
          </a:xfrm>
        </p:grpSpPr>
        <p:sp>
          <p:nvSpPr>
            <p:cNvPr name="Freeform 17" id="17"/>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7E4D9"/>
            </a:solidFill>
            <a:ln cap="rnd">
              <a:noFill/>
              <a:prstDash val="solid"/>
              <a:round/>
            </a:ln>
          </p:spPr>
        </p:sp>
        <p:sp>
          <p:nvSpPr>
            <p:cNvPr name="TextBox 18" id="18"/>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grpSp>
        <p:nvGrpSpPr>
          <p:cNvPr name="Group 19" id="19"/>
          <p:cNvGrpSpPr/>
          <p:nvPr/>
        </p:nvGrpSpPr>
        <p:grpSpPr>
          <a:xfrm rot="0">
            <a:off x="6096000" y="7933250"/>
            <a:ext cx="838200" cy="838200"/>
            <a:chOff x="0" y="0"/>
            <a:chExt cx="160553" cy="160553"/>
          </a:xfrm>
        </p:grpSpPr>
        <p:sp>
          <p:nvSpPr>
            <p:cNvPr name="Freeform 20" id="20"/>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7E4D9"/>
            </a:solidFill>
            <a:ln cap="rnd">
              <a:noFill/>
              <a:prstDash val="solid"/>
              <a:round/>
            </a:ln>
          </p:spPr>
        </p:sp>
        <p:sp>
          <p:nvSpPr>
            <p:cNvPr name="TextBox 21" id="21"/>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grpSp>
        <p:nvGrpSpPr>
          <p:cNvPr name="Group 22" id="22"/>
          <p:cNvGrpSpPr/>
          <p:nvPr/>
        </p:nvGrpSpPr>
        <p:grpSpPr>
          <a:xfrm rot="0">
            <a:off x="12343139" y="7933250"/>
            <a:ext cx="838200" cy="838200"/>
            <a:chOff x="0" y="0"/>
            <a:chExt cx="160553" cy="160553"/>
          </a:xfrm>
        </p:grpSpPr>
        <p:sp>
          <p:nvSpPr>
            <p:cNvPr name="Freeform 23" id="23"/>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7E4D9"/>
            </a:solidFill>
            <a:ln cap="rnd">
              <a:noFill/>
              <a:prstDash val="solid"/>
              <a:round/>
            </a:ln>
          </p:spPr>
        </p:sp>
        <p:sp>
          <p:nvSpPr>
            <p:cNvPr name="TextBox 24" id="24"/>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25" id="25"/>
          <p:cNvSpPr/>
          <p:nvPr/>
        </p:nvSpPr>
        <p:spPr>
          <a:xfrm flipH="false" flipV="false" rot="0">
            <a:off x="12533639" y="5740153"/>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6347599" y="5740153"/>
            <a:ext cx="335003" cy="457200"/>
          </a:xfrm>
          <a:custGeom>
            <a:avLst/>
            <a:gdLst/>
            <a:ahLst/>
            <a:cxnLst/>
            <a:rect r="r" b="b" t="t" l="l"/>
            <a:pathLst>
              <a:path h="457200" w="335003">
                <a:moveTo>
                  <a:pt x="0" y="0"/>
                </a:moveTo>
                <a:lnTo>
                  <a:pt x="335002" y="0"/>
                </a:lnTo>
                <a:lnTo>
                  <a:pt x="335002"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7" id="27"/>
          <p:cNvSpPr/>
          <p:nvPr/>
        </p:nvSpPr>
        <p:spPr>
          <a:xfrm flipH="false" flipV="false" rot="0">
            <a:off x="6286500" y="81237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8" id="28"/>
          <p:cNvSpPr/>
          <p:nvPr/>
        </p:nvSpPr>
        <p:spPr>
          <a:xfrm flipH="false" flipV="false" rot="0">
            <a:off x="12533639" y="81237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9" id="29"/>
          <p:cNvSpPr txBox="true"/>
          <p:nvPr/>
        </p:nvSpPr>
        <p:spPr>
          <a:xfrm rot="0">
            <a:off x="6096000" y="2403012"/>
            <a:ext cx="11582400" cy="1943100"/>
          </a:xfrm>
          <a:prstGeom prst="rect">
            <a:avLst/>
          </a:prstGeom>
        </p:spPr>
        <p:txBody>
          <a:bodyPr anchor="t" rtlCol="false" tIns="0" lIns="0" bIns="0" rIns="0">
            <a:spAutoFit/>
          </a:bodyPr>
          <a:lstStyle/>
          <a:p>
            <a:pPr algn="l" marL="0" indent="0" lvl="0">
              <a:lnSpc>
                <a:spcPts val="7679"/>
              </a:lnSpc>
            </a:pPr>
            <a:r>
              <a:rPr lang="en-US" b="true" sz="6399" spc="-102">
                <a:solidFill>
                  <a:srgbClr val="F5F5F5"/>
                </a:solidFill>
                <a:latin typeface="Inter Bold"/>
                <a:ea typeface="Inter Bold"/>
                <a:cs typeface="Inter Bold"/>
                <a:sym typeface="Inter Bold"/>
              </a:rPr>
              <a:t>Key App Features: Seamless and Built Around You</a:t>
            </a:r>
          </a:p>
        </p:txBody>
      </p:sp>
      <p:sp>
        <p:nvSpPr>
          <p:cNvPr name="TextBox 30" id="30"/>
          <p:cNvSpPr txBox="true"/>
          <p:nvPr/>
        </p:nvSpPr>
        <p:spPr>
          <a:xfrm rot="0">
            <a:off x="1195748" y="613809"/>
            <a:ext cx="1391384" cy="333375"/>
          </a:xfrm>
          <a:prstGeom prst="rect">
            <a:avLst/>
          </a:prstGeom>
        </p:spPr>
        <p:txBody>
          <a:bodyPr anchor="t" rtlCol="false" tIns="0" lIns="0" bIns="0" rIns="0">
            <a:spAutoFit/>
          </a:bodyPr>
          <a:lstStyle/>
          <a:p>
            <a:pPr algn="l" marL="0" indent="0" lvl="0">
              <a:lnSpc>
                <a:spcPts val="2640"/>
              </a:lnSpc>
              <a:spcBef>
                <a:spcPct val="0"/>
              </a:spcBef>
            </a:pPr>
            <a:r>
              <a:rPr lang="en-US" b="true" sz="2200" spc="-35">
                <a:solidFill>
                  <a:srgbClr val="F5F5F5"/>
                </a:solidFill>
                <a:latin typeface="Inter Bold"/>
                <a:ea typeface="Inter Bold"/>
                <a:cs typeface="Inter Bold"/>
                <a:sym typeface="Inter Bold"/>
              </a:rPr>
              <a:t>Rimberio</a:t>
            </a:r>
          </a:p>
        </p:txBody>
      </p:sp>
      <p:sp>
        <p:nvSpPr>
          <p:cNvPr name="TextBox 31" id="31"/>
          <p:cNvSpPr txBox="true"/>
          <p:nvPr/>
        </p:nvSpPr>
        <p:spPr>
          <a:xfrm rot="0">
            <a:off x="7302298" y="5988580"/>
            <a:ext cx="4128963" cy="1054100"/>
          </a:xfrm>
          <a:prstGeom prst="rect">
            <a:avLst/>
          </a:prstGeom>
        </p:spPr>
        <p:txBody>
          <a:bodyPr anchor="t" rtlCol="false" tIns="0" lIns="0" bIns="0" rIns="0">
            <a:spAutoFit/>
          </a:bodyPr>
          <a:lstStyle/>
          <a:p>
            <a:pPr algn="l" marL="0" indent="0" lvl="0">
              <a:lnSpc>
                <a:spcPts val="2800"/>
              </a:lnSpc>
            </a:pPr>
            <a:r>
              <a:rPr lang="en-US" sz="2000" spc="-32">
                <a:solidFill>
                  <a:srgbClr val="F5F5F5"/>
                </a:solidFill>
                <a:latin typeface="Inter"/>
                <a:ea typeface="Inter"/>
                <a:cs typeface="Inter"/>
                <a:sym typeface="Inter"/>
              </a:rPr>
              <a:t>Lorem </a:t>
            </a:r>
            <a:r>
              <a:rPr lang="en-US" sz="2000" spc="-32">
                <a:solidFill>
                  <a:srgbClr val="F5F5F5"/>
                </a:solidFill>
                <a:latin typeface="Inter"/>
                <a:ea typeface="Inter"/>
                <a:cs typeface="Inter"/>
                <a:sym typeface="Inter"/>
              </a:rPr>
              <a:t>ipsum dolor sit amet, proin morbi elit. Quam velit leo, turpis nec risus sed, felis eu velit. Cras massa</a:t>
            </a:r>
          </a:p>
        </p:txBody>
      </p:sp>
      <p:sp>
        <p:nvSpPr>
          <p:cNvPr name="TextBox 32" id="32"/>
          <p:cNvSpPr txBox="true"/>
          <p:nvPr/>
        </p:nvSpPr>
        <p:spPr>
          <a:xfrm rot="0">
            <a:off x="7302298" y="5502028"/>
            <a:ext cx="4128963"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F5F5F5"/>
                </a:solidFill>
                <a:latin typeface="Inter Semi-Bold"/>
                <a:ea typeface="Inter Semi-Bold"/>
                <a:cs typeface="Inter Semi-Bold"/>
                <a:sym typeface="Inter Semi-Bold"/>
              </a:rPr>
              <a:t>Sm</a:t>
            </a:r>
            <a:r>
              <a:rPr lang="en-US" b="true" sz="2000" spc="-32">
                <a:solidFill>
                  <a:srgbClr val="F5F5F5"/>
                </a:solidFill>
                <a:latin typeface="Inter Semi-Bold"/>
                <a:ea typeface="Inter Semi-Bold"/>
                <a:cs typeface="Inter Semi-Bold"/>
                <a:sym typeface="Inter Semi-Bold"/>
              </a:rPr>
              <a:t>art Me</a:t>
            </a:r>
            <a:r>
              <a:rPr lang="en-US" b="true" sz="2000" spc="-32" strike="noStrike" u="none">
                <a:solidFill>
                  <a:srgbClr val="F5F5F5"/>
                </a:solidFill>
                <a:latin typeface="Inter Semi-Bold"/>
                <a:ea typeface="Inter Semi-Bold"/>
                <a:cs typeface="Inter Semi-Bold"/>
                <a:sym typeface="Inter Semi-Bold"/>
              </a:rPr>
              <a:t>al Planning</a:t>
            </a:r>
          </a:p>
        </p:txBody>
      </p:sp>
      <p:sp>
        <p:nvSpPr>
          <p:cNvPr name="TextBox 33" id="33"/>
          <p:cNvSpPr txBox="true"/>
          <p:nvPr/>
        </p:nvSpPr>
        <p:spPr>
          <a:xfrm rot="0">
            <a:off x="13549437" y="5988580"/>
            <a:ext cx="4128963" cy="1054100"/>
          </a:xfrm>
          <a:prstGeom prst="rect">
            <a:avLst/>
          </a:prstGeom>
        </p:spPr>
        <p:txBody>
          <a:bodyPr anchor="t" rtlCol="false" tIns="0" lIns="0" bIns="0" rIns="0">
            <a:spAutoFit/>
          </a:bodyPr>
          <a:lstStyle/>
          <a:p>
            <a:pPr algn="l" marL="0" indent="0" lvl="0">
              <a:lnSpc>
                <a:spcPts val="2800"/>
              </a:lnSpc>
            </a:pPr>
            <a:r>
              <a:rPr lang="en-US" sz="2000" spc="-32">
                <a:solidFill>
                  <a:srgbClr val="F5F5F5"/>
                </a:solidFill>
                <a:latin typeface="Inter"/>
                <a:ea typeface="Inter"/>
                <a:cs typeface="Inter"/>
                <a:sym typeface="Inter"/>
              </a:rPr>
              <a:t>Lorem</a:t>
            </a:r>
            <a:r>
              <a:rPr lang="en-US" sz="2000" spc="-32">
                <a:solidFill>
                  <a:srgbClr val="F5F5F5"/>
                </a:solidFill>
                <a:latin typeface="Inter"/>
                <a:ea typeface="Inter"/>
                <a:cs typeface="Inter"/>
                <a:sym typeface="Inter"/>
              </a:rPr>
              <a:t> ipsum dolor sit amet, proin morbi elit. Quam velit leo, turpis nec risus sed, felis eu velit. Cras massa</a:t>
            </a:r>
          </a:p>
        </p:txBody>
      </p:sp>
      <p:sp>
        <p:nvSpPr>
          <p:cNvPr name="TextBox 34" id="34"/>
          <p:cNvSpPr txBox="true"/>
          <p:nvPr/>
        </p:nvSpPr>
        <p:spPr>
          <a:xfrm rot="0">
            <a:off x="13549437" y="5502028"/>
            <a:ext cx="4128963"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F5F5F5"/>
                </a:solidFill>
                <a:latin typeface="Inter Semi-Bold"/>
                <a:ea typeface="Inter Semi-Bold"/>
                <a:cs typeface="Inter Semi-Bold"/>
                <a:sym typeface="Inter Semi-Bold"/>
              </a:rPr>
              <a:t>Groce</a:t>
            </a:r>
            <a:r>
              <a:rPr lang="en-US" b="true" sz="2000" spc="-32">
                <a:solidFill>
                  <a:srgbClr val="F5F5F5"/>
                </a:solidFill>
                <a:latin typeface="Inter Semi-Bold"/>
                <a:ea typeface="Inter Semi-Bold"/>
                <a:cs typeface="Inter Semi-Bold"/>
                <a:sym typeface="Inter Semi-Bold"/>
              </a:rPr>
              <a:t>ry &amp; De</a:t>
            </a:r>
            <a:r>
              <a:rPr lang="en-US" b="true" sz="2000" spc="-32" strike="noStrike" u="none">
                <a:solidFill>
                  <a:srgbClr val="F5F5F5"/>
                </a:solidFill>
                <a:latin typeface="Inter Semi-Bold"/>
                <a:ea typeface="Inter Semi-Bold"/>
                <a:cs typeface="Inter Semi-Bold"/>
                <a:sym typeface="Inter Semi-Bold"/>
              </a:rPr>
              <a:t>livery Integration</a:t>
            </a:r>
          </a:p>
        </p:txBody>
      </p:sp>
      <p:sp>
        <p:nvSpPr>
          <p:cNvPr name="TextBox 35" id="35"/>
          <p:cNvSpPr txBox="true"/>
          <p:nvPr/>
        </p:nvSpPr>
        <p:spPr>
          <a:xfrm rot="0">
            <a:off x="7302298" y="8372178"/>
            <a:ext cx="4128963" cy="1054100"/>
          </a:xfrm>
          <a:prstGeom prst="rect">
            <a:avLst/>
          </a:prstGeom>
        </p:spPr>
        <p:txBody>
          <a:bodyPr anchor="t" rtlCol="false" tIns="0" lIns="0" bIns="0" rIns="0">
            <a:spAutoFit/>
          </a:bodyPr>
          <a:lstStyle/>
          <a:p>
            <a:pPr algn="l" marL="0" indent="0" lvl="0">
              <a:lnSpc>
                <a:spcPts val="2800"/>
              </a:lnSpc>
            </a:pPr>
            <a:r>
              <a:rPr lang="en-US" sz="2000" spc="-32">
                <a:solidFill>
                  <a:srgbClr val="F5F5F5"/>
                </a:solidFill>
                <a:latin typeface="Inter"/>
                <a:ea typeface="Inter"/>
                <a:cs typeface="Inter"/>
                <a:sym typeface="Inter"/>
              </a:rPr>
              <a:t>Lorem</a:t>
            </a:r>
            <a:r>
              <a:rPr lang="en-US" sz="2000" spc="-32">
                <a:solidFill>
                  <a:srgbClr val="F5F5F5"/>
                </a:solidFill>
                <a:latin typeface="Inter"/>
                <a:ea typeface="Inter"/>
                <a:cs typeface="Inter"/>
                <a:sym typeface="Inter"/>
              </a:rPr>
              <a:t> ipsum dolor sit amet, proin morbi elit. Quam velit leo, turpis nec risus sed, felis eu velit. Cras massa</a:t>
            </a:r>
          </a:p>
        </p:txBody>
      </p:sp>
      <p:sp>
        <p:nvSpPr>
          <p:cNvPr name="TextBox 36" id="36"/>
          <p:cNvSpPr txBox="true"/>
          <p:nvPr/>
        </p:nvSpPr>
        <p:spPr>
          <a:xfrm rot="0">
            <a:off x="7302298" y="7885625"/>
            <a:ext cx="4128963"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F5F5F5"/>
                </a:solidFill>
                <a:latin typeface="Inter Semi-Bold"/>
                <a:ea typeface="Inter Semi-Bold"/>
                <a:cs typeface="Inter Semi-Bold"/>
                <a:sym typeface="Inter Semi-Bold"/>
              </a:rPr>
              <a:t>R</a:t>
            </a:r>
            <a:r>
              <a:rPr lang="en-US" b="true" sz="2000" spc="-32">
                <a:solidFill>
                  <a:srgbClr val="F5F5F5"/>
                </a:solidFill>
                <a:latin typeface="Inter Semi-Bold"/>
                <a:ea typeface="Inter Semi-Bold"/>
                <a:cs typeface="Inter Semi-Bold"/>
                <a:sym typeface="Inter Semi-Bold"/>
              </a:rPr>
              <a:t>e</a:t>
            </a:r>
            <a:r>
              <a:rPr lang="en-US" b="true" sz="2000" spc="-32" strike="noStrike" u="none">
                <a:solidFill>
                  <a:srgbClr val="F5F5F5"/>
                </a:solidFill>
                <a:latin typeface="Inter Semi-Bold"/>
                <a:ea typeface="Inter Semi-Bold"/>
                <a:cs typeface="Inter Semi-Bold"/>
                <a:sym typeface="Inter Semi-Bold"/>
              </a:rPr>
              <a:t>al-Time Biofeedback</a:t>
            </a:r>
          </a:p>
        </p:txBody>
      </p:sp>
      <p:sp>
        <p:nvSpPr>
          <p:cNvPr name="TextBox 37" id="37"/>
          <p:cNvSpPr txBox="true"/>
          <p:nvPr/>
        </p:nvSpPr>
        <p:spPr>
          <a:xfrm rot="0">
            <a:off x="13549437" y="8372178"/>
            <a:ext cx="4128963" cy="1054100"/>
          </a:xfrm>
          <a:prstGeom prst="rect">
            <a:avLst/>
          </a:prstGeom>
        </p:spPr>
        <p:txBody>
          <a:bodyPr anchor="t" rtlCol="false" tIns="0" lIns="0" bIns="0" rIns="0">
            <a:spAutoFit/>
          </a:bodyPr>
          <a:lstStyle/>
          <a:p>
            <a:pPr algn="l" marL="0" indent="0" lvl="0">
              <a:lnSpc>
                <a:spcPts val="2800"/>
              </a:lnSpc>
            </a:pPr>
            <a:r>
              <a:rPr lang="en-US" sz="2000" spc="-32">
                <a:solidFill>
                  <a:srgbClr val="F5F5F5"/>
                </a:solidFill>
                <a:latin typeface="Inter"/>
                <a:ea typeface="Inter"/>
                <a:cs typeface="Inter"/>
                <a:sym typeface="Inter"/>
              </a:rPr>
              <a:t>Lorem</a:t>
            </a:r>
            <a:r>
              <a:rPr lang="en-US" sz="2000" spc="-32">
                <a:solidFill>
                  <a:srgbClr val="F5F5F5"/>
                </a:solidFill>
                <a:latin typeface="Inter"/>
                <a:ea typeface="Inter"/>
                <a:cs typeface="Inter"/>
                <a:sym typeface="Inter"/>
              </a:rPr>
              <a:t> ipsum dolor sit amet, proin morbi elit. Quam velit leo, turpis nec risus sed, felis eu velit. Cras massa</a:t>
            </a:r>
          </a:p>
        </p:txBody>
      </p:sp>
      <p:sp>
        <p:nvSpPr>
          <p:cNvPr name="TextBox 38" id="38"/>
          <p:cNvSpPr txBox="true"/>
          <p:nvPr/>
        </p:nvSpPr>
        <p:spPr>
          <a:xfrm rot="0">
            <a:off x="13549437" y="7885625"/>
            <a:ext cx="4128963"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F5F5F5"/>
                </a:solidFill>
                <a:latin typeface="Inter Semi-Bold"/>
                <a:ea typeface="Inter Semi-Bold"/>
                <a:cs typeface="Inter Semi-Bold"/>
                <a:sym typeface="Inter Semi-Bold"/>
              </a:rPr>
              <a:t>P</a:t>
            </a:r>
            <a:r>
              <a:rPr lang="en-US" b="true" sz="2000" spc="-32">
                <a:solidFill>
                  <a:srgbClr val="F5F5F5"/>
                </a:solidFill>
                <a:latin typeface="Inter Semi-Bold"/>
                <a:ea typeface="Inter Semi-Bold"/>
                <a:cs typeface="Inter Semi-Bold"/>
                <a:sym typeface="Inter Semi-Bold"/>
              </a:rPr>
              <a:t>rogress</a:t>
            </a:r>
            <a:r>
              <a:rPr lang="en-US" b="true" sz="2000" spc="-32" strike="noStrike" u="none">
                <a:solidFill>
                  <a:srgbClr val="F5F5F5"/>
                </a:solidFill>
                <a:latin typeface="Inter Semi-Bold"/>
                <a:ea typeface="Inter Semi-Bold"/>
                <a:cs typeface="Inter Semi-Bold"/>
                <a:sym typeface="Inter Semi-Bold"/>
              </a:rPr>
              <a:t> &amp; Insights Dashboard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609600" y="609600"/>
            <a:ext cx="446522" cy="341792"/>
          </a:xfrm>
          <a:custGeom>
            <a:avLst/>
            <a:gdLst/>
            <a:ahLst/>
            <a:cxnLst/>
            <a:rect r="r" b="b" t="t" l="l"/>
            <a:pathLst>
              <a:path h="341792" w="446522">
                <a:moveTo>
                  <a:pt x="0" y="0"/>
                </a:moveTo>
                <a:lnTo>
                  <a:pt x="446522" y="0"/>
                </a:lnTo>
                <a:lnTo>
                  <a:pt x="446522" y="341792"/>
                </a:lnTo>
                <a:lnTo>
                  <a:pt x="0" y="3417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410700" y="5910959"/>
            <a:ext cx="8267700" cy="3766441"/>
            <a:chOff x="0" y="0"/>
            <a:chExt cx="2177501" cy="991985"/>
          </a:xfrm>
        </p:grpSpPr>
        <p:sp>
          <p:nvSpPr>
            <p:cNvPr name="Freeform 4" id="4"/>
            <p:cNvSpPr/>
            <p:nvPr/>
          </p:nvSpPr>
          <p:spPr>
            <a:xfrm flipH="false" flipV="false" rot="0">
              <a:off x="0" y="0"/>
              <a:ext cx="2177501" cy="991985"/>
            </a:xfrm>
            <a:custGeom>
              <a:avLst/>
              <a:gdLst/>
              <a:ahLst/>
              <a:cxnLst/>
              <a:rect r="r" b="b" t="t" l="l"/>
              <a:pathLst>
                <a:path h="991985" w="2177501">
                  <a:moveTo>
                    <a:pt x="29965" y="0"/>
                  </a:moveTo>
                  <a:lnTo>
                    <a:pt x="2147536" y="0"/>
                  </a:lnTo>
                  <a:cubicBezTo>
                    <a:pt x="2155483" y="0"/>
                    <a:pt x="2163105" y="3157"/>
                    <a:pt x="2168725" y="8777"/>
                  </a:cubicBezTo>
                  <a:cubicBezTo>
                    <a:pt x="2174344" y="14396"/>
                    <a:pt x="2177501" y="22018"/>
                    <a:pt x="2177501" y="29965"/>
                  </a:cubicBezTo>
                  <a:lnTo>
                    <a:pt x="2177501" y="962020"/>
                  </a:lnTo>
                  <a:cubicBezTo>
                    <a:pt x="2177501" y="969967"/>
                    <a:pt x="2174344" y="977588"/>
                    <a:pt x="2168725" y="983208"/>
                  </a:cubicBezTo>
                  <a:cubicBezTo>
                    <a:pt x="2163105" y="988828"/>
                    <a:pt x="2155483" y="991985"/>
                    <a:pt x="2147536" y="991985"/>
                  </a:cubicBezTo>
                  <a:lnTo>
                    <a:pt x="29965" y="991985"/>
                  </a:lnTo>
                  <a:cubicBezTo>
                    <a:pt x="22018" y="991985"/>
                    <a:pt x="14396" y="988828"/>
                    <a:pt x="8777" y="983208"/>
                  </a:cubicBezTo>
                  <a:cubicBezTo>
                    <a:pt x="3157" y="977588"/>
                    <a:pt x="0" y="969967"/>
                    <a:pt x="0" y="962020"/>
                  </a:cubicBezTo>
                  <a:lnTo>
                    <a:pt x="0" y="29965"/>
                  </a:lnTo>
                  <a:cubicBezTo>
                    <a:pt x="0" y="22018"/>
                    <a:pt x="3157" y="14396"/>
                    <a:pt x="8777" y="8777"/>
                  </a:cubicBezTo>
                  <a:cubicBezTo>
                    <a:pt x="14396" y="3157"/>
                    <a:pt x="22018" y="0"/>
                    <a:pt x="29965" y="0"/>
                  </a:cubicBezTo>
                  <a:close/>
                </a:path>
              </a:pathLst>
            </a:custGeom>
            <a:solidFill>
              <a:srgbClr val="FF5B37"/>
            </a:solidFill>
            <a:ln cap="rnd">
              <a:noFill/>
              <a:prstDash val="solid"/>
              <a:round/>
            </a:ln>
          </p:spPr>
        </p:sp>
        <p:sp>
          <p:nvSpPr>
            <p:cNvPr name="TextBox 5" id="5"/>
            <p:cNvSpPr txBox="true"/>
            <p:nvPr/>
          </p:nvSpPr>
          <p:spPr>
            <a:xfrm>
              <a:off x="0" y="0"/>
              <a:ext cx="2177501" cy="99198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609600" y="5910959"/>
            <a:ext cx="8267700" cy="3766441"/>
            <a:chOff x="0" y="0"/>
            <a:chExt cx="2177501" cy="991985"/>
          </a:xfrm>
        </p:grpSpPr>
        <p:sp>
          <p:nvSpPr>
            <p:cNvPr name="Freeform 7" id="7"/>
            <p:cNvSpPr/>
            <p:nvPr/>
          </p:nvSpPr>
          <p:spPr>
            <a:xfrm flipH="false" flipV="false" rot="0">
              <a:off x="0" y="0"/>
              <a:ext cx="2177501" cy="991985"/>
            </a:xfrm>
            <a:custGeom>
              <a:avLst/>
              <a:gdLst/>
              <a:ahLst/>
              <a:cxnLst/>
              <a:rect r="r" b="b" t="t" l="l"/>
              <a:pathLst>
                <a:path h="991985" w="2177501">
                  <a:moveTo>
                    <a:pt x="29965" y="0"/>
                  </a:moveTo>
                  <a:lnTo>
                    <a:pt x="2147536" y="0"/>
                  </a:lnTo>
                  <a:cubicBezTo>
                    <a:pt x="2155483" y="0"/>
                    <a:pt x="2163105" y="3157"/>
                    <a:pt x="2168725" y="8777"/>
                  </a:cubicBezTo>
                  <a:cubicBezTo>
                    <a:pt x="2174344" y="14396"/>
                    <a:pt x="2177501" y="22018"/>
                    <a:pt x="2177501" y="29965"/>
                  </a:cubicBezTo>
                  <a:lnTo>
                    <a:pt x="2177501" y="962020"/>
                  </a:lnTo>
                  <a:cubicBezTo>
                    <a:pt x="2177501" y="969967"/>
                    <a:pt x="2174344" y="977588"/>
                    <a:pt x="2168725" y="983208"/>
                  </a:cubicBezTo>
                  <a:cubicBezTo>
                    <a:pt x="2163105" y="988828"/>
                    <a:pt x="2155483" y="991985"/>
                    <a:pt x="2147536" y="991985"/>
                  </a:cubicBezTo>
                  <a:lnTo>
                    <a:pt x="29965" y="991985"/>
                  </a:lnTo>
                  <a:cubicBezTo>
                    <a:pt x="22018" y="991985"/>
                    <a:pt x="14396" y="988828"/>
                    <a:pt x="8777" y="983208"/>
                  </a:cubicBezTo>
                  <a:cubicBezTo>
                    <a:pt x="3157" y="977588"/>
                    <a:pt x="0" y="969967"/>
                    <a:pt x="0" y="962020"/>
                  </a:cubicBezTo>
                  <a:lnTo>
                    <a:pt x="0" y="29965"/>
                  </a:lnTo>
                  <a:cubicBezTo>
                    <a:pt x="0" y="22018"/>
                    <a:pt x="3157" y="14396"/>
                    <a:pt x="8777" y="8777"/>
                  </a:cubicBezTo>
                  <a:cubicBezTo>
                    <a:pt x="14396" y="3157"/>
                    <a:pt x="22018" y="0"/>
                    <a:pt x="29965" y="0"/>
                  </a:cubicBezTo>
                  <a:close/>
                </a:path>
              </a:pathLst>
            </a:custGeom>
            <a:solidFill>
              <a:srgbClr val="F5F5F5"/>
            </a:solidFill>
            <a:ln cap="rnd">
              <a:noFill/>
              <a:prstDash val="solid"/>
              <a:round/>
            </a:ln>
          </p:spPr>
        </p:sp>
        <p:sp>
          <p:nvSpPr>
            <p:cNvPr name="TextBox 8" id="8"/>
            <p:cNvSpPr txBox="true"/>
            <p:nvPr/>
          </p:nvSpPr>
          <p:spPr>
            <a:xfrm>
              <a:off x="0" y="0"/>
              <a:ext cx="2177501" cy="99198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9" id="9"/>
          <p:cNvGrpSpPr/>
          <p:nvPr/>
        </p:nvGrpSpPr>
        <p:grpSpPr>
          <a:xfrm rot="0">
            <a:off x="9410700" y="1611118"/>
            <a:ext cx="8267700" cy="3766441"/>
            <a:chOff x="0" y="0"/>
            <a:chExt cx="2177501" cy="991985"/>
          </a:xfrm>
        </p:grpSpPr>
        <p:sp>
          <p:nvSpPr>
            <p:cNvPr name="Freeform 10" id="10"/>
            <p:cNvSpPr/>
            <p:nvPr/>
          </p:nvSpPr>
          <p:spPr>
            <a:xfrm flipH="false" flipV="false" rot="0">
              <a:off x="0" y="0"/>
              <a:ext cx="2177501" cy="991985"/>
            </a:xfrm>
            <a:custGeom>
              <a:avLst/>
              <a:gdLst/>
              <a:ahLst/>
              <a:cxnLst/>
              <a:rect r="r" b="b" t="t" l="l"/>
              <a:pathLst>
                <a:path h="991985" w="2177501">
                  <a:moveTo>
                    <a:pt x="29965" y="0"/>
                  </a:moveTo>
                  <a:lnTo>
                    <a:pt x="2147536" y="0"/>
                  </a:lnTo>
                  <a:cubicBezTo>
                    <a:pt x="2155483" y="0"/>
                    <a:pt x="2163105" y="3157"/>
                    <a:pt x="2168725" y="8777"/>
                  </a:cubicBezTo>
                  <a:cubicBezTo>
                    <a:pt x="2174344" y="14396"/>
                    <a:pt x="2177501" y="22018"/>
                    <a:pt x="2177501" y="29965"/>
                  </a:cubicBezTo>
                  <a:lnTo>
                    <a:pt x="2177501" y="962020"/>
                  </a:lnTo>
                  <a:cubicBezTo>
                    <a:pt x="2177501" y="969967"/>
                    <a:pt x="2174344" y="977588"/>
                    <a:pt x="2168725" y="983208"/>
                  </a:cubicBezTo>
                  <a:cubicBezTo>
                    <a:pt x="2163105" y="988828"/>
                    <a:pt x="2155483" y="991985"/>
                    <a:pt x="2147536" y="991985"/>
                  </a:cubicBezTo>
                  <a:lnTo>
                    <a:pt x="29965" y="991985"/>
                  </a:lnTo>
                  <a:cubicBezTo>
                    <a:pt x="22018" y="991985"/>
                    <a:pt x="14396" y="988828"/>
                    <a:pt x="8777" y="983208"/>
                  </a:cubicBezTo>
                  <a:cubicBezTo>
                    <a:pt x="3157" y="977588"/>
                    <a:pt x="0" y="969967"/>
                    <a:pt x="0" y="962020"/>
                  </a:cubicBezTo>
                  <a:lnTo>
                    <a:pt x="0" y="29965"/>
                  </a:lnTo>
                  <a:cubicBezTo>
                    <a:pt x="0" y="22018"/>
                    <a:pt x="3157" y="14396"/>
                    <a:pt x="8777" y="8777"/>
                  </a:cubicBezTo>
                  <a:cubicBezTo>
                    <a:pt x="14396" y="3157"/>
                    <a:pt x="22018" y="0"/>
                    <a:pt x="29965" y="0"/>
                  </a:cubicBezTo>
                  <a:close/>
                </a:path>
              </a:pathLst>
            </a:custGeom>
            <a:solidFill>
              <a:srgbClr val="F5F5F5"/>
            </a:solidFill>
            <a:ln cap="rnd">
              <a:noFill/>
              <a:prstDash val="solid"/>
              <a:round/>
            </a:ln>
          </p:spPr>
        </p:sp>
        <p:sp>
          <p:nvSpPr>
            <p:cNvPr name="TextBox 11" id="11"/>
            <p:cNvSpPr txBox="true"/>
            <p:nvPr/>
          </p:nvSpPr>
          <p:spPr>
            <a:xfrm>
              <a:off x="0" y="0"/>
              <a:ext cx="2177501" cy="99198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2" id="12"/>
          <p:cNvGrpSpPr/>
          <p:nvPr/>
        </p:nvGrpSpPr>
        <p:grpSpPr>
          <a:xfrm rot="0">
            <a:off x="16571292" y="2051598"/>
            <a:ext cx="672353" cy="672353"/>
            <a:chOff x="0" y="0"/>
            <a:chExt cx="160553" cy="160553"/>
          </a:xfrm>
        </p:grpSpPr>
        <p:sp>
          <p:nvSpPr>
            <p:cNvPr name="Freeform 13" id="13"/>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14" id="14"/>
            <p:cNvSpPr txBox="true"/>
            <p:nvPr/>
          </p:nvSpPr>
          <p:spPr>
            <a:xfrm>
              <a:off x="0" y="-38100"/>
              <a:ext cx="160553" cy="198653"/>
            </a:xfrm>
            <a:prstGeom prst="rect">
              <a:avLst/>
            </a:prstGeom>
          </p:spPr>
          <p:txBody>
            <a:bodyPr anchor="ctr" rtlCol="false" tIns="40749" lIns="40749" bIns="40749" rIns="40749"/>
            <a:lstStyle/>
            <a:p>
              <a:pPr algn="ctr" marL="0" indent="0" lvl="0">
                <a:lnSpc>
                  <a:spcPts val="2240"/>
                </a:lnSpc>
                <a:spcBef>
                  <a:spcPct val="0"/>
                </a:spcBef>
              </a:pPr>
            </a:p>
          </p:txBody>
        </p:sp>
      </p:grpSp>
      <p:sp>
        <p:nvSpPr>
          <p:cNvPr name="Freeform 15" id="15"/>
          <p:cNvSpPr/>
          <p:nvPr/>
        </p:nvSpPr>
        <p:spPr>
          <a:xfrm flipH="false" flipV="false" rot="0">
            <a:off x="16724100" y="2204405"/>
            <a:ext cx="366738" cy="366738"/>
          </a:xfrm>
          <a:custGeom>
            <a:avLst/>
            <a:gdLst/>
            <a:ahLst/>
            <a:cxnLst/>
            <a:rect r="r" b="b" t="t" l="l"/>
            <a:pathLst>
              <a:path h="366738" w="366738">
                <a:moveTo>
                  <a:pt x="0" y="0"/>
                </a:moveTo>
                <a:lnTo>
                  <a:pt x="366738" y="0"/>
                </a:lnTo>
                <a:lnTo>
                  <a:pt x="366738" y="366738"/>
                </a:lnTo>
                <a:lnTo>
                  <a:pt x="0" y="3667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7770192" y="6351439"/>
            <a:ext cx="672353" cy="672353"/>
            <a:chOff x="0" y="0"/>
            <a:chExt cx="160553" cy="160553"/>
          </a:xfrm>
        </p:grpSpPr>
        <p:sp>
          <p:nvSpPr>
            <p:cNvPr name="Freeform 17" id="17"/>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18" id="18"/>
            <p:cNvSpPr txBox="true"/>
            <p:nvPr/>
          </p:nvSpPr>
          <p:spPr>
            <a:xfrm>
              <a:off x="0" y="-38100"/>
              <a:ext cx="160553" cy="198653"/>
            </a:xfrm>
            <a:prstGeom prst="rect">
              <a:avLst/>
            </a:prstGeom>
          </p:spPr>
          <p:txBody>
            <a:bodyPr anchor="ctr" rtlCol="false" tIns="40749" lIns="40749" bIns="40749" rIns="40749"/>
            <a:lstStyle/>
            <a:p>
              <a:pPr algn="ctr" marL="0" indent="0" lvl="0">
                <a:lnSpc>
                  <a:spcPts val="2240"/>
                </a:lnSpc>
                <a:spcBef>
                  <a:spcPct val="0"/>
                </a:spcBef>
              </a:pPr>
            </a:p>
          </p:txBody>
        </p:sp>
      </p:grpSp>
      <p:sp>
        <p:nvSpPr>
          <p:cNvPr name="Freeform 19" id="19"/>
          <p:cNvSpPr/>
          <p:nvPr/>
        </p:nvSpPr>
        <p:spPr>
          <a:xfrm flipH="false" flipV="false" rot="0">
            <a:off x="7923000" y="6504247"/>
            <a:ext cx="366738" cy="366738"/>
          </a:xfrm>
          <a:custGeom>
            <a:avLst/>
            <a:gdLst/>
            <a:ahLst/>
            <a:cxnLst/>
            <a:rect r="r" b="b" t="t" l="l"/>
            <a:pathLst>
              <a:path h="366738" w="366738">
                <a:moveTo>
                  <a:pt x="0" y="0"/>
                </a:moveTo>
                <a:lnTo>
                  <a:pt x="366738" y="0"/>
                </a:lnTo>
                <a:lnTo>
                  <a:pt x="366738" y="366738"/>
                </a:lnTo>
                <a:lnTo>
                  <a:pt x="0" y="3667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16571292" y="6351439"/>
            <a:ext cx="672353" cy="672353"/>
            <a:chOff x="0" y="0"/>
            <a:chExt cx="160553" cy="160553"/>
          </a:xfrm>
        </p:grpSpPr>
        <p:sp>
          <p:nvSpPr>
            <p:cNvPr name="Freeform 21" id="21"/>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7E4D9"/>
            </a:solidFill>
            <a:ln cap="rnd">
              <a:noFill/>
              <a:prstDash val="solid"/>
              <a:round/>
            </a:ln>
          </p:spPr>
        </p:sp>
        <p:sp>
          <p:nvSpPr>
            <p:cNvPr name="TextBox 22" id="22"/>
            <p:cNvSpPr txBox="true"/>
            <p:nvPr/>
          </p:nvSpPr>
          <p:spPr>
            <a:xfrm>
              <a:off x="0" y="-38100"/>
              <a:ext cx="160553" cy="198653"/>
            </a:xfrm>
            <a:prstGeom prst="rect">
              <a:avLst/>
            </a:prstGeom>
          </p:spPr>
          <p:txBody>
            <a:bodyPr anchor="ctr" rtlCol="false" tIns="40749" lIns="40749" bIns="40749" rIns="40749"/>
            <a:lstStyle/>
            <a:p>
              <a:pPr algn="ctr" marL="0" indent="0" lvl="0">
                <a:lnSpc>
                  <a:spcPts val="2240"/>
                </a:lnSpc>
                <a:spcBef>
                  <a:spcPct val="0"/>
                </a:spcBef>
              </a:pPr>
            </a:p>
          </p:txBody>
        </p:sp>
      </p:grpSp>
      <p:sp>
        <p:nvSpPr>
          <p:cNvPr name="Freeform 23" id="23"/>
          <p:cNvSpPr/>
          <p:nvPr/>
        </p:nvSpPr>
        <p:spPr>
          <a:xfrm flipH="false" flipV="false" rot="0">
            <a:off x="16724100" y="6504247"/>
            <a:ext cx="366738" cy="366738"/>
          </a:xfrm>
          <a:custGeom>
            <a:avLst/>
            <a:gdLst/>
            <a:ahLst/>
            <a:cxnLst/>
            <a:rect r="r" b="b" t="t" l="l"/>
            <a:pathLst>
              <a:path h="366738" w="366738">
                <a:moveTo>
                  <a:pt x="0" y="0"/>
                </a:moveTo>
                <a:lnTo>
                  <a:pt x="366738" y="0"/>
                </a:lnTo>
                <a:lnTo>
                  <a:pt x="366738" y="366738"/>
                </a:lnTo>
                <a:lnTo>
                  <a:pt x="0" y="3667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1028700" y="2051598"/>
            <a:ext cx="7332125" cy="971550"/>
          </a:xfrm>
          <a:prstGeom prst="rect">
            <a:avLst/>
          </a:prstGeom>
        </p:spPr>
        <p:txBody>
          <a:bodyPr anchor="t" rtlCol="false" tIns="0" lIns="0" bIns="0" rIns="0">
            <a:spAutoFit/>
          </a:bodyPr>
          <a:lstStyle/>
          <a:p>
            <a:pPr algn="l" marL="0" indent="0" lvl="0">
              <a:lnSpc>
                <a:spcPts val="7679"/>
              </a:lnSpc>
            </a:pPr>
            <a:r>
              <a:rPr lang="en-US" b="true" sz="6399" spc="-102">
                <a:solidFill>
                  <a:srgbClr val="000000"/>
                </a:solidFill>
                <a:latin typeface="Inter Bold"/>
                <a:ea typeface="Inter Bold"/>
                <a:cs typeface="Inter Bold"/>
                <a:sym typeface="Inter Bold"/>
              </a:rPr>
              <a:t>Market Size</a:t>
            </a:r>
          </a:p>
        </p:txBody>
      </p:sp>
      <p:sp>
        <p:nvSpPr>
          <p:cNvPr name="TextBox 25" id="25"/>
          <p:cNvSpPr txBox="true"/>
          <p:nvPr/>
        </p:nvSpPr>
        <p:spPr>
          <a:xfrm rot="0">
            <a:off x="1195748" y="613809"/>
            <a:ext cx="1391384" cy="333375"/>
          </a:xfrm>
          <a:prstGeom prst="rect">
            <a:avLst/>
          </a:prstGeom>
        </p:spPr>
        <p:txBody>
          <a:bodyPr anchor="t" rtlCol="false" tIns="0" lIns="0" bIns="0" rIns="0">
            <a:spAutoFit/>
          </a:bodyPr>
          <a:lstStyle/>
          <a:p>
            <a:pPr algn="l" marL="0" indent="0" lvl="0">
              <a:lnSpc>
                <a:spcPts val="2640"/>
              </a:lnSpc>
              <a:spcBef>
                <a:spcPct val="0"/>
              </a:spcBef>
            </a:pPr>
            <a:r>
              <a:rPr lang="en-US" b="true" sz="2200" spc="-35">
                <a:solidFill>
                  <a:srgbClr val="000000"/>
                </a:solidFill>
                <a:latin typeface="Inter Bold"/>
                <a:ea typeface="Inter Bold"/>
                <a:cs typeface="Inter Bold"/>
                <a:sym typeface="Inter Bold"/>
              </a:rPr>
              <a:t>Rimberio</a:t>
            </a:r>
          </a:p>
        </p:txBody>
      </p:sp>
      <p:sp>
        <p:nvSpPr>
          <p:cNvPr name="TextBox 26" id="26"/>
          <p:cNvSpPr txBox="true"/>
          <p:nvPr/>
        </p:nvSpPr>
        <p:spPr>
          <a:xfrm rot="0">
            <a:off x="9845455" y="6303814"/>
            <a:ext cx="3057065" cy="701675"/>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F5F5F5"/>
                </a:solidFill>
                <a:latin typeface="Inter Semi-Bold"/>
                <a:ea typeface="Inter Semi-Bold"/>
                <a:cs typeface="Inter Semi-Bold"/>
                <a:sym typeface="Inter Semi-Bold"/>
              </a:rPr>
              <a:t>Serviceable Obtainable Market (SOM)</a:t>
            </a:r>
          </a:p>
        </p:txBody>
      </p:sp>
      <p:sp>
        <p:nvSpPr>
          <p:cNvPr name="TextBox 27" id="27"/>
          <p:cNvSpPr txBox="true"/>
          <p:nvPr/>
        </p:nvSpPr>
        <p:spPr>
          <a:xfrm rot="0">
            <a:off x="9845455" y="7378621"/>
            <a:ext cx="7398191" cy="1828800"/>
          </a:xfrm>
          <a:prstGeom prst="rect">
            <a:avLst/>
          </a:prstGeom>
        </p:spPr>
        <p:txBody>
          <a:bodyPr anchor="t" rtlCol="false" tIns="0" lIns="0" bIns="0" rIns="0">
            <a:spAutoFit/>
          </a:bodyPr>
          <a:lstStyle/>
          <a:p>
            <a:pPr algn="r" marL="0" indent="0" lvl="0">
              <a:lnSpc>
                <a:spcPts val="14342"/>
              </a:lnSpc>
              <a:spcBef>
                <a:spcPct val="0"/>
              </a:spcBef>
            </a:pPr>
            <a:r>
              <a:rPr lang="en-US" b="true" sz="11952" spc="-191">
                <a:solidFill>
                  <a:srgbClr val="F5F5F5"/>
                </a:solidFill>
                <a:latin typeface="Inter Semi-Bold"/>
                <a:ea typeface="Inter Semi-Bold"/>
                <a:cs typeface="Inter Semi-Bold"/>
                <a:sym typeface="Inter Semi-Bold"/>
              </a:rPr>
              <a:t>$ 800M</a:t>
            </a:r>
          </a:p>
        </p:txBody>
      </p:sp>
      <p:sp>
        <p:nvSpPr>
          <p:cNvPr name="TextBox 28" id="28"/>
          <p:cNvSpPr txBox="true"/>
          <p:nvPr/>
        </p:nvSpPr>
        <p:spPr>
          <a:xfrm rot="0">
            <a:off x="1044355" y="6303814"/>
            <a:ext cx="3169124" cy="701675"/>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Serviceable Addressable Market (SAM)</a:t>
            </a:r>
          </a:p>
        </p:txBody>
      </p:sp>
      <p:sp>
        <p:nvSpPr>
          <p:cNvPr name="TextBox 29" id="29"/>
          <p:cNvSpPr txBox="true"/>
          <p:nvPr/>
        </p:nvSpPr>
        <p:spPr>
          <a:xfrm rot="0">
            <a:off x="1056122" y="7378621"/>
            <a:ext cx="7386423" cy="1828800"/>
          </a:xfrm>
          <a:prstGeom prst="rect">
            <a:avLst/>
          </a:prstGeom>
        </p:spPr>
        <p:txBody>
          <a:bodyPr anchor="t" rtlCol="false" tIns="0" lIns="0" bIns="0" rIns="0">
            <a:spAutoFit/>
          </a:bodyPr>
          <a:lstStyle/>
          <a:p>
            <a:pPr algn="r" marL="0" indent="0" lvl="0">
              <a:lnSpc>
                <a:spcPts val="14342"/>
              </a:lnSpc>
              <a:spcBef>
                <a:spcPct val="0"/>
              </a:spcBef>
            </a:pPr>
            <a:r>
              <a:rPr lang="en-US" b="true" sz="11952" spc="-191">
                <a:solidFill>
                  <a:srgbClr val="FF5B37"/>
                </a:solidFill>
                <a:latin typeface="Inter Semi-Bold"/>
                <a:ea typeface="Inter Semi-Bold"/>
                <a:cs typeface="Inter Semi-Bold"/>
                <a:sym typeface="Inter Semi-Bold"/>
              </a:rPr>
              <a:t>$ 480B</a:t>
            </a:r>
          </a:p>
        </p:txBody>
      </p:sp>
      <p:sp>
        <p:nvSpPr>
          <p:cNvPr name="TextBox 30" id="30"/>
          <p:cNvSpPr txBox="true"/>
          <p:nvPr/>
        </p:nvSpPr>
        <p:spPr>
          <a:xfrm rot="0">
            <a:off x="9845455" y="2003973"/>
            <a:ext cx="3057065" cy="701675"/>
          </a:xfrm>
          <a:prstGeom prst="rect">
            <a:avLst/>
          </a:prstGeom>
        </p:spPr>
        <p:txBody>
          <a:bodyPr anchor="t" rtlCol="false" tIns="0" lIns="0" bIns="0" rIns="0">
            <a:spAutoFit/>
          </a:bodyPr>
          <a:lstStyle/>
          <a:p>
            <a:pPr algn="l">
              <a:lnSpc>
                <a:spcPts val="2800"/>
              </a:lnSpc>
            </a:pPr>
            <a:r>
              <a:rPr lang="en-US" sz="2000" spc="-32" b="true">
                <a:solidFill>
                  <a:srgbClr val="000000"/>
                </a:solidFill>
                <a:latin typeface="Inter Semi-Bold"/>
                <a:ea typeface="Inter Semi-Bold"/>
                <a:cs typeface="Inter Semi-Bold"/>
                <a:sym typeface="Inter Semi-Bold"/>
              </a:rPr>
              <a:t>Total Addressable</a:t>
            </a:r>
          </a:p>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Market (TAM)</a:t>
            </a:r>
          </a:p>
        </p:txBody>
      </p:sp>
      <p:sp>
        <p:nvSpPr>
          <p:cNvPr name="TextBox 31" id="31"/>
          <p:cNvSpPr txBox="true"/>
          <p:nvPr/>
        </p:nvSpPr>
        <p:spPr>
          <a:xfrm rot="0">
            <a:off x="9845455" y="3078780"/>
            <a:ext cx="7398191" cy="1828800"/>
          </a:xfrm>
          <a:prstGeom prst="rect">
            <a:avLst/>
          </a:prstGeom>
        </p:spPr>
        <p:txBody>
          <a:bodyPr anchor="t" rtlCol="false" tIns="0" lIns="0" bIns="0" rIns="0">
            <a:spAutoFit/>
          </a:bodyPr>
          <a:lstStyle/>
          <a:p>
            <a:pPr algn="r" marL="0" indent="0" lvl="0">
              <a:lnSpc>
                <a:spcPts val="14342"/>
              </a:lnSpc>
              <a:spcBef>
                <a:spcPct val="0"/>
              </a:spcBef>
            </a:pPr>
            <a:r>
              <a:rPr lang="en-US" b="true" sz="11952" spc="-191">
                <a:solidFill>
                  <a:srgbClr val="FF5B37"/>
                </a:solidFill>
                <a:latin typeface="Inter Semi-Bold"/>
                <a:ea typeface="Inter Semi-Bold"/>
                <a:cs typeface="Inter Semi-Bold"/>
                <a:sym typeface="Inter Semi-Bold"/>
              </a:rPr>
              <a:t>$ 780B</a:t>
            </a:r>
          </a:p>
        </p:txBody>
      </p:sp>
      <p:sp>
        <p:nvSpPr>
          <p:cNvPr name="TextBox 32" id="32"/>
          <p:cNvSpPr txBox="true"/>
          <p:nvPr/>
        </p:nvSpPr>
        <p:spPr>
          <a:xfrm rot="0">
            <a:off x="1056122" y="3341938"/>
            <a:ext cx="7386423" cy="140652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626" r="0" b="0"/>
            </a:stretch>
          </a:blipFill>
        </p:spPr>
      </p:sp>
      <p:sp>
        <p:nvSpPr>
          <p:cNvPr name="Freeform 3" id="3"/>
          <p:cNvSpPr/>
          <p:nvPr/>
        </p:nvSpPr>
        <p:spPr>
          <a:xfrm flipH="false" flipV="false" rot="0">
            <a:off x="609600" y="609600"/>
            <a:ext cx="446522" cy="341792"/>
          </a:xfrm>
          <a:custGeom>
            <a:avLst/>
            <a:gdLst/>
            <a:ahLst/>
            <a:cxnLst/>
            <a:rect r="r" b="b" t="t" l="l"/>
            <a:pathLst>
              <a:path h="341792" w="446522">
                <a:moveTo>
                  <a:pt x="0" y="0"/>
                </a:moveTo>
                <a:lnTo>
                  <a:pt x="446522" y="0"/>
                </a:lnTo>
                <a:lnTo>
                  <a:pt x="446522" y="341792"/>
                </a:lnTo>
                <a:lnTo>
                  <a:pt x="0" y="3417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5143500"/>
            <a:ext cx="18288000" cy="5385547"/>
            <a:chOff x="0" y="0"/>
            <a:chExt cx="4816593" cy="1418416"/>
          </a:xfrm>
        </p:grpSpPr>
        <p:sp>
          <p:nvSpPr>
            <p:cNvPr name="Freeform 5" id="5"/>
            <p:cNvSpPr/>
            <p:nvPr/>
          </p:nvSpPr>
          <p:spPr>
            <a:xfrm flipH="false" flipV="false" rot="0">
              <a:off x="0" y="0"/>
              <a:ext cx="4816592" cy="1418416"/>
            </a:xfrm>
            <a:custGeom>
              <a:avLst/>
              <a:gdLst/>
              <a:ahLst/>
              <a:cxnLst/>
              <a:rect r="r" b="b" t="t" l="l"/>
              <a:pathLst>
                <a:path h="1418416" w="4816592">
                  <a:moveTo>
                    <a:pt x="13547" y="0"/>
                  </a:moveTo>
                  <a:lnTo>
                    <a:pt x="4803046" y="0"/>
                  </a:lnTo>
                  <a:cubicBezTo>
                    <a:pt x="4806638" y="0"/>
                    <a:pt x="4810084" y="1427"/>
                    <a:pt x="4812625" y="3968"/>
                  </a:cubicBezTo>
                  <a:cubicBezTo>
                    <a:pt x="4815165" y="6508"/>
                    <a:pt x="4816592" y="9954"/>
                    <a:pt x="4816592" y="13547"/>
                  </a:cubicBezTo>
                  <a:lnTo>
                    <a:pt x="4816592" y="1404869"/>
                  </a:lnTo>
                  <a:cubicBezTo>
                    <a:pt x="4816592" y="1412351"/>
                    <a:pt x="4810527" y="1418416"/>
                    <a:pt x="4803046" y="1418416"/>
                  </a:cubicBezTo>
                  <a:lnTo>
                    <a:pt x="13547" y="1418416"/>
                  </a:lnTo>
                  <a:cubicBezTo>
                    <a:pt x="6065" y="1418416"/>
                    <a:pt x="0" y="1412351"/>
                    <a:pt x="0" y="1404869"/>
                  </a:cubicBezTo>
                  <a:lnTo>
                    <a:pt x="0" y="13547"/>
                  </a:lnTo>
                  <a:cubicBezTo>
                    <a:pt x="0" y="6065"/>
                    <a:pt x="6065" y="0"/>
                    <a:pt x="13547" y="0"/>
                  </a:cubicBezTo>
                  <a:close/>
                </a:path>
              </a:pathLst>
            </a:custGeom>
            <a:solidFill>
              <a:srgbClr val="FF5B37"/>
            </a:solidFill>
            <a:ln cap="rnd">
              <a:noFill/>
              <a:prstDash val="solid"/>
              <a:round/>
            </a:ln>
          </p:spPr>
        </p:sp>
        <p:sp>
          <p:nvSpPr>
            <p:cNvPr name="TextBox 6" id="6"/>
            <p:cNvSpPr txBox="true"/>
            <p:nvPr/>
          </p:nvSpPr>
          <p:spPr>
            <a:xfrm>
              <a:off x="0" y="0"/>
              <a:ext cx="4816593" cy="1418416"/>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7" id="7"/>
          <p:cNvGrpSpPr/>
          <p:nvPr/>
        </p:nvGrpSpPr>
        <p:grpSpPr>
          <a:xfrm rot="0">
            <a:off x="8991600" y="5910959"/>
            <a:ext cx="4076700" cy="3766441"/>
            <a:chOff x="0" y="0"/>
            <a:chExt cx="1073699" cy="991985"/>
          </a:xfrm>
        </p:grpSpPr>
        <p:sp>
          <p:nvSpPr>
            <p:cNvPr name="Freeform 8" id="8"/>
            <p:cNvSpPr/>
            <p:nvPr/>
          </p:nvSpPr>
          <p:spPr>
            <a:xfrm flipH="false" flipV="false" rot="0">
              <a:off x="0" y="0"/>
              <a:ext cx="1073699" cy="991985"/>
            </a:xfrm>
            <a:custGeom>
              <a:avLst/>
              <a:gdLst/>
              <a:ahLst/>
              <a:cxnLst/>
              <a:rect r="r" b="b" t="t" l="l"/>
              <a:pathLst>
                <a:path h="991985" w="1073699">
                  <a:moveTo>
                    <a:pt x="60770" y="0"/>
                  </a:moveTo>
                  <a:lnTo>
                    <a:pt x="1012929" y="0"/>
                  </a:lnTo>
                  <a:cubicBezTo>
                    <a:pt x="1046491" y="0"/>
                    <a:pt x="1073699" y="27208"/>
                    <a:pt x="1073699" y="60770"/>
                  </a:cubicBezTo>
                  <a:lnTo>
                    <a:pt x="1073699" y="931214"/>
                  </a:lnTo>
                  <a:cubicBezTo>
                    <a:pt x="1073699" y="947332"/>
                    <a:pt x="1067296" y="962789"/>
                    <a:pt x="1055900" y="974185"/>
                  </a:cubicBezTo>
                  <a:cubicBezTo>
                    <a:pt x="1044503" y="985582"/>
                    <a:pt x="1029046" y="991985"/>
                    <a:pt x="1012929" y="991985"/>
                  </a:cubicBezTo>
                  <a:lnTo>
                    <a:pt x="60770" y="991985"/>
                  </a:lnTo>
                  <a:cubicBezTo>
                    <a:pt x="27208" y="991985"/>
                    <a:pt x="0" y="964777"/>
                    <a:pt x="0" y="931214"/>
                  </a:cubicBezTo>
                  <a:lnTo>
                    <a:pt x="0" y="60770"/>
                  </a:lnTo>
                  <a:cubicBezTo>
                    <a:pt x="0" y="27208"/>
                    <a:pt x="27208" y="0"/>
                    <a:pt x="60770" y="0"/>
                  </a:cubicBezTo>
                  <a:close/>
                </a:path>
              </a:pathLst>
            </a:custGeom>
            <a:solidFill>
              <a:srgbClr val="F7E4D9"/>
            </a:solidFill>
            <a:ln cap="rnd">
              <a:noFill/>
              <a:prstDash val="solid"/>
              <a:round/>
            </a:ln>
          </p:spPr>
        </p:sp>
        <p:sp>
          <p:nvSpPr>
            <p:cNvPr name="TextBox 9" id="9"/>
            <p:cNvSpPr txBox="true"/>
            <p:nvPr/>
          </p:nvSpPr>
          <p:spPr>
            <a:xfrm>
              <a:off x="0" y="0"/>
              <a:ext cx="1073699" cy="99198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0" id="10"/>
          <p:cNvGrpSpPr/>
          <p:nvPr/>
        </p:nvGrpSpPr>
        <p:grpSpPr>
          <a:xfrm rot="0">
            <a:off x="9442009" y="6351439"/>
            <a:ext cx="838200" cy="838200"/>
            <a:chOff x="0" y="0"/>
            <a:chExt cx="160553" cy="160553"/>
          </a:xfrm>
        </p:grpSpPr>
        <p:sp>
          <p:nvSpPr>
            <p:cNvPr name="Freeform 11" id="11"/>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12" id="12"/>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grpSp>
        <p:nvGrpSpPr>
          <p:cNvPr name="Group 13" id="13"/>
          <p:cNvGrpSpPr/>
          <p:nvPr/>
        </p:nvGrpSpPr>
        <p:grpSpPr>
          <a:xfrm rot="0">
            <a:off x="13601700" y="5910959"/>
            <a:ext cx="4076700" cy="3766441"/>
            <a:chOff x="0" y="0"/>
            <a:chExt cx="1073699" cy="991985"/>
          </a:xfrm>
        </p:grpSpPr>
        <p:sp>
          <p:nvSpPr>
            <p:cNvPr name="Freeform 14" id="14"/>
            <p:cNvSpPr/>
            <p:nvPr/>
          </p:nvSpPr>
          <p:spPr>
            <a:xfrm flipH="false" flipV="false" rot="0">
              <a:off x="0" y="0"/>
              <a:ext cx="1073699" cy="991985"/>
            </a:xfrm>
            <a:custGeom>
              <a:avLst/>
              <a:gdLst/>
              <a:ahLst/>
              <a:cxnLst/>
              <a:rect r="r" b="b" t="t" l="l"/>
              <a:pathLst>
                <a:path h="991985" w="1073699">
                  <a:moveTo>
                    <a:pt x="60770" y="0"/>
                  </a:moveTo>
                  <a:lnTo>
                    <a:pt x="1012929" y="0"/>
                  </a:lnTo>
                  <a:cubicBezTo>
                    <a:pt x="1046491" y="0"/>
                    <a:pt x="1073699" y="27208"/>
                    <a:pt x="1073699" y="60770"/>
                  </a:cubicBezTo>
                  <a:lnTo>
                    <a:pt x="1073699" y="931214"/>
                  </a:lnTo>
                  <a:cubicBezTo>
                    <a:pt x="1073699" y="947332"/>
                    <a:pt x="1067296" y="962789"/>
                    <a:pt x="1055900" y="974185"/>
                  </a:cubicBezTo>
                  <a:cubicBezTo>
                    <a:pt x="1044503" y="985582"/>
                    <a:pt x="1029046" y="991985"/>
                    <a:pt x="1012929" y="991985"/>
                  </a:cubicBezTo>
                  <a:lnTo>
                    <a:pt x="60770" y="991985"/>
                  </a:lnTo>
                  <a:cubicBezTo>
                    <a:pt x="27208" y="991985"/>
                    <a:pt x="0" y="964777"/>
                    <a:pt x="0" y="931214"/>
                  </a:cubicBezTo>
                  <a:lnTo>
                    <a:pt x="0" y="60770"/>
                  </a:lnTo>
                  <a:cubicBezTo>
                    <a:pt x="0" y="27208"/>
                    <a:pt x="27208" y="0"/>
                    <a:pt x="60770" y="0"/>
                  </a:cubicBezTo>
                  <a:close/>
                </a:path>
              </a:pathLst>
            </a:custGeom>
            <a:solidFill>
              <a:srgbClr val="F7E4D9"/>
            </a:solidFill>
            <a:ln cap="rnd">
              <a:noFill/>
              <a:prstDash val="solid"/>
              <a:round/>
            </a:ln>
          </p:spPr>
        </p:sp>
        <p:sp>
          <p:nvSpPr>
            <p:cNvPr name="TextBox 15" id="15"/>
            <p:cNvSpPr txBox="true"/>
            <p:nvPr/>
          </p:nvSpPr>
          <p:spPr>
            <a:xfrm>
              <a:off x="0" y="0"/>
              <a:ext cx="1073699" cy="99198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6" id="16"/>
          <p:cNvGrpSpPr/>
          <p:nvPr/>
        </p:nvGrpSpPr>
        <p:grpSpPr>
          <a:xfrm rot="0">
            <a:off x="14052109" y="6351439"/>
            <a:ext cx="838200" cy="838200"/>
            <a:chOff x="0" y="0"/>
            <a:chExt cx="160553" cy="160553"/>
          </a:xfrm>
        </p:grpSpPr>
        <p:sp>
          <p:nvSpPr>
            <p:cNvPr name="Freeform 17" id="17"/>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18" id="18"/>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19" id="19"/>
          <p:cNvSpPr/>
          <p:nvPr/>
        </p:nvSpPr>
        <p:spPr>
          <a:xfrm flipH="false" flipV="false" rot="0">
            <a:off x="9643731" y="6541939"/>
            <a:ext cx="434756" cy="457200"/>
          </a:xfrm>
          <a:custGeom>
            <a:avLst/>
            <a:gdLst/>
            <a:ahLst/>
            <a:cxnLst/>
            <a:rect r="r" b="b" t="t" l="l"/>
            <a:pathLst>
              <a:path h="457200" w="434756">
                <a:moveTo>
                  <a:pt x="0" y="0"/>
                </a:moveTo>
                <a:lnTo>
                  <a:pt x="434756" y="0"/>
                </a:lnTo>
                <a:lnTo>
                  <a:pt x="434756"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4249259" y="6541939"/>
            <a:ext cx="443900" cy="457200"/>
          </a:xfrm>
          <a:custGeom>
            <a:avLst/>
            <a:gdLst/>
            <a:ahLst/>
            <a:cxnLst/>
            <a:rect r="r" b="b" t="t" l="l"/>
            <a:pathLst>
              <a:path h="457200" w="443900">
                <a:moveTo>
                  <a:pt x="0" y="0"/>
                </a:moveTo>
                <a:lnTo>
                  <a:pt x="443900" y="0"/>
                </a:lnTo>
                <a:lnTo>
                  <a:pt x="4439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609600" y="6351439"/>
            <a:ext cx="6934200" cy="971550"/>
          </a:xfrm>
          <a:prstGeom prst="rect">
            <a:avLst/>
          </a:prstGeom>
        </p:spPr>
        <p:txBody>
          <a:bodyPr anchor="t" rtlCol="false" tIns="0" lIns="0" bIns="0" rIns="0">
            <a:spAutoFit/>
          </a:bodyPr>
          <a:lstStyle/>
          <a:p>
            <a:pPr algn="l" marL="0" indent="0" lvl="0">
              <a:lnSpc>
                <a:spcPts val="7679"/>
              </a:lnSpc>
            </a:pPr>
            <a:r>
              <a:rPr lang="en-US" b="true" sz="6399" spc="-102">
                <a:solidFill>
                  <a:srgbClr val="F5F5F5"/>
                </a:solidFill>
                <a:latin typeface="Inter Bold"/>
                <a:ea typeface="Inter Bold"/>
                <a:cs typeface="Inter Bold"/>
                <a:sym typeface="Inter Bold"/>
              </a:rPr>
              <a:t>Business Model</a:t>
            </a:r>
          </a:p>
        </p:txBody>
      </p:sp>
      <p:sp>
        <p:nvSpPr>
          <p:cNvPr name="TextBox 22" id="22"/>
          <p:cNvSpPr txBox="true"/>
          <p:nvPr/>
        </p:nvSpPr>
        <p:spPr>
          <a:xfrm rot="0">
            <a:off x="1195748" y="613809"/>
            <a:ext cx="1391384" cy="333375"/>
          </a:xfrm>
          <a:prstGeom prst="rect">
            <a:avLst/>
          </a:prstGeom>
        </p:spPr>
        <p:txBody>
          <a:bodyPr anchor="t" rtlCol="false" tIns="0" lIns="0" bIns="0" rIns="0">
            <a:spAutoFit/>
          </a:bodyPr>
          <a:lstStyle/>
          <a:p>
            <a:pPr algn="l" marL="0" indent="0" lvl="0">
              <a:lnSpc>
                <a:spcPts val="2640"/>
              </a:lnSpc>
              <a:spcBef>
                <a:spcPct val="0"/>
              </a:spcBef>
            </a:pPr>
            <a:r>
              <a:rPr lang="en-US" b="true" sz="2200" spc="-35">
                <a:solidFill>
                  <a:srgbClr val="000000"/>
                </a:solidFill>
                <a:latin typeface="Inter Bold"/>
                <a:ea typeface="Inter Bold"/>
                <a:cs typeface="Inter Bold"/>
                <a:sym typeface="Inter Bold"/>
              </a:rPr>
              <a:t>Rimberio</a:t>
            </a:r>
          </a:p>
        </p:txBody>
      </p:sp>
      <p:sp>
        <p:nvSpPr>
          <p:cNvPr name="TextBox 23" id="23"/>
          <p:cNvSpPr txBox="true"/>
          <p:nvPr/>
        </p:nvSpPr>
        <p:spPr>
          <a:xfrm rot="0">
            <a:off x="637022" y="7830395"/>
            <a:ext cx="6906778" cy="1406525"/>
          </a:xfrm>
          <a:prstGeom prst="rect">
            <a:avLst/>
          </a:prstGeom>
        </p:spPr>
        <p:txBody>
          <a:bodyPr anchor="t" rtlCol="false" tIns="0" lIns="0" bIns="0" rIns="0">
            <a:spAutoFit/>
          </a:bodyPr>
          <a:lstStyle/>
          <a:p>
            <a:pPr algn="l" marL="0" indent="0" lvl="0">
              <a:lnSpc>
                <a:spcPts val="2800"/>
              </a:lnSpc>
            </a:pPr>
            <a:r>
              <a:rPr lang="en-US" sz="2000" spc="-32">
                <a:solidFill>
                  <a:srgbClr val="F5F5F5"/>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24" id="24"/>
          <p:cNvSpPr txBox="true"/>
          <p:nvPr/>
        </p:nvSpPr>
        <p:spPr>
          <a:xfrm rot="0">
            <a:off x="9442009" y="8182820"/>
            <a:ext cx="3175881" cy="105410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Dir</a:t>
            </a:r>
            <a:r>
              <a:rPr lang="en-US" sz="2000" spc="-32">
                <a:solidFill>
                  <a:srgbClr val="000000"/>
                </a:solidFill>
                <a:latin typeface="Inter"/>
                <a:ea typeface="Inter"/>
                <a:cs typeface="Inter"/>
                <a:sym typeface="Inter"/>
              </a:rPr>
              <a:t>ect-to-consumer subscription is our core and highest-margin stream.</a:t>
            </a:r>
          </a:p>
        </p:txBody>
      </p:sp>
      <p:sp>
        <p:nvSpPr>
          <p:cNvPr name="TextBox 25" id="25"/>
          <p:cNvSpPr txBox="true"/>
          <p:nvPr/>
        </p:nvSpPr>
        <p:spPr>
          <a:xfrm rot="0">
            <a:off x="9442009" y="7751830"/>
            <a:ext cx="3175881"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Co</a:t>
            </a:r>
            <a:r>
              <a:rPr lang="en-US" b="true" sz="2000" spc="-32" strike="noStrike" u="none">
                <a:solidFill>
                  <a:srgbClr val="000000"/>
                </a:solidFill>
                <a:latin typeface="Inter Semi-Bold"/>
                <a:ea typeface="Inter Semi-Bold"/>
                <a:cs typeface="Inter Semi-Bold"/>
                <a:sym typeface="Inter Semi-Bold"/>
              </a:rPr>
              <a:t>nsumer Su</a:t>
            </a:r>
            <a:r>
              <a:rPr lang="en-US" b="true" sz="2000" spc="-32" strike="noStrike" u="none">
                <a:solidFill>
                  <a:srgbClr val="000000"/>
                </a:solidFill>
                <a:latin typeface="Inter Semi-Bold"/>
                <a:ea typeface="Inter Semi-Bold"/>
                <a:cs typeface="Inter Semi-Bold"/>
                <a:sym typeface="Inter Semi-Bold"/>
              </a:rPr>
              <a:t>b</a:t>
            </a:r>
            <a:r>
              <a:rPr lang="en-US" b="true" sz="2000" spc="-32" strike="noStrike" u="none">
                <a:solidFill>
                  <a:srgbClr val="000000"/>
                </a:solidFill>
                <a:latin typeface="Inter Semi-Bold"/>
                <a:ea typeface="Inter Semi-Bold"/>
                <a:cs typeface="Inter Semi-Bold"/>
                <a:sym typeface="Inter Semi-Bold"/>
              </a:rPr>
              <a:t>s</a:t>
            </a:r>
            <a:r>
              <a:rPr lang="en-US" b="true" sz="2000" spc="-32" strike="noStrike" u="none">
                <a:solidFill>
                  <a:srgbClr val="000000"/>
                </a:solidFill>
                <a:latin typeface="Inter Semi-Bold"/>
                <a:ea typeface="Inter Semi-Bold"/>
                <a:cs typeface="Inter Semi-Bold"/>
                <a:sym typeface="Inter Semi-Bold"/>
              </a:rPr>
              <a:t>c</a:t>
            </a:r>
            <a:r>
              <a:rPr lang="en-US" b="true" sz="2000" spc="-32" strike="noStrike" u="none">
                <a:solidFill>
                  <a:srgbClr val="000000"/>
                </a:solidFill>
                <a:latin typeface="Inter Semi-Bold"/>
                <a:ea typeface="Inter Semi-Bold"/>
                <a:cs typeface="Inter Semi-Bold"/>
                <a:sym typeface="Inter Semi-Bold"/>
              </a:rPr>
              <a:t>ription</a:t>
            </a:r>
          </a:p>
        </p:txBody>
      </p:sp>
      <p:sp>
        <p:nvSpPr>
          <p:cNvPr name="TextBox 26" id="26"/>
          <p:cNvSpPr txBox="true"/>
          <p:nvPr/>
        </p:nvSpPr>
        <p:spPr>
          <a:xfrm rot="0">
            <a:off x="14052109" y="8182820"/>
            <a:ext cx="3175881" cy="1054100"/>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Affiliate</a:t>
            </a:r>
            <a:r>
              <a:rPr lang="en-US" sz="2000" spc="-32">
                <a:solidFill>
                  <a:srgbClr val="000000"/>
                </a:solidFill>
                <a:latin typeface="Inter"/>
                <a:ea typeface="Inter"/>
                <a:cs typeface="Inter"/>
                <a:sym typeface="Inter"/>
              </a:rPr>
              <a:t> and sponsored placement revenue from grocery and partners. </a:t>
            </a:r>
          </a:p>
        </p:txBody>
      </p:sp>
      <p:sp>
        <p:nvSpPr>
          <p:cNvPr name="TextBox 27" id="27"/>
          <p:cNvSpPr txBox="true"/>
          <p:nvPr/>
        </p:nvSpPr>
        <p:spPr>
          <a:xfrm rot="0">
            <a:off x="14052109" y="7751830"/>
            <a:ext cx="3175881"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Br</a:t>
            </a:r>
            <a:r>
              <a:rPr lang="en-US" b="true" sz="2000" spc="-32" strike="noStrike" u="none">
                <a:solidFill>
                  <a:srgbClr val="000000"/>
                </a:solidFill>
                <a:latin typeface="Inter Semi-Bold"/>
                <a:ea typeface="Inter Semi-Bold"/>
                <a:cs typeface="Inter Semi-Bold"/>
                <a:sym typeface="Inter Semi-Bold"/>
              </a:rPr>
              <a:t>and Partnerships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609600" y="609600"/>
            <a:ext cx="446522" cy="341792"/>
          </a:xfrm>
          <a:custGeom>
            <a:avLst/>
            <a:gdLst/>
            <a:ahLst/>
            <a:cxnLst/>
            <a:rect r="r" b="b" t="t" l="l"/>
            <a:pathLst>
              <a:path h="341792" w="446522">
                <a:moveTo>
                  <a:pt x="0" y="0"/>
                </a:moveTo>
                <a:lnTo>
                  <a:pt x="446522" y="0"/>
                </a:lnTo>
                <a:lnTo>
                  <a:pt x="446522" y="341792"/>
                </a:lnTo>
                <a:lnTo>
                  <a:pt x="0" y="3417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750557" y="5883557"/>
            <a:ext cx="3607557" cy="3793843"/>
            <a:chOff x="0" y="0"/>
            <a:chExt cx="950139" cy="999201"/>
          </a:xfrm>
        </p:grpSpPr>
        <p:sp>
          <p:nvSpPr>
            <p:cNvPr name="Freeform 4" id="4"/>
            <p:cNvSpPr/>
            <p:nvPr/>
          </p:nvSpPr>
          <p:spPr>
            <a:xfrm flipH="false" flipV="false" rot="0">
              <a:off x="0" y="0"/>
              <a:ext cx="950139" cy="999201"/>
            </a:xfrm>
            <a:custGeom>
              <a:avLst/>
              <a:gdLst/>
              <a:ahLst/>
              <a:cxnLst/>
              <a:rect r="r" b="b" t="t" l="l"/>
              <a:pathLst>
                <a:path h="999201" w="950139">
                  <a:moveTo>
                    <a:pt x="68673" y="0"/>
                  </a:moveTo>
                  <a:lnTo>
                    <a:pt x="881466" y="0"/>
                  </a:lnTo>
                  <a:cubicBezTo>
                    <a:pt x="899679" y="0"/>
                    <a:pt x="917146" y="7235"/>
                    <a:pt x="930025" y="20114"/>
                  </a:cubicBezTo>
                  <a:cubicBezTo>
                    <a:pt x="942903" y="32992"/>
                    <a:pt x="950139" y="50460"/>
                    <a:pt x="950139" y="68673"/>
                  </a:cubicBezTo>
                  <a:lnTo>
                    <a:pt x="950139" y="930528"/>
                  </a:lnTo>
                  <a:cubicBezTo>
                    <a:pt x="950139" y="948742"/>
                    <a:pt x="942903" y="966209"/>
                    <a:pt x="930025" y="979088"/>
                  </a:cubicBezTo>
                  <a:cubicBezTo>
                    <a:pt x="917146" y="991966"/>
                    <a:pt x="899679" y="999201"/>
                    <a:pt x="881466" y="999201"/>
                  </a:cubicBezTo>
                  <a:lnTo>
                    <a:pt x="68673" y="999201"/>
                  </a:lnTo>
                  <a:cubicBezTo>
                    <a:pt x="50460" y="999201"/>
                    <a:pt x="32992" y="991966"/>
                    <a:pt x="20114" y="979088"/>
                  </a:cubicBezTo>
                  <a:cubicBezTo>
                    <a:pt x="7235" y="966209"/>
                    <a:pt x="0" y="948742"/>
                    <a:pt x="0" y="930528"/>
                  </a:cubicBezTo>
                  <a:lnTo>
                    <a:pt x="0" y="68673"/>
                  </a:lnTo>
                  <a:cubicBezTo>
                    <a:pt x="0" y="50460"/>
                    <a:pt x="7235" y="32992"/>
                    <a:pt x="20114" y="20114"/>
                  </a:cubicBezTo>
                  <a:cubicBezTo>
                    <a:pt x="32992" y="7235"/>
                    <a:pt x="50460" y="0"/>
                    <a:pt x="68673" y="0"/>
                  </a:cubicBezTo>
                  <a:close/>
                </a:path>
              </a:pathLst>
            </a:custGeom>
            <a:solidFill>
              <a:srgbClr val="F5F5F5"/>
            </a:solidFill>
            <a:ln cap="rnd">
              <a:noFill/>
              <a:prstDash val="solid"/>
              <a:round/>
            </a:ln>
          </p:spPr>
        </p:sp>
        <p:sp>
          <p:nvSpPr>
            <p:cNvPr name="TextBox 5" id="5"/>
            <p:cNvSpPr txBox="true"/>
            <p:nvPr/>
          </p:nvSpPr>
          <p:spPr>
            <a:xfrm>
              <a:off x="0" y="0"/>
              <a:ext cx="950139" cy="999201"/>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8991600" y="1611118"/>
            <a:ext cx="8686800" cy="8066282"/>
            <a:chOff x="0" y="0"/>
            <a:chExt cx="2287881" cy="2124453"/>
          </a:xfrm>
        </p:grpSpPr>
        <p:sp>
          <p:nvSpPr>
            <p:cNvPr name="Freeform 7" id="7"/>
            <p:cNvSpPr/>
            <p:nvPr/>
          </p:nvSpPr>
          <p:spPr>
            <a:xfrm flipH="false" flipV="false" rot="0">
              <a:off x="0" y="0"/>
              <a:ext cx="2287881" cy="2124453"/>
            </a:xfrm>
            <a:custGeom>
              <a:avLst/>
              <a:gdLst/>
              <a:ahLst/>
              <a:cxnLst/>
              <a:rect r="r" b="b" t="t" l="l"/>
              <a:pathLst>
                <a:path h="2124453" w="2287881">
                  <a:moveTo>
                    <a:pt x="28519" y="0"/>
                  </a:moveTo>
                  <a:lnTo>
                    <a:pt x="2259362" y="0"/>
                  </a:lnTo>
                  <a:cubicBezTo>
                    <a:pt x="2275113" y="0"/>
                    <a:pt x="2287881" y="12769"/>
                    <a:pt x="2287881" y="28519"/>
                  </a:cubicBezTo>
                  <a:lnTo>
                    <a:pt x="2287881" y="2095934"/>
                  </a:lnTo>
                  <a:cubicBezTo>
                    <a:pt x="2287881" y="2111684"/>
                    <a:pt x="2275113" y="2124453"/>
                    <a:pt x="2259362" y="2124453"/>
                  </a:cubicBezTo>
                  <a:lnTo>
                    <a:pt x="28519" y="2124453"/>
                  </a:lnTo>
                  <a:cubicBezTo>
                    <a:pt x="12769" y="2124453"/>
                    <a:pt x="0" y="2111684"/>
                    <a:pt x="0" y="2095934"/>
                  </a:cubicBezTo>
                  <a:lnTo>
                    <a:pt x="0" y="28519"/>
                  </a:lnTo>
                  <a:cubicBezTo>
                    <a:pt x="0" y="12769"/>
                    <a:pt x="12769" y="0"/>
                    <a:pt x="28519" y="0"/>
                  </a:cubicBezTo>
                  <a:close/>
                </a:path>
              </a:pathLst>
            </a:custGeom>
            <a:solidFill>
              <a:srgbClr val="F5F5F5"/>
            </a:solidFill>
            <a:ln cap="rnd">
              <a:noFill/>
              <a:prstDash val="solid"/>
              <a:round/>
            </a:ln>
          </p:spPr>
        </p:sp>
        <p:sp>
          <p:nvSpPr>
            <p:cNvPr name="TextBox 8" id="8"/>
            <p:cNvSpPr txBox="true"/>
            <p:nvPr/>
          </p:nvSpPr>
          <p:spPr>
            <a:xfrm>
              <a:off x="0" y="0"/>
              <a:ext cx="2287881" cy="2124453"/>
            </a:xfrm>
            <a:prstGeom prst="rect">
              <a:avLst/>
            </a:prstGeom>
          </p:spPr>
          <p:txBody>
            <a:bodyPr anchor="ctr" rtlCol="false" tIns="50800" lIns="50800" bIns="50800" rIns="50800"/>
            <a:lstStyle/>
            <a:p>
              <a:pPr algn="ctr" marL="0" indent="0" lvl="0">
                <a:lnSpc>
                  <a:spcPts val="2640"/>
                </a:lnSpc>
                <a:spcBef>
                  <a:spcPct val="0"/>
                </a:spcBef>
              </a:pPr>
            </a:p>
          </p:txBody>
        </p:sp>
      </p:grpSp>
      <p:pic>
        <p:nvPicPr>
          <p:cNvPr name="Picture 9" id="9"/>
          <p:cNvPicPr>
            <a:picLocks noChangeAspect="true"/>
          </p:cNvPicPr>
          <p:nvPr/>
        </p:nvPicPr>
        <p:blipFill>
          <a:blip r:embed="rId4"/>
          <a:stretch>
            <a:fillRect/>
          </a:stretch>
        </p:blipFill>
        <p:spPr>
          <a:xfrm rot="0">
            <a:off x="8736530" y="1414653"/>
            <a:ext cx="9196939" cy="8459210"/>
          </a:xfrm>
          <a:prstGeom prst="rect">
            <a:avLst/>
          </a:prstGeom>
        </p:spPr>
      </p:pic>
      <p:grpSp>
        <p:nvGrpSpPr>
          <p:cNvPr name="Group 10" id="10"/>
          <p:cNvGrpSpPr/>
          <p:nvPr/>
        </p:nvGrpSpPr>
        <p:grpSpPr>
          <a:xfrm rot="0">
            <a:off x="5257800" y="6449050"/>
            <a:ext cx="838200" cy="838200"/>
            <a:chOff x="0" y="0"/>
            <a:chExt cx="160553" cy="160553"/>
          </a:xfrm>
        </p:grpSpPr>
        <p:sp>
          <p:nvSpPr>
            <p:cNvPr name="Freeform 11" id="11"/>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12" id="12"/>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13" id="13"/>
          <p:cNvSpPr/>
          <p:nvPr/>
        </p:nvSpPr>
        <p:spPr>
          <a:xfrm flipH="false" flipV="false" rot="0">
            <a:off x="5454950" y="6639550"/>
            <a:ext cx="443900" cy="457200"/>
          </a:xfrm>
          <a:custGeom>
            <a:avLst/>
            <a:gdLst/>
            <a:ahLst/>
            <a:cxnLst/>
            <a:rect r="r" b="b" t="t" l="l"/>
            <a:pathLst>
              <a:path h="457200" w="443900">
                <a:moveTo>
                  <a:pt x="0" y="0"/>
                </a:moveTo>
                <a:lnTo>
                  <a:pt x="443900" y="0"/>
                </a:lnTo>
                <a:lnTo>
                  <a:pt x="4439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609600" y="5883557"/>
            <a:ext cx="3607557" cy="3793843"/>
            <a:chOff x="0" y="0"/>
            <a:chExt cx="950139" cy="999201"/>
          </a:xfrm>
        </p:grpSpPr>
        <p:sp>
          <p:nvSpPr>
            <p:cNvPr name="Freeform 15" id="15"/>
            <p:cNvSpPr/>
            <p:nvPr/>
          </p:nvSpPr>
          <p:spPr>
            <a:xfrm flipH="false" flipV="false" rot="0">
              <a:off x="0" y="0"/>
              <a:ext cx="950139" cy="999201"/>
            </a:xfrm>
            <a:custGeom>
              <a:avLst/>
              <a:gdLst/>
              <a:ahLst/>
              <a:cxnLst/>
              <a:rect r="r" b="b" t="t" l="l"/>
              <a:pathLst>
                <a:path h="999201" w="950139">
                  <a:moveTo>
                    <a:pt x="68673" y="0"/>
                  </a:moveTo>
                  <a:lnTo>
                    <a:pt x="881466" y="0"/>
                  </a:lnTo>
                  <a:cubicBezTo>
                    <a:pt x="899679" y="0"/>
                    <a:pt x="917146" y="7235"/>
                    <a:pt x="930025" y="20114"/>
                  </a:cubicBezTo>
                  <a:cubicBezTo>
                    <a:pt x="942903" y="32992"/>
                    <a:pt x="950139" y="50460"/>
                    <a:pt x="950139" y="68673"/>
                  </a:cubicBezTo>
                  <a:lnTo>
                    <a:pt x="950139" y="930528"/>
                  </a:lnTo>
                  <a:cubicBezTo>
                    <a:pt x="950139" y="948742"/>
                    <a:pt x="942903" y="966209"/>
                    <a:pt x="930025" y="979088"/>
                  </a:cubicBezTo>
                  <a:cubicBezTo>
                    <a:pt x="917146" y="991966"/>
                    <a:pt x="899679" y="999201"/>
                    <a:pt x="881466" y="999201"/>
                  </a:cubicBezTo>
                  <a:lnTo>
                    <a:pt x="68673" y="999201"/>
                  </a:lnTo>
                  <a:cubicBezTo>
                    <a:pt x="50460" y="999201"/>
                    <a:pt x="32992" y="991966"/>
                    <a:pt x="20114" y="979088"/>
                  </a:cubicBezTo>
                  <a:cubicBezTo>
                    <a:pt x="7235" y="966209"/>
                    <a:pt x="0" y="948742"/>
                    <a:pt x="0" y="930528"/>
                  </a:cubicBezTo>
                  <a:lnTo>
                    <a:pt x="0" y="68673"/>
                  </a:lnTo>
                  <a:cubicBezTo>
                    <a:pt x="0" y="50460"/>
                    <a:pt x="7235" y="32992"/>
                    <a:pt x="20114" y="20114"/>
                  </a:cubicBezTo>
                  <a:cubicBezTo>
                    <a:pt x="32992" y="7235"/>
                    <a:pt x="50460" y="0"/>
                    <a:pt x="68673" y="0"/>
                  </a:cubicBezTo>
                  <a:close/>
                </a:path>
              </a:pathLst>
            </a:custGeom>
            <a:solidFill>
              <a:srgbClr val="F5F5F5"/>
            </a:solidFill>
            <a:ln cap="rnd">
              <a:noFill/>
              <a:prstDash val="solid"/>
              <a:round/>
            </a:ln>
          </p:spPr>
        </p:sp>
        <p:sp>
          <p:nvSpPr>
            <p:cNvPr name="TextBox 16" id="16"/>
            <p:cNvSpPr txBox="true"/>
            <p:nvPr/>
          </p:nvSpPr>
          <p:spPr>
            <a:xfrm>
              <a:off x="0" y="0"/>
              <a:ext cx="950139" cy="999201"/>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7" id="17"/>
          <p:cNvGrpSpPr/>
          <p:nvPr/>
        </p:nvGrpSpPr>
        <p:grpSpPr>
          <a:xfrm rot="0">
            <a:off x="1116843" y="6449050"/>
            <a:ext cx="838200" cy="838200"/>
            <a:chOff x="0" y="0"/>
            <a:chExt cx="160553" cy="160553"/>
          </a:xfrm>
        </p:grpSpPr>
        <p:sp>
          <p:nvSpPr>
            <p:cNvPr name="Freeform 18" id="18"/>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19" id="19"/>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20" id="20"/>
          <p:cNvSpPr/>
          <p:nvPr/>
        </p:nvSpPr>
        <p:spPr>
          <a:xfrm flipH="false" flipV="false" rot="0">
            <a:off x="1307343" y="66395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1117979" y="8259727"/>
            <a:ext cx="2590800" cy="847725"/>
          </a:xfrm>
          <a:prstGeom prst="rect">
            <a:avLst/>
          </a:prstGeom>
        </p:spPr>
        <p:txBody>
          <a:bodyPr anchor="t" rtlCol="false" tIns="0" lIns="0" bIns="0" rIns="0">
            <a:spAutoFit/>
          </a:bodyPr>
          <a:lstStyle/>
          <a:p>
            <a:pPr algn="l" marL="0" indent="0" lvl="0">
              <a:lnSpc>
                <a:spcPts val="6720"/>
              </a:lnSpc>
            </a:pPr>
            <a:r>
              <a:rPr lang="en-US" b="true" sz="5600" spc="-89">
                <a:solidFill>
                  <a:srgbClr val="FF5B37"/>
                </a:solidFill>
                <a:latin typeface="Inter Bold"/>
                <a:ea typeface="Inter Bold"/>
                <a:cs typeface="Inter Bold"/>
                <a:sym typeface="Inter Bold"/>
              </a:rPr>
              <a:t>7</a:t>
            </a:r>
            <a:r>
              <a:rPr lang="en-US" b="true" sz="5600" spc="-89">
                <a:solidFill>
                  <a:srgbClr val="FF5B37"/>
                </a:solidFill>
                <a:latin typeface="Inter Bold"/>
                <a:ea typeface="Inter Bold"/>
                <a:cs typeface="Inter Bold"/>
                <a:sym typeface="Inter Bold"/>
              </a:rPr>
              <a:t>4.2%</a:t>
            </a:r>
          </a:p>
        </p:txBody>
      </p:sp>
      <p:sp>
        <p:nvSpPr>
          <p:cNvPr name="TextBox 22" id="22"/>
          <p:cNvSpPr txBox="true"/>
          <p:nvPr/>
        </p:nvSpPr>
        <p:spPr>
          <a:xfrm rot="0">
            <a:off x="5257800" y="7732854"/>
            <a:ext cx="2591936"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User Rating</a:t>
            </a:r>
          </a:p>
        </p:txBody>
      </p:sp>
      <p:sp>
        <p:nvSpPr>
          <p:cNvPr name="TextBox 23" id="23"/>
          <p:cNvSpPr txBox="true"/>
          <p:nvPr/>
        </p:nvSpPr>
        <p:spPr>
          <a:xfrm rot="0">
            <a:off x="1195748" y="613809"/>
            <a:ext cx="1391384" cy="333375"/>
          </a:xfrm>
          <a:prstGeom prst="rect">
            <a:avLst/>
          </a:prstGeom>
        </p:spPr>
        <p:txBody>
          <a:bodyPr anchor="t" rtlCol="false" tIns="0" lIns="0" bIns="0" rIns="0">
            <a:spAutoFit/>
          </a:bodyPr>
          <a:lstStyle/>
          <a:p>
            <a:pPr algn="l" marL="0" indent="0" lvl="0">
              <a:lnSpc>
                <a:spcPts val="2640"/>
              </a:lnSpc>
              <a:spcBef>
                <a:spcPct val="0"/>
              </a:spcBef>
            </a:pPr>
            <a:r>
              <a:rPr lang="en-US" b="true" sz="2200" spc="-35">
                <a:solidFill>
                  <a:srgbClr val="000000"/>
                </a:solidFill>
                <a:latin typeface="Inter Bold"/>
                <a:ea typeface="Inter Bold"/>
                <a:cs typeface="Inter Bold"/>
                <a:sym typeface="Inter Bold"/>
              </a:rPr>
              <a:t>Rimberio</a:t>
            </a:r>
          </a:p>
        </p:txBody>
      </p:sp>
      <p:sp>
        <p:nvSpPr>
          <p:cNvPr name="TextBox 24" id="24"/>
          <p:cNvSpPr txBox="true"/>
          <p:nvPr/>
        </p:nvSpPr>
        <p:spPr>
          <a:xfrm rot="0">
            <a:off x="1117979" y="2181065"/>
            <a:ext cx="6731757" cy="971550"/>
          </a:xfrm>
          <a:prstGeom prst="rect">
            <a:avLst/>
          </a:prstGeom>
        </p:spPr>
        <p:txBody>
          <a:bodyPr anchor="t" rtlCol="false" tIns="0" lIns="0" bIns="0" rIns="0">
            <a:spAutoFit/>
          </a:bodyPr>
          <a:lstStyle/>
          <a:p>
            <a:pPr algn="l" marL="0" indent="0" lvl="0">
              <a:lnSpc>
                <a:spcPts val="7679"/>
              </a:lnSpc>
            </a:pPr>
            <a:r>
              <a:rPr lang="en-US" b="true" sz="6399" spc="-102">
                <a:solidFill>
                  <a:srgbClr val="000000"/>
                </a:solidFill>
                <a:latin typeface="Inter Bold"/>
                <a:ea typeface="Inter Bold"/>
                <a:cs typeface="Inter Bold"/>
                <a:sym typeface="Inter Bold"/>
              </a:rPr>
              <a:t>Traction</a:t>
            </a:r>
            <a:r>
              <a:rPr lang="en-US" b="true" sz="6399" spc="-102">
                <a:solidFill>
                  <a:srgbClr val="000000"/>
                </a:solidFill>
                <a:latin typeface="Inter Bold"/>
                <a:ea typeface="Inter Bold"/>
                <a:cs typeface="Inter Bold"/>
                <a:sym typeface="Inter Bold"/>
              </a:rPr>
              <a:t> Growth</a:t>
            </a:r>
          </a:p>
        </p:txBody>
      </p:sp>
      <p:sp>
        <p:nvSpPr>
          <p:cNvPr name="TextBox 25" id="25"/>
          <p:cNvSpPr txBox="true"/>
          <p:nvPr/>
        </p:nvSpPr>
        <p:spPr>
          <a:xfrm rot="0">
            <a:off x="5258936" y="8259727"/>
            <a:ext cx="2590800" cy="847725"/>
          </a:xfrm>
          <a:prstGeom prst="rect">
            <a:avLst/>
          </a:prstGeom>
        </p:spPr>
        <p:txBody>
          <a:bodyPr anchor="t" rtlCol="false" tIns="0" lIns="0" bIns="0" rIns="0">
            <a:spAutoFit/>
          </a:bodyPr>
          <a:lstStyle/>
          <a:p>
            <a:pPr algn="l" marL="0" indent="0" lvl="0">
              <a:lnSpc>
                <a:spcPts val="6720"/>
              </a:lnSpc>
            </a:pPr>
            <a:r>
              <a:rPr lang="en-US" b="true" sz="5600" spc="-89">
                <a:solidFill>
                  <a:srgbClr val="FF5B37"/>
                </a:solidFill>
                <a:latin typeface="Inter Bold"/>
                <a:ea typeface="Inter Bold"/>
                <a:cs typeface="Inter Bold"/>
                <a:sym typeface="Inter Bold"/>
              </a:rPr>
              <a:t>4.8/5.0</a:t>
            </a:r>
          </a:p>
        </p:txBody>
      </p:sp>
      <p:sp>
        <p:nvSpPr>
          <p:cNvPr name="TextBox 26" id="26"/>
          <p:cNvSpPr txBox="true"/>
          <p:nvPr/>
        </p:nvSpPr>
        <p:spPr>
          <a:xfrm rot="0">
            <a:off x="1116843" y="7732854"/>
            <a:ext cx="2591936" cy="349250"/>
          </a:xfrm>
          <a:prstGeom prst="rect">
            <a:avLst/>
          </a:prstGeom>
        </p:spPr>
        <p:txBody>
          <a:bodyPr anchor="t" rtlCol="false" tIns="0" lIns="0" bIns="0" rIns="0">
            <a:spAutoFit/>
          </a:bodyPr>
          <a:lstStyle/>
          <a:p>
            <a:pPr algn="l"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Retention Rate</a:t>
            </a:r>
          </a:p>
        </p:txBody>
      </p:sp>
      <p:sp>
        <p:nvSpPr>
          <p:cNvPr name="TextBox 27" id="27"/>
          <p:cNvSpPr txBox="true"/>
          <p:nvPr/>
        </p:nvSpPr>
        <p:spPr>
          <a:xfrm rot="0">
            <a:off x="1117979" y="3541506"/>
            <a:ext cx="6732893" cy="140652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609600" y="609600"/>
            <a:ext cx="446522" cy="341792"/>
          </a:xfrm>
          <a:custGeom>
            <a:avLst/>
            <a:gdLst/>
            <a:ahLst/>
            <a:cxnLst/>
            <a:rect r="r" b="b" t="t" l="l"/>
            <a:pathLst>
              <a:path h="341792" w="446522">
                <a:moveTo>
                  <a:pt x="0" y="0"/>
                </a:moveTo>
                <a:lnTo>
                  <a:pt x="446522" y="0"/>
                </a:lnTo>
                <a:lnTo>
                  <a:pt x="446522" y="341792"/>
                </a:lnTo>
                <a:lnTo>
                  <a:pt x="0" y="3417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916706" y="7255226"/>
            <a:ext cx="3564255" cy="2422174"/>
            <a:chOff x="0" y="0"/>
            <a:chExt cx="938734" cy="637939"/>
          </a:xfrm>
        </p:grpSpPr>
        <p:sp>
          <p:nvSpPr>
            <p:cNvPr name="Freeform 4" id="4"/>
            <p:cNvSpPr/>
            <p:nvPr/>
          </p:nvSpPr>
          <p:spPr>
            <a:xfrm flipH="false" flipV="false" rot="0">
              <a:off x="0" y="0"/>
              <a:ext cx="938734" cy="637939"/>
            </a:xfrm>
            <a:custGeom>
              <a:avLst/>
              <a:gdLst/>
              <a:ahLst/>
              <a:cxnLst/>
              <a:rect r="r" b="b" t="t" l="l"/>
              <a:pathLst>
                <a:path h="637939" w="938734">
                  <a:moveTo>
                    <a:pt x="69507" y="0"/>
                  </a:moveTo>
                  <a:lnTo>
                    <a:pt x="869227" y="0"/>
                  </a:lnTo>
                  <a:cubicBezTo>
                    <a:pt x="907614" y="0"/>
                    <a:pt x="938734" y="31119"/>
                    <a:pt x="938734" y="69507"/>
                  </a:cubicBezTo>
                  <a:lnTo>
                    <a:pt x="938734" y="568432"/>
                  </a:lnTo>
                  <a:cubicBezTo>
                    <a:pt x="938734" y="606820"/>
                    <a:pt x="907614" y="637939"/>
                    <a:pt x="869227" y="637939"/>
                  </a:cubicBezTo>
                  <a:lnTo>
                    <a:pt x="69507" y="637939"/>
                  </a:lnTo>
                  <a:cubicBezTo>
                    <a:pt x="31119" y="637939"/>
                    <a:pt x="0" y="606820"/>
                    <a:pt x="0" y="568432"/>
                  </a:cubicBezTo>
                  <a:lnTo>
                    <a:pt x="0" y="69507"/>
                  </a:lnTo>
                  <a:cubicBezTo>
                    <a:pt x="0" y="31119"/>
                    <a:pt x="31119" y="0"/>
                    <a:pt x="69507" y="0"/>
                  </a:cubicBezTo>
                  <a:close/>
                </a:path>
              </a:pathLst>
            </a:custGeom>
            <a:solidFill>
              <a:srgbClr val="F5F5F5"/>
            </a:solidFill>
            <a:ln cap="rnd">
              <a:noFill/>
              <a:prstDash val="solid"/>
              <a:round/>
            </a:ln>
          </p:spPr>
        </p:sp>
        <p:sp>
          <p:nvSpPr>
            <p:cNvPr name="TextBox 5" id="5"/>
            <p:cNvSpPr txBox="true"/>
            <p:nvPr/>
          </p:nvSpPr>
          <p:spPr>
            <a:xfrm>
              <a:off x="0" y="0"/>
              <a:ext cx="938734" cy="637939"/>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5916706" y="1611118"/>
            <a:ext cx="3564255" cy="5344567"/>
            <a:chOff x="0" y="0"/>
            <a:chExt cx="552196" cy="828013"/>
          </a:xfrm>
        </p:grpSpPr>
        <p:sp>
          <p:nvSpPr>
            <p:cNvPr name="Freeform 7" id="7"/>
            <p:cNvSpPr/>
            <p:nvPr/>
          </p:nvSpPr>
          <p:spPr>
            <a:xfrm flipH="false" flipV="false" rot="394668">
              <a:off x="-38110" y="-21404"/>
              <a:ext cx="628416" cy="870822"/>
            </a:xfrm>
            <a:custGeom>
              <a:avLst/>
              <a:gdLst/>
              <a:ahLst/>
              <a:cxnLst/>
              <a:rect r="r" b="b" t="t" l="l"/>
              <a:pathLst>
                <a:path h="870822" w="628416">
                  <a:moveTo>
                    <a:pt x="61552" y="47795"/>
                  </a:moveTo>
                  <a:lnTo>
                    <a:pt x="472014" y="464"/>
                  </a:lnTo>
                  <a:cubicBezTo>
                    <a:pt x="510149" y="-3934"/>
                    <a:pt x="544628" y="23416"/>
                    <a:pt x="549026" y="61551"/>
                  </a:cubicBezTo>
                  <a:lnTo>
                    <a:pt x="627952" y="746015"/>
                  </a:lnTo>
                  <a:cubicBezTo>
                    <a:pt x="632350" y="784150"/>
                    <a:pt x="605000" y="818629"/>
                    <a:pt x="566865" y="823026"/>
                  </a:cubicBezTo>
                  <a:lnTo>
                    <a:pt x="156403" y="870357"/>
                  </a:lnTo>
                  <a:cubicBezTo>
                    <a:pt x="118268" y="874755"/>
                    <a:pt x="83788" y="847405"/>
                    <a:pt x="79391" y="809270"/>
                  </a:cubicBezTo>
                  <a:lnTo>
                    <a:pt x="464" y="124807"/>
                  </a:lnTo>
                  <a:cubicBezTo>
                    <a:pt x="-3933" y="86672"/>
                    <a:pt x="23417" y="52192"/>
                    <a:pt x="61552" y="47795"/>
                  </a:cubicBezTo>
                  <a:close/>
                </a:path>
              </a:pathLst>
            </a:custGeom>
            <a:blipFill>
              <a:blip r:embed="rId4"/>
              <a:stretch>
                <a:fillRect l="-8486" t="-861" r="-13387" b="-31144"/>
              </a:stretch>
            </a:blipFill>
          </p:spPr>
        </p:sp>
      </p:grpSp>
      <p:sp>
        <p:nvSpPr>
          <p:cNvPr name="AutoShape 8" id="8"/>
          <p:cNvSpPr/>
          <p:nvPr/>
        </p:nvSpPr>
        <p:spPr>
          <a:xfrm flipV="true">
            <a:off x="7036566" y="8692539"/>
            <a:ext cx="1324535" cy="0"/>
          </a:xfrm>
          <a:prstGeom prst="line">
            <a:avLst/>
          </a:prstGeom>
          <a:ln cap="rnd" w="9525">
            <a:solidFill>
              <a:srgbClr val="000000"/>
            </a:solidFill>
            <a:prstDash val="solid"/>
            <a:headEnd type="none" len="sm" w="sm"/>
            <a:tailEnd type="none" len="sm" w="sm"/>
          </a:ln>
        </p:spPr>
      </p:sp>
      <p:grpSp>
        <p:nvGrpSpPr>
          <p:cNvPr name="Group 9" id="9"/>
          <p:cNvGrpSpPr/>
          <p:nvPr/>
        </p:nvGrpSpPr>
        <p:grpSpPr>
          <a:xfrm rot="0">
            <a:off x="14114145" y="7255226"/>
            <a:ext cx="3564255" cy="2422174"/>
            <a:chOff x="0" y="0"/>
            <a:chExt cx="938734" cy="637939"/>
          </a:xfrm>
        </p:grpSpPr>
        <p:sp>
          <p:nvSpPr>
            <p:cNvPr name="Freeform 10" id="10"/>
            <p:cNvSpPr/>
            <p:nvPr/>
          </p:nvSpPr>
          <p:spPr>
            <a:xfrm flipH="false" flipV="false" rot="0">
              <a:off x="0" y="0"/>
              <a:ext cx="938734" cy="637939"/>
            </a:xfrm>
            <a:custGeom>
              <a:avLst/>
              <a:gdLst/>
              <a:ahLst/>
              <a:cxnLst/>
              <a:rect r="r" b="b" t="t" l="l"/>
              <a:pathLst>
                <a:path h="637939" w="938734">
                  <a:moveTo>
                    <a:pt x="69507" y="0"/>
                  </a:moveTo>
                  <a:lnTo>
                    <a:pt x="869227" y="0"/>
                  </a:lnTo>
                  <a:cubicBezTo>
                    <a:pt x="907614" y="0"/>
                    <a:pt x="938734" y="31119"/>
                    <a:pt x="938734" y="69507"/>
                  </a:cubicBezTo>
                  <a:lnTo>
                    <a:pt x="938734" y="568432"/>
                  </a:lnTo>
                  <a:cubicBezTo>
                    <a:pt x="938734" y="606820"/>
                    <a:pt x="907614" y="637939"/>
                    <a:pt x="869227" y="637939"/>
                  </a:cubicBezTo>
                  <a:lnTo>
                    <a:pt x="69507" y="637939"/>
                  </a:lnTo>
                  <a:cubicBezTo>
                    <a:pt x="31119" y="637939"/>
                    <a:pt x="0" y="606820"/>
                    <a:pt x="0" y="568432"/>
                  </a:cubicBezTo>
                  <a:lnTo>
                    <a:pt x="0" y="69507"/>
                  </a:lnTo>
                  <a:cubicBezTo>
                    <a:pt x="0" y="31119"/>
                    <a:pt x="31119" y="0"/>
                    <a:pt x="69507" y="0"/>
                  </a:cubicBezTo>
                  <a:close/>
                </a:path>
              </a:pathLst>
            </a:custGeom>
            <a:solidFill>
              <a:srgbClr val="F5F5F5"/>
            </a:solidFill>
            <a:ln cap="rnd">
              <a:noFill/>
              <a:prstDash val="solid"/>
              <a:round/>
            </a:ln>
          </p:spPr>
        </p:sp>
        <p:sp>
          <p:nvSpPr>
            <p:cNvPr name="TextBox 11" id="11"/>
            <p:cNvSpPr txBox="true"/>
            <p:nvPr/>
          </p:nvSpPr>
          <p:spPr>
            <a:xfrm>
              <a:off x="0" y="0"/>
              <a:ext cx="938734" cy="637939"/>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2" id="12"/>
          <p:cNvGrpSpPr/>
          <p:nvPr/>
        </p:nvGrpSpPr>
        <p:grpSpPr>
          <a:xfrm rot="0">
            <a:off x="14114145" y="1611118"/>
            <a:ext cx="3564255" cy="5344567"/>
            <a:chOff x="0" y="0"/>
            <a:chExt cx="552196" cy="828013"/>
          </a:xfrm>
        </p:grpSpPr>
        <p:sp>
          <p:nvSpPr>
            <p:cNvPr name="Freeform 13" id="13"/>
            <p:cNvSpPr/>
            <p:nvPr/>
          </p:nvSpPr>
          <p:spPr>
            <a:xfrm flipH="false" flipV="false" rot="0">
              <a:off x="0" y="0"/>
              <a:ext cx="552196" cy="828013"/>
            </a:xfrm>
            <a:custGeom>
              <a:avLst/>
              <a:gdLst/>
              <a:ahLst/>
              <a:cxnLst/>
              <a:rect r="r" b="b" t="t" l="l"/>
              <a:pathLst>
                <a:path h="828013" w="552196">
                  <a:moveTo>
                    <a:pt x="69507" y="0"/>
                  </a:moveTo>
                  <a:lnTo>
                    <a:pt x="482689" y="0"/>
                  </a:lnTo>
                  <a:cubicBezTo>
                    <a:pt x="521077" y="0"/>
                    <a:pt x="552196" y="31119"/>
                    <a:pt x="552196" y="69507"/>
                  </a:cubicBezTo>
                  <a:lnTo>
                    <a:pt x="552196" y="758506"/>
                  </a:lnTo>
                  <a:cubicBezTo>
                    <a:pt x="552196" y="796894"/>
                    <a:pt x="521077" y="828013"/>
                    <a:pt x="482689" y="828013"/>
                  </a:cubicBezTo>
                  <a:lnTo>
                    <a:pt x="69507" y="828013"/>
                  </a:lnTo>
                  <a:cubicBezTo>
                    <a:pt x="31119" y="828013"/>
                    <a:pt x="0" y="796894"/>
                    <a:pt x="0" y="758506"/>
                  </a:cubicBezTo>
                  <a:lnTo>
                    <a:pt x="0" y="69507"/>
                  </a:lnTo>
                  <a:cubicBezTo>
                    <a:pt x="0" y="31119"/>
                    <a:pt x="31119" y="0"/>
                    <a:pt x="69507" y="0"/>
                  </a:cubicBezTo>
                  <a:close/>
                </a:path>
              </a:pathLst>
            </a:custGeom>
            <a:blipFill>
              <a:blip r:embed="rId5"/>
              <a:stretch>
                <a:fillRect l="-15521" t="-13815" r="-23367" b="-25207"/>
              </a:stretch>
            </a:blipFill>
          </p:spPr>
        </p:sp>
      </p:grpSp>
      <p:sp>
        <p:nvSpPr>
          <p:cNvPr name="AutoShape 14" id="14"/>
          <p:cNvSpPr/>
          <p:nvPr/>
        </p:nvSpPr>
        <p:spPr>
          <a:xfrm>
            <a:off x="15234005" y="8692539"/>
            <a:ext cx="1324535" cy="0"/>
          </a:xfrm>
          <a:prstGeom prst="line">
            <a:avLst/>
          </a:prstGeom>
          <a:ln cap="rnd" w="9525">
            <a:solidFill>
              <a:srgbClr val="000000"/>
            </a:solidFill>
            <a:prstDash val="solid"/>
            <a:headEnd type="none" len="sm" w="sm"/>
            <a:tailEnd type="none" len="sm" w="sm"/>
          </a:ln>
        </p:spPr>
      </p:sp>
      <p:grpSp>
        <p:nvGrpSpPr>
          <p:cNvPr name="Group 15" id="15"/>
          <p:cNvGrpSpPr/>
          <p:nvPr/>
        </p:nvGrpSpPr>
        <p:grpSpPr>
          <a:xfrm rot="0">
            <a:off x="10244222" y="7255226"/>
            <a:ext cx="3564255" cy="2422174"/>
            <a:chOff x="0" y="0"/>
            <a:chExt cx="938734" cy="637939"/>
          </a:xfrm>
        </p:grpSpPr>
        <p:sp>
          <p:nvSpPr>
            <p:cNvPr name="Freeform 16" id="16"/>
            <p:cNvSpPr/>
            <p:nvPr/>
          </p:nvSpPr>
          <p:spPr>
            <a:xfrm flipH="false" flipV="false" rot="0">
              <a:off x="0" y="0"/>
              <a:ext cx="938734" cy="637939"/>
            </a:xfrm>
            <a:custGeom>
              <a:avLst/>
              <a:gdLst/>
              <a:ahLst/>
              <a:cxnLst/>
              <a:rect r="r" b="b" t="t" l="l"/>
              <a:pathLst>
                <a:path h="637939" w="938734">
                  <a:moveTo>
                    <a:pt x="69507" y="0"/>
                  </a:moveTo>
                  <a:lnTo>
                    <a:pt x="869227" y="0"/>
                  </a:lnTo>
                  <a:cubicBezTo>
                    <a:pt x="907614" y="0"/>
                    <a:pt x="938734" y="31119"/>
                    <a:pt x="938734" y="69507"/>
                  </a:cubicBezTo>
                  <a:lnTo>
                    <a:pt x="938734" y="568432"/>
                  </a:lnTo>
                  <a:cubicBezTo>
                    <a:pt x="938734" y="606820"/>
                    <a:pt x="907614" y="637939"/>
                    <a:pt x="869227" y="637939"/>
                  </a:cubicBezTo>
                  <a:lnTo>
                    <a:pt x="69507" y="637939"/>
                  </a:lnTo>
                  <a:cubicBezTo>
                    <a:pt x="31119" y="637939"/>
                    <a:pt x="0" y="606820"/>
                    <a:pt x="0" y="568432"/>
                  </a:cubicBezTo>
                  <a:lnTo>
                    <a:pt x="0" y="69507"/>
                  </a:lnTo>
                  <a:cubicBezTo>
                    <a:pt x="0" y="31119"/>
                    <a:pt x="31119" y="0"/>
                    <a:pt x="69507" y="0"/>
                  </a:cubicBezTo>
                  <a:close/>
                </a:path>
              </a:pathLst>
            </a:custGeom>
            <a:solidFill>
              <a:srgbClr val="F5F5F5"/>
            </a:solidFill>
            <a:ln cap="rnd">
              <a:noFill/>
              <a:prstDash val="solid"/>
              <a:round/>
            </a:ln>
          </p:spPr>
        </p:sp>
        <p:sp>
          <p:nvSpPr>
            <p:cNvPr name="TextBox 17" id="17"/>
            <p:cNvSpPr txBox="true"/>
            <p:nvPr/>
          </p:nvSpPr>
          <p:spPr>
            <a:xfrm>
              <a:off x="0" y="0"/>
              <a:ext cx="938734" cy="637939"/>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8" id="18"/>
          <p:cNvGrpSpPr/>
          <p:nvPr/>
        </p:nvGrpSpPr>
        <p:grpSpPr>
          <a:xfrm rot="0">
            <a:off x="10244222" y="1611118"/>
            <a:ext cx="3564255" cy="5344567"/>
            <a:chOff x="0" y="0"/>
            <a:chExt cx="552196" cy="828013"/>
          </a:xfrm>
        </p:grpSpPr>
        <p:sp>
          <p:nvSpPr>
            <p:cNvPr name="Freeform 19" id="19"/>
            <p:cNvSpPr/>
            <p:nvPr/>
          </p:nvSpPr>
          <p:spPr>
            <a:xfrm flipH="false" flipV="false" rot="0">
              <a:off x="0" y="0"/>
              <a:ext cx="552196" cy="828013"/>
            </a:xfrm>
            <a:custGeom>
              <a:avLst/>
              <a:gdLst/>
              <a:ahLst/>
              <a:cxnLst/>
              <a:rect r="r" b="b" t="t" l="l"/>
              <a:pathLst>
                <a:path h="828013" w="552196">
                  <a:moveTo>
                    <a:pt x="69507" y="0"/>
                  </a:moveTo>
                  <a:lnTo>
                    <a:pt x="482689" y="0"/>
                  </a:lnTo>
                  <a:cubicBezTo>
                    <a:pt x="521077" y="0"/>
                    <a:pt x="552196" y="31119"/>
                    <a:pt x="552196" y="69507"/>
                  </a:cubicBezTo>
                  <a:lnTo>
                    <a:pt x="552196" y="758506"/>
                  </a:lnTo>
                  <a:cubicBezTo>
                    <a:pt x="552196" y="796894"/>
                    <a:pt x="521077" y="828013"/>
                    <a:pt x="482689" y="828013"/>
                  </a:cubicBezTo>
                  <a:lnTo>
                    <a:pt x="69507" y="828013"/>
                  </a:lnTo>
                  <a:cubicBezTo>
                    <a:pt x="31119" y="828013"/>
                    <a:pt x="0" y="796894"/>
                    <a:pt x="0" y="758506"/>
                  </a:cubicBezTo>
                  <a:lnTo>
                    <a:pt x="0" y="69507"/>
                  </a:lnTo>
                  <a:cubicBezTo>
                    <a:pt x="0" y="31119"/>
                    <a:pt x="31119" y="0"/>
                    <a:pt x="69507" y="0"/>
                  </a:cubicBezTo>
                  <a:close/>
                </a:path>
              </a:pathLst>
            </a:custGeom>
            <a:blipFill>
              <a:blip r:embed="rId6"/>
              <a:stretch>
                <a:fillRect l="-15074" t="-12199" r="-19722" b="-22727"/>
              </a:stretch>
            </a:blipFill>
          </p:spPr>
        </p:sp>
      </p:grpSp>
      <p:sp>
        <p:nvSpPr>
          <p:cNvPr name="AutoShape 20" id="20"/>
          <p:cNvSpPr/>
          <p:nvPr/>
        </p:nvSpPr>
        <p:spPr>
          <a:xfrm>
            <a:off x="11364081" y="8692539"/>
            <a:ext cx="1324535" cy="0"/>
          </a:xfrm>
          <a:prstGeom prst="line">
            <a:avLst/>
          </a:prstGeom>
          <a:ln cap="rnd" w="9525">
            <a:solidFill>
              <a:srgbClr val="000000"/>
            </a:solidFill>
            <a:prstDash val="solid"/>
            <a:headEnd type="none" len="sm" w="sm"/>
            <a:tailEnd type="none" len="sm" w="sm"/>
          </a:ln>
        </p:spPr>
      </p:sp>
      <p:sp>
        <p:nvSpPr>
          <p:cNvPr name="TextBox 21" id="21"/>
          <p:cNvSpPr txBox="true"/>
          <p:nvPr/>
        </p:nvSpPr>
        <p:spPr>
          <a:xfrm rot="0">
            <a:off x="1195748" y="613809"/>
            <a:ext cx="1391384" cy="333375"/>
          </a:xfrm>
          <a:prstGeom prst="rect">
            <a:avLst/>
          </a:prstGeom>
        </p:spPr>
        <p:txBody>
          <a:bodyPr anchor="t" rtlCol="false" tIns="0" lIns="0" bIns="0" rIns="0">
            <a:spAutoFit/>
          </a:bodyPr>
          <a:lstStyle/>
          <a:p>
            <a:pPr algn="l" marL="0" indent="0" lvl="0">
              <a:lnSpc>
                <a:spcPts val="2640"/>
              </a:lnSpc>
              <a:spcBef>
                <a:spcPct val="0"/>
              </a:spcBef>
            </a:pPr>
            <a:r>
              <a:rPr lang="en-US" b="true" sz="2200" spc="-35">
                <a:solidFill>
                  <a:srgbClr val="000000"/>
                </a:solidFill>
                <a:latin typeface="Inter Bold"/>
                <a:ea typeface="Inter Bold"/>
                <a:cs typeface="Inter Bold"/>
                <a:sym typeface="Inter Bold"/>
              </a:rPr>
              <a:t>Rimberio</a:t>
            </a:r>
          </a:p>
        </p:txBody>
      </p:sp>
      <p:sp>
        <p:nvSpPr>
          <p:cNvPr name="TextBox 22" id="22"/>
          <p:cNvSpPr txBox="true"/>
          <p:nvPr/>
        </p:nvSpPr>
        <p:spPr>
          <a:xfrm rot="0">
            <a:off x="609600" y="2340301"/>
            <a:ext cx="4343400" cy="2914650"/>
          </a:xfrm>
          <a:prstGeom prst="rect">
            <a:avLst/>
          </a:prstGeom>
        </p:spPr>
        <p:txBody>
          <a:bodyPr anchor="t" rtlCol="false" tIns="0" lIns="0" bIns="0" rIns="0">
            <a:spAutoFit/>
          </a:bodyPr>
          <a:lstStyle/>
          <a:p>
            <a:pPr algn="l" marL="0" indent="0" lvl="0">
              <a:lnSpc>
                <a:spcPts val="7679"/>
              </a:lnSpc>
            </a:pPr>
            <a:r>
              <a:rPr lang="en-US" b="true" sz="6399" spc="-102">
                <a:solidFill>
                  <a:srgbClr val="000000"/>
                </a:solidFill>
                <a:latin typeface="Inter Bold"/>
                <a:ea typeface="Inter Bold"/>
                <a:cs typeface="Inter Bold"/>
                <a:sym typeface="Inter Bold"/>
              </a:rPr>
              <a:t>Meet the</a:t>
            </a:r>
            <a:r>
              <a:rPr lang="en-US" b="true" sz="6399" spc="-102">
                <a:solidFill>
                  <a:srgbClr val="000000"/>
                </a:solidFill>
                <a:latin typeface="Inter Bold"/>
                <a:ea typeface="Inter Bold"/>
                <a:cs typeface="Inter Bold"/>
                <a:sym typeface="Inter Bold"/>
              </a:rPr>
              <a:t> Experts Team</a:t>
            </a:r>
          </a:p>
        </p:txBody>
      </p:sp>
      <p:sp>
        <p:nvSpPr>
          <p:cNvPr name="TextBox 23" id="23"/>
          <p:cNvSpPr txBox="true"/>
          <p:nvPr/>
        </p:nvSpPr>
        <p:spPr>
          <a:xfrm rot="0">
            <a:off x="6374298" y="7668431"/>
            <a:ext cx="2649071" cy="361950"/>
          </a:xfrm>
          <a:prstGeom prst="rect">
            <a:avLst/>
          </a:prstGeom>
        </p:spPr>
        <p:txBody>
          <a:bodyPr anchor="t" rtlCol="false" tIns="0" lIns="0" bIns="0" rIns="0">
            <a:spAutoFit/>
          </a:bodyPr>
          <a:lstStyle/>
          <a:p>
            <a:pPr algn="ctr" marL="0" indent="0" lvl="0">
              <a:lnSpc>
                <a:spcPts val="2879"/>
              </a:lnSpc>
            </a:pPr>
            <a:r>
              <a:rPr lang="en-US" b="true" sz="2400" spc="-38">
                <a:solidFill>
                  <a:srgbClr val="FF5B37"/>
                </a:solidFill>
                <a:latin typeface="Inter Bold"/>
                <a:ea typeface="Inter Bold"/>
                <a:cs typeface="Inter Bold"/>
                <a:sym typeface="Inter Bold"/>
              </a:rPr>
              <a:t>Aaron Loeb</a:t>
            </a:r>
          </a:p>
        </p:txBody>
      </p:sp>
      <p:sp>
        <p:nvSpPr>
          <p:cNvPr name="TextBox 24" id="24"/>
          <p:cNvSpPr txBox="true"/>
          <p:nvPr/>
        </p:nvSpPr>
        <p:spPr>
          <a:xfrm rot="0">
            <a:off x="6374298" y="8076590"/>
            <a:ext cx="2649071" cy="349250"/>
          </a:xfrm>
          <a:prstGeom prst="rect">
            <a:avLst/>
          </a:prstGeom>
        </p:spPr>
        <p:txBody>
          <a:bodyPr anchor="t" rtlCol="false" tIns="0" lIns="0" bIns="0" rIns="0">
            <a:spAutoFit/>
          </a:bodyPr>
          <a:lstStyle/>
          <a:p>
            <a:pPr algn="ctr"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Founder &amp; CEO</a:t>
            </a:r>
          </a:p>
        </p:txBody>
      </p:sp>
      <p:sp>
        <p:nvSpPr>
          <p:cNvPr name="TextBox 25" id="25"/>
          <p:cNvSpPr txBox="true"/>
          <p:nvPr/>
        </p:nvSpPr>
        <p:spPr>
          <a:xfrm rot="0">
            <a:off x="6374298" y="8914945"/>
            <a:ext cx="2649071" cy="349250"/>
          </a:xfrm>
          <a:prstGeom prst="rect">
            <a:avLst/>
          </a:prstGeom>
        </p:spPr>
        <p:txBody>
          <a:bodyPr anchor="t" rtlCol="false" tIns="0" lIns="0" bIns="0" rIns="0">
            <a:spAutoFit/>
          </a:bodyPr>
          <a:lstStyle/>
          <a:p>
            <a:pPr algn="ctr" marL="0" indent="0" lvl="0">
              <a:lnSpc>
                <a:spcPts val="2800"/>
              </a:lnSpc>
              <a:spcBef>
                <a:spcPct val="0"/>
              </a:spcBef>
            </a:pPr>
            <a:r>
              <a:rPr lang="en-US" sz="2000" spc="-32">
                <a:solidFill>
                  <a:srgbClr val="000000"/>
                </a:solidFill>
                <a:latin typeface="Inter"/>
                <a:ea typeface="Inter"/>
                <a:cs typeface="Inter"/>
                <a:sym typeface="Inter"/>
              </a:rPr>
              <a:t>123-456-7890</a:t>
            </a:r>
          </a:p>
        </p:txBody>
      </p:sp>
      <p:sp>
        <p:nvSpPr>
          <p:cNvPr name="TextBox 26" id="26"/>
          <p:cNvSpPr txBox="true"/>
          <p:nvPr/>
        </p:nvSpPr>
        <p:spPr>
          <a:xfrm rot="0">
            <a:off x="14571737" y="7668431"/>
            <a:ext cx="2649071" cy="361950"/>
          </a:xfrm>
          <a:prstGeom prst="rect">
            <a:avLst/>
          </a:prstGeom>
        </p:spPr>
        <p:txBody>
          <a:bodyPr anchor="t" rtlCol="false" tIns="0" lIns="0" bIns="0" rIns="0">
            <a:spAutoFit/>
          </a:bodyPr>
          <a:lstStyle/>
          <a:p>
            <a:pPr algn="ctr" marL="0" indent="0" lvl="0">
              <a:lnSpc>
                <a:spcPts val="2879"/>
              </a:lnSpc>
            </a:pPr>
            <a:r>
              <a:rPr lang="en-US" b="true" sz="2400" spc="-38">
                <a:solidFill>
                  <a:srgbClr val="FF5B37"/>
                </a:solidFill>
                <a:latin typeface="Inter Bold"/>
                <a:ea typeface="Inter Bold"/>
                <a:cs typeface="Inter Bold"/>
                <a:sym typeface="Inter Bold"/>
              </a:rPr>
              <a:t>Benjamin Shah</a:t>
            </a:r>
          </a:p>
        </p:txBody>
      </p:sp>
      <p:sp>
        <p:nvSpPr>
          <p:cNvPr name="TextBox 27" id="27"/>
          <p:cNvSpPr txBox="true"/>
          <p:nvPr/>
        </p:nvSpPr>
        <p:spPr>
          <a:xfrm rot="0">
            <a:off x="14571737" y="8076590"/>
            <a:ext cx="2649071" cy="349250"/>
          </a:xfrm>
          <a:prstGeom prst="rect">
            <a:avLst/>
          </a:prstGeom>
        </p:spPr>
        <p:txBody>
          <a:bodyPr anchor="t" rtlCol="false" tIns="0" lIns="0" bIns="0" rIns="0">
            <a:spAutoFit/>
          </a:bodyPr>
          <a:lstStyle/>
          <a:p>
            <a:pPr algn="ctr"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Growth Partnerships</a:t>
            </a:r>
          </a:p>
        </p:txBody>
      </p:sp>
      <p:sp>
        <p:nvSpPr>
          <p:cNvPr name="TextBox 28" id="28"/>
          <p:cNvSpPr txBox="true"/>
          <p:nvPr/>
        </p:nvSpPr>
        <p:spPr>
          <a:xfrm rot="0">
            <a:off x="14571737" y="8914945"/>
            <a:ext cx="2649071" cy="349250"/>
          </a:xfrm>
          <a:prstGeom prst="rect">
            <a:avLst/>
          </a:prstGeom>
        </p:spPr>
        <p:txBody>
          <a:bodyPr anchor="t" rtlCol="false" tIns="0" lIns="0" bIns="0" rIns="0">
            <a:spAutoFit/>
          </a:bodyPr>
          <a:lstStyle/>
          <a:p>
            <a:pPr algn="ctr" marL="0" indent="0" lvl="0">
              <a:lnSpc>
                <a:spcPts val="2800"/>
              </a:lnSpc>
              <a:spcBef>
                <a:spcPct val="0"/>
              </a:spcBef>
            </a:pPr>
            <a:r>
              <a:rPr lang="en-US" sz="2000" spc="-32">
                <a:solidFill>
                  <a:srgbClr val="000000"/>
                </a:solidFill>
                <a:latin typeface="Inter"/>
                <a:ea typeface="Inter"/>
                <a:cs typeface="Inter"/>
                <a:sym typeface="Inter"/>
              </a:rPr>
              <a:t>123-456-7890</a:t>
            </a:r>
          </a:p>
        </p:txBody>
      </p:sp>
      <p:sp>
        <p:nvSpPr>
          <p:cNvPr name="TextBox 29" id="29"/>
          <p:cNvSpPr txBox="true"/>
          <p:nvPr/>
        </p:nvSpPr>
        <p:spPr>
          <a:xfrm rot="0">
            <a:off x="10701814" y="7668431"/>
            <a:ext cx="2649071" cy="361950"/>
          </a:xfrm>
          <a:prstGeom prst="rect">
            <a:avLst/>
          </a:prstGeom>
        </p:spPr>
        <p:txBody>
          <a:bodyPr anchor="t" rtlCol="false" tIns="0" lIns="0" bIns="0" rIns="0">
            <a:spAutoFit/>
          </a:bodyPr>
          <a:lstStyle/>
          <a:p>
            <a:pPr algn="ctr" marL="0" indent="0" lvl="0">
              <a:lnSpc>
                <a:spcPts val="2879"/>
              </a:lnSpc>
            </a:pPr>
            <a:r>
              <a:rPr lang="en-US" b="true" sz="2400" spc="-38">
                <a:solidFill>
                  <a:srgbClr val="FF5B37"/>
                </a:solidFill>
                <a:latin typeface="Inter Bold"/>
                <a:ea typeface="Inter Bold"/>
                <a:cs typeface="Inter Bold"/>
                <a:sym typeface="Inter Bold"/>
              </a:rPr>
              <a:t>Cahaya Dewi</a:t>
            </a:r>
          </a:p>
        </p:txBody>
      </p:sp>
      <p:sp>
        <p:nvSpPr>
          <p:cNvPr name="TextBox 30" id="30"/>
          <p:cNvSpPr txBox="true"/>
          <p:nvPr/>
        </p:nvSpPr>
        <p:spPr>
          <a:xfrm rot="0">
            <a:off x="10701814" y="8076590"/>
            <a:ext cx="2649071" cy="349250"/>
          </a:xfrm>
          <a:prstGeom prst="rect">
            <a:avLst/>
          </a:prstGeom>
        </p:spPr>
        <p:txBody>
          <a:bodyPr anchor="t" rtlCol="false" tIns="0" lIns="0" bIns="0" rIns="0">
            <a:spAutoFit/>
          </a:bodyPr>
          <a:lstStyle/>
          <a:p>
            <a:pPr algn="ctr" marL="0" indent="0" lvl="0">
              <a:lnSpc>
                <a:spcPts val="2800"/>
              </a:lnSpc>
              <a:spcBef>
                <a:spcPct val="0"/>
              </a:spcBef>
            </a:pPr>
            <a:r>
              <a:rPr lang="en-US" b="true" sz="2000" spc="-32">
                <a:solidFill>
                  <a:srgbClr val="000000"/>
                </a:solidFill>
                <a:latin typeface="Inter Semi-Bold"/>
                <a:ea typeface="Inter Semi-Bold"/>
                <a:cs typeface="Inter Semi-Bold"/>
                <a:sym typeface="Inter Semi-Bold"/>
              </a:rPr>
              <a:t>Lead Nutrition Officer</a:t>
            </a:r>
          </a:p>
        </p:txBody>
      </p:sp>
      <p:sp>
        <p:nvSpPr>
          <p:cNvPr name="TextBox 31" id="31"/>
          <p:cNvSpPr txBox="true"/>
          <p:nvPr/>
        </p:nvSpPr>
        <p:spPr>
          <a:xfrm rot="0">
            <a:off x="10701814" y="8914945"/>
            <a:ext cx="2649071" cy="349250"/>
          </a:xfrm>
          <a:prstGeom prst="rect">
            <a:avLst/>
          </a:prstGeom>
        </p:spPr>
        <p:txBody>
          <a:bodyPr anchor="t" rtlCol="false" tIns="0" lIns="0" bIns="0" rIns="0">
            <a:spAutoFit/>
          </a:bodyPr>
          <a:lstStyle/>
          <a:p>
            <a:pPr algn="ctr" marL="0" indent="0" lvl="0">
              <a:lnSpc>
                <a:spcPts val="2800"/>
              </a:lnSpc>
              <a:spcBef>
                <a:spcPct val="0"/>
              </a:spcBef>
            </a:pPr>
            <a:r>
              <a:rPr lang="en-US" sz="2000" spc="-32">
                <a:solidFill>
                  <a:srgbClr val="000000"/>
                </a:solidFill>
                <a:latin typeface="Inter"/>
                <a:ea typeface="Inter"/>
                <a:cs typeface="Inter"/>
                <a:sym typeface="Inter"/>
              </a:rPr>
              <a:t>123-456-7890</a:t>
            </a:r>
          </a:p>
        </p:txBody>
      </p:sp>
      <p:sp>
        <p:nvSpPr>
          <p:cNvPr name="TextBox 32" id="32"/>
          <p:cNvSpPr txBox="true"/>
          <p:nvPr/>
        </p:nvSpPr>
        <p:spPr>
          <a:xfrm rot="0">
            <a:off x="609600" y="7152820"/>
            <a:ext cx="4343400" cy="2111375"/>
          </a:xfrm>
          <a:prstGeom prst="rect">
            <a:avLst/>
          </a:prstGeom>
        </p:spPr>
        <p:txBody>
          <a:bodyPr anchor="t" rtlCol="false" tIns="0" lIns="0" bIns="0" rIns="0">
            <a:spAutoFit/>
          </a:bodyPr>
          <a:lstStyle/>
          <a:p>
            <a:pPr algn="l" marL="0" indent="0" lvl="0">
              <a:lnSpc>
                <a:spcPts val="2800"/>
              </a:lnSpc>
            </a:pPr>
            <a:r>
              <a:rPr lang="en-US" sz="2000" spc="-32">
                <a:solidFill>
                  <a:srgbClr val="000000"/>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true" flipV="false" rot="1409309">
            <a:off x="-1404006" y="3161874"/>
            <a:ext cx="17895613" cy="14706940"/>
          </a:xfrm>
          <a:custGeom>
            <a:avLst/>
            <a:gdLst/>
            <a:ahLst/>
            <a:cxnLst/>
            <a:rect r="r" b="b" t="t" l="l"/>
            <a:pathLst>
              <a:path h="14706940" w="17895613">
                <a:moveTo>
                  <a:pt x="17895612" y="0"/>
                </a:moveTo>
                <a:lnTo>
                  <a:pt x="0" y="0"/>
                </a:lnTo>
                <a:lnTo>
                  <a:pt x="0" y="14706940"/>
                </a:lnTo>
                <a:lnTo>
                  <a:pt x="17895612" y="14706940"/>
                </a:lnTo>
                <a:lnTo>
                  <a:pt x="17895612" y="0"/>
                </a:lnTo>
                <a:close/>
              </a:path>
            </a:pathLst>
          </a:custGeom>
          <a:blipFill>
            <a:blip r:embed="rId2"/>
            <a:stretch>
              <a:fillRect l="0" t="0" r="0" b="0"/>
            </a:stretch>
          </a:blipFill>
        </p:spPr>
      </p:sp>
      <p:grpSp>
        <p:nvGrpSpPr>
          <p:cNvPr name="Group 3" id="3"/>
          <p:cNvGrpSpPr>
            <a:grpSpLocks noChangeAspect="true"/>
          </p:cNvGrpSpPr>
          <p:nvPr/>
        </p:nvGrpSpPr>
        <p:grpSpPr>
          <a:xfrm rot="0">
            <a:off x="609600" y="609600"/>
            <a:ext cx="5306002" cy="10498836"/>
            <a:chOff x="0" y="0"/>
            <a:chExt cx="2620010" cy="5184140"/>
          </a:xfrm>
        </p:grpSpPr>
        <p:sp>
          <p:nvSpPr>
            <p:cNvPr name="Freeform 4" id="4"/>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5" id="5"/>
            <p:cNvSpPr/>
            <p:nvPr/>
          </p:nvSpPr>
          <p:spPr>
            <a:xfrm flipH="false" flipV="false" rot="-5400000">
              <a:off x="-1127754" y="1469384"/>
              <a:ext cx="4876800" cy="2250453"/>
            </a:xfrm>
            <a:custGeom>
              <a:avLst/>
              <a:gdLst/>
              <a:ahLst/>
              <a:cxnLst/>
              <a:rect r="r" b="b" t="t" l="l"/>
              <a:pathLst>
                <a:path h="2250453" w="4876800">
                  <a:moveTo>
                    <a:pt x="4876800" y="2040889"/>
                  </a:moveTo>
                  <a:lnTo>
                    <a:pt x="4876800" y="1769110"/>
                  </a:lnTo>
                  <a:lnTo>
                    <a:pt x="4819650" y="1769110"/>
                  </a:lnTo>
                  <a:cubicBezTo>
                    <a:pt x="4754880" y="1769110"/>
                    <a:pt x="4701540" y="1715770"/>
                    <a:pt x="4701540" y="1650999"/>
                  </a:cubicBezTo>
                  <a:lnTo>
                    <a:pt x="4701540" y="601980"/>
                  </a:lnTo>
                  <a:cubicBezTo>
                    <a:pt x="4701540" y="537210"/>
                    <a:pt x="4754880" y="483870"/>
                    <a:pt x="4819650" y="483870"/>
                  </a:cubicBezTo>
                  <a:lnTo>
                    <a:pt x="4876800" y="483870"/>
                  </a:lnTo>
                  <a:lnTo>
                    <a:pt x="4876800" y="209550"/>
                  </a:lnTo>
                  <a:cubicBezTo>
                    <a:pt x="4876800" y="93980"/>
                    <a:pt x="4782820" y="0"/>
                    <a:pt x="4667250" y="0"/>
                  </a:cubicBezTo>
                  <a:lnTo>
                    <a:pt x="209550" y="0"/>
                  </a:lnTo>
                  <a:cubicBezTo>
                    <a:pt x="93980" y="0"/>
                    <a:pt x="0" y="93980"/>
                    <a:pt x="0" y="209550"/>
                  </a:cubicBezTo>
                  <a:lnTo>
                    <a:pt x="0" y="2040889"/>
                  </a:lnTo>
                  <a:cubicBezTo>
                    <a:pt x="0" y="2156460"/>
                    <a:pt x="93980" y="2250439"/>
                    <a:pt x="209550" y="2250439"/>
                  </a:cubicBezTo>
                  <a:lnTo>
                    <a:pt x="4667250" y="2250439"/>
                  </a:lnTo>
                  <a:cubicBezTo>
                    <a:pt x="4782820" y="2251710"/>
                    <a:pt x="4876800" y="2157729"/>
                    <a:pt x="4876800" y="2040889"/>
                  </a:cubicBezTo>
                  <a:close/>
                </a:path>
              </a:pathLst>
            </a:custGeom>
            <a:blipFill>
              <a:blip r:embed="rId3"/>
              <a:stretch>
                <a:fillRect l="0" t="-22300" r="0" b="-22300"/>
              </a:stretch>
            </a:blipFill>
          </p:spPr>
        </p:sp>
        <p:sp>
          <p:nvSpPr>
            <p:cNvPr name="Freeform 6" id="6"/>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FF5B37"/>
            </a:solidFill>
          </p:spPr>
        </p:sp>
        <p:sp>
          <p:nvSpPr>
            <p:cNvPr name="Freeform 7" id="7"/>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FF5B37"/>
            </a:solidFill>
          </p:spPr>
        </p:sp>
        <p:sp>
          <p:nvSpPr>
            <p:cNvPr name="Freeform 8" id="8"/>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FF5B37"/>
            </a:solidFill>
          </p:spPr>
        </p:sp>
        <p:sp>
          <p:nvSpPr>
            <p:cNvPr name="Freeform 9" id="9"/>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FF5B37"/>
            </a:solidFill>
          </p:spPr>
        </p:sp>
        <p:sp>
          <p:nvSpPr>
            <p:cNvPr name="Freeform 10" id="10"/>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FF5B37"/>
            </a:solidFill>
          </p:spPr>
        </p:sp>
        <p:sp>
          <p:nvSpPr>
            <p:cNvPr name="Freeform 11" id="11"/>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FF5B37"/>
            </a:solidFill>
          </p:spPr>
        </p:sp>
        <p:sp>
          <p:nvSpPr>
            <p:cNvPr name="Freeform 12" id="12"/>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000000"/>
            </a:solidFill>
          </p:spPr>
        </p:sp>
      </p:grpSp>
      <p:sp>
        <p:nvSpPr>
          <p:cNvPr name="Freeform 13" id="13"/>
          <p:cNvSpPr/>
          <p:nvPr/>
        </p:nvSpPr>
        <p:spPr>
          <a:xfrm flipH="false" flipV="false" rot="0">
            <a:off x="8344472" y="609600"/>
            <a:ext cx="446522" cy="341792"/>
          </a:xfrm>
          <a:custGeom>
            <a:avLst/>
            <a:gdLst/>
            <a:ahLst/>
            <a:cxnLst/>
            <a:rect r="r" b="b" t="t" l="l"/>
            <a:pathLst>
              <a:path h="341792" w="446522">
                <a:moveTo>
                  <a:pt x="0" y="0"/>
                </a:moveTo>
                <a:lnTo>
                  <a:pt x="446522" y="0"/>
                </a:lnTo>
                <a:lnTo>
                  <a:pt x="446522" y="341792"/>
                </a:lnTo>
                <a:lnTo>
                  <a:pt x="0" y="3417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a:grpSpLocks noChangeAspect="true"/>
          </p:cNvGrpSpPr>
          <p:nvPr/>
        </p:nvGrpSpPr>
        <p:grpSpPr>
          <a:xfrm rot="0">
            <a:off x="3505200" y="2325072"/>
            <a:ext cx="3715790" cy="7352328"/>
            <a:chOff x="0" y="0"/>
            <a:chExt cx="2620010" cy="5184140"/>
          </a:xfrm>
        </p:grpSpPr>
        <p:sp>
          <p:nvSpPr>
            <p:cNvPr name="Freeform 15" id="15"/>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6" id="16"/>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6"/>
              <a:stretch>
                <a:fillRect l="-58351" t="0" r="-58351" b="0"/>
              </a:stretch>
            </a:blipFill>
          </p:spPr>
        </p:sp>
        <p:sp>
          <p:nvSpPr>
            <p:cNvPr name="Freeform 17" id="17"/>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FF5B37"/>
            </a:solidFill>
          </p:spPr>
        </p:sp>
        <p:sp>
          <p:nvSpPr>
            <p:cNvPr name="Freeform 18" id="18"/>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FF5B37"/>
            </a:solidFill>
          </p:spPr>
        </p:sp>
        <p:sp>
          <p:nvSpPr>
            <p:cNvPr name="Freeform 19" id="19"/>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FF5B37"/>
            </a:solidFill>
          </p:spPr>
        </p:sp>
        <p:sp>
          <p:nvSpPr>
            <p:cNvPr name="Freeform 20" id="20"/>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FF5B37"/>
            </a:solidFill>
          </p:spPr>
        </p:sp>
        <p:sp>
          <p:nvSpPr>
            <p:cNvPr name="Freeform 21" id="21"/>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FF5B37"/>
            </a:solidFill>
          </p:spPr>
        </p:sp>
        <p:sp>
          <p:nvSpPr>
            <p:cNvPr name="Freeform 22" id="22"/>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FF5B37"/>
            </a:solidFill>
          </p:spPr>
        </p:sp>
        <p:sp>
          <p:nvSpPr>
            <p:cNvPr name="Freeform 23" id="23"/>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000000"/>
            </a:solidFill>
          </p:spPr>
        </p:sp>
      </p:grpSp>
      <p:grpSp>
        <p:nvGrpSpPr>
          <p:cNvPr name="Group 24" id="24"/>
          <p:cNvGrpSpPr/>
          <p:nvPr/>
        </p:nvGrpSpPr>
        <p:grpSpPr>
          <a:xfrm rot="0">
            <a:off x="8344472" y="7331426"/>
            <a:ext cx="838200" cy="838200"/>
            <a:chOff x="0" y="0"/>
            <a:chExt cx="160553" cy="160553"/>
          </a:xfrm>
        </p:grpSpPr>
        <p:sp>
          <p:nvSpPr>
            <p:cNvPr name="Freeform 25" id="25"/>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26" id="26"/>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sp>
        <p:nvSpPr>
          <p:cNvPr name="Freeform 27" id="27"/>
          <p:cNvSpPr/>
          <p:nvPr/>
        </p:nvSpPr>
        <p:spPr>
          <a:xfrm flipH="false" flipV="false" rot="0">
            <a:off x="8531169" y="7521926"/>
            <a:ext cx="464806" cy="457200"/>
          </a:xfrm>
          <a:custGeom>
            <a:avLst/>
            <a:gdLst/>
            <a:ahLst/>
            <a:cxnLst/>
            <a:rect r="r" b="b" t="t" l="l"/>
            <a:pathLst>
              <a:path h="457200" w="464806">
                <a:moveTo>
                  <a:pt x="0" y="0"/>
                </a:moveTo>
                <a:lnTo>
                  <a:pt x="464806" y="0"/>
                </a:lnTo>
                <a:lnTo>
                  <a:pt x="464806"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8" id="28"/>
          <p:cNvGrpSpPr/>
          <p:nvPr/>
        </p:nvGrpSpPr>
        <p:grpSpPr>
          <a:xfrm rot="0">
            <a:off x="8344472" y="8420100"/>
            <a:ext cx="838200" cy="838200"/>
            <a:chOff x="0" y="0"/>
            <a:chExt cx="160553" cy="160553"/>
          </a:xfrm>
        </p:grpSpPr>
        <p:sp>
          <p:nvSpPr>
            <p:cNvPr name="Freeform 29" id="29"/>
            <p:cNvSpPr/>
            <p:nvPr/>
          </p:nvSpPr>
          <p:spPr>
            <a:xfrm flipH="false" flipV="false" rot="0">
              <a:off x="0" y="0"/>
              <a:ext cx="160553" cy="160553"/>
            </a:xfrm>
            <a:custGeom>
              <a:avLst/>
              <a:gdLst/>
              <a:ahLst/>
              <a:cxnLst/>
              <a:rect r="r" b="b" t="t" l="l"/>
              <a:pathLst>
                <a:path h="160553" w="160553">
                  <a:moveTo>
                    <a:pt x="80277" y="0"/>
                  </a:moveTo>
                  <a:lnTo>
                    <a:pt x="80277" y="0"/>
                  </a:lnTo>
                  <a:cubicBezTo>
                    <a:pt x="124612" y="0"/>
                    <a:pt x="160553" y="35941"/>
                    <a:pt x="160553" y="80277"/>
                  </a:cubicBezTo>
                  <a:lnTo>
                    <a:pt x="160553" y="80277"/>
                  </a:lnTo>
                  <a:cubicBezTo>
                    <a:pt x="160553" y="101567"/>
                    <a:pt x="152095" y="121986"/>
                    <a:pt x="137041" y="137041"/>
                  </a:cubicBezTo>
                  <a:cubicBezTo>
                    <a:pt x="121986" y="152095"/>
                    <a:pt x="101567" y="160553"/>
                    <a:pt x="80277" y="160553"/>
                  </a:cubicBezTo>
                  <a:lnTo>
                    <a:pt x="80277" y="160553"/>
                  </a:lnTo>
                  <a:cubicBezTo>
                    <a:pt x="58986" y="160553"/>
                    <a:pt x="38567" y="152095"/>
                    <a:pt x="23512" y="137041"/>
                  </a:cubicBezTo>
                  <a:cubicBezTo>
                    <a:pt x="8458" y="121986"/>
                    <a:pt x="0" y="101567"/>
                    <a:pt x="0" y="80277"/>
                  </a:cubicBezTo>
                  <a:lnTo>
                    <a:pt x="0" y="80277"/>
                  </a:lnTo>
                  <a:cubicBezTo>
                    <a:pt x="0" y="58986"/>
                    <a:pt x="8458" y="38567"/>
                    <a:pt x="23512" y="23512"/>
                  </a:cubicBezTo>
                  <a:cubicBezTo>
                    <a:pt x="38567" y="8458"/>
                    <a:pt x="58986" y="0"/>
                    <a:pt x="80277" y="0"/>
                  </a:cubicBezTo>
                  <a:close/>
                </a:path>
              </a:pathLst>
            </a:custGeom>
            <a:solidFill>
              <a:srgbClr val="FF5B37"/>
            </a:solidFill>
            <a:ln cap="rnd">
              <a:noFill/>
              <a:prstDash val="solid"/>
              <a:round/>
            </a:ln>
          </p:spPr>
        </p:sp>
        <p:sp>
          <p:nvSpPr>
            <p:cNvPr name="TextBox 30" id="30"/>
            <p:cNvSpPr txBox="true"/>
            <p:nvPr/>
          </p:nvSpPr>
          <p:spPr>
            <a:xfrm>
              <a:off x="0" y="-38100"/>
              <a:ext cx="160553" cy="198653"/>
            </a:xfrm>
            <a:prstGeom prst="rect">
              <a:avLst/>
            </a:prstGeom>
          </p:spPr>
          <p:txBody>
            <a:bodyPr anchor="ctr" rtlCol="false" tIns="50800" lIns="50800" bIns="50800" rIns="50800"/>
            <a:lstStyle/>
            <a:p>
              <a:pPr algn="ctr" marL="0" indent="0" lvl="0">
                <a:lnSpc>
                  <a:spcPts val="2240"/>
                </a:lnSpc>
                <a:spcBef>
                  <a:spcPct val="0"/>
                </a:spcBef>
              </a:pPr>
            </a:p>
          </p:txBody>
        </p:sp>
      </p:grpSp>
      <p:grpSp>
        <p:nvGrpSpPr>
          <p:cNvPr name="Group 31" id="31"/>
          <p:cNvGrpSpPr/>
          <p:nvPr/>
        </p:nvGrpSpPr>
        <p:grpSpPr>
          <a:xfrm rot="0">
            <a:off x="15813902" y="7331426"/>
            <a:ext cx="1864498" cy="1926874"/>
            <a:chOff x="0" y="0"/>
            <a:chExt cx="491061" cy="507489"/>
          </a:xfrm>
        </p:grpSpPr>
        <p:sp>
          <p:nvSpPr>
            <p:cNvPr name="Freeform 32" id="32"/>
            <p:cNvSpPr/>
            <p:nvPr/>
          </p:nvSpPr>
          <p:spPr>
            <a:xfrm flipH="false" flipV="false" rot="0">
              <a:off x="0" y="0"/>
              <a:ext cx="491061" cy="507489"/>
            </a:xfrm>
            <a:custGeom>
              <a:avLst/>
              <a:gdLst/>
              <a:ahLst/>
              <a:cxnLst/>
              <a:rect r="r" b="b" t="t" l="l"/>
              <a:pathLst>
                <a:path h="507489" w="491061">
                  <a:moveTo>
                    <a:pt x="132873" y="0"/>
                  </a:moveTo>
                  <a:lnTo>
                    <a:pt x="358188" y="0"/>
                  </a:lnTo>
                  <a:cubicBezTo>
                    <a:pt x="393428" y="0"/>
                    <a:pt x="427225" y="13999"/>
                    <a:pt x="452144" y="38918"/>
                  </a:cubicBezTo>
                  <a:cubicBezTo>
                    <a:pt x="477062" y="63836"/>
                    <a:pt x="491061" y="97633"/>
                    <a:pt x="491061" y="132873"/>
                  </a:cubicBezTo>
                  <a:lnTo>
                    <a:pt x="491061" y="374616"/>
                  </a:lnTo>
                  <a:cubicBezTo>
                    <a:pt x="491061" y="448000"/>
                    <a:pt x="431572" y="507489"/>
                    <a:pt x="358188" y="507489"/>
                  </a:cubicBezTo>
                  <a:lnTo>
                    <a:pt x="132873" y="507489"/>
                  </a:lnTo>
                  <a:cubicBezTo>
                    <a:pt x="59489" y="507489"/>
                    <a:pt x="0" y="448000"/>
                    <a:pt x="0" y="374616"/>
                  </a:cubicBezTo>
                  <a:lnTo>
                    <a:pt x="0" y="132873"/>
                  </a:lnTo>
                  <a:cubicBezTo>
                    <a:pt x="0" y="59489"/>
                    <a:pt x="59489" y="0"/>
                    <a:pt x="132873" y="0"/>
                  </a:cubicBezTo>
                  <a:close/>
                </a:path>
              </a:pathLst>
            </a:custGeom>
            <a:solidFill>
              <a:srgbClr val="F7E4D9"/>
            </a:solidFill>
            <a:ln cap="rnd">
              <a:noFill/>
              <a:prstDash val="solid"/>
              <a:round/>
            </a:ln>
          </p:spPr>
        </p:sp>
        <p:sp>
          <p:nvSpPr>
            <p:cNvPr name="TextBox 33" id="33"/>
            <p:cNvSpPr txBox="true"/>
            <p:nvPr/>
          </p:nvSpPr>
          <p:spPr>
            <a:xfrm>
              <a:off x="0" y="0"/>
              <a:ext cx="491061" cy="507489"/>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Freeform 34" id="34"/>
          <p:cNvSpPr/>
          <p:nvPr/>
        </p:nvSpPr>
        <p:spPr>
          <a:xfrm flipH="false" flipV="false" rot="0">
            <a:off x="16075210" y="7623922"/>
            <a:ext cx="1341882" cy="1341882"/>
          </a:xfrm>
          <a:custGeom>
            <a:avLst/>
            <a:gdLst/>
            <a:ahLst/>
            <a:cxnLst/>
            <a:rect r="r" b="b" t="t" l="l"/>
            <a:pathLst>
              <a:path h="1341882" w="1341882">
                <a:moveTo>
                  <a:pt x="0" y="0"/>
                </a:moveTo>
                <a:lnTo>
                  <a:pt x="1341882" y="0"/>
                </a:lnTo>
                <a:lnTo>
                  <a:pt x="1341882" y="1341882"/>
                </a:lnTo>
                <a:lnTo>
                  <a:pt x="0" y="13418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8534972" y="86106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6" id="36"/>
          <p:cNvGrpSpPr/>
          <p:nvPr/>
        </p:nvGrpSpPr>
        <p:grpSpPr>
          <a:xfrm rot="0">
            <a:off x="9447190" y="7331426"/>
            <a:ext cx="4500163" cy="838200"/>
            <a:chOff x="0" y="0"/>
            <a:chExt cx="1185228" cy="220760"/>
          </a:xfrm>
        </p:grpSpPr>
        <p:sp>
          <p:nvSpPr>
            <p:cNvPr name="Freeform 37" id="37"/>
            <p:cNvSpPr/>
            <p:nvPr/>
          </p:nvSpPr>
          <p:spPr>
            <a:xfrm flipH="false" flipV="false" rot="0">
              <a:off x="0" y="0"/>
              <a:ext cx="1185228" cy="220760"/>
            </a:xfrm>
            <a:custGeom>
              <a:avLst/>
              <a:gdLst/>
              <a:ahLst/>
              <a:cxnLst/>
              <a:rect r="r" b="b" t="t" l="l"/>
              <a:pathLst>
                <a:path h="220760" w="1185228">
                  <a:moveTo>
                    <a:pt x="110380" y="0"/>
                  </a:moveTo>
                  <a:lnTo>
                    <a:pt x="1074848" y="0"/>
                  </a:lnTo>
                  <a:cubicBezTo>
                    <a:pt x="1135809" y="0"/>
                    <a:pt x="1185228" y="49419"/>
                    <a:pt x="1185228" y="110380"/>
                  </a:cubicBezTo>
                  <a:lnTo>
                    <a:pt x="1185228" y="110380"/>
                  </a:lnTo>
                  <a:cubicBezTo>
                    <a:pt x="1185228" y="139655"/>
                    <a:pt x="1173599" y="167731"/>
                    <a:pt x="1152899" y="188431"/>
                  </a:cubicBezTo>
                  <a:cubicBezTo>
                    <a:pt x="1132198" y="209131"/>
                    <a:pt x="1104123" y="220760"/>
                    <a:pt x="1074848" y="220760"/>
                  </a:cubicBezTo>
                  <a:lnTo>
                    <a:pt x="110380" y="220760"/>
                  </a:lnTo>
                  <a:cubicBezTo>
                    <a:pt x="81106" y="220760"/>
                    <a:pt x="53030" y="209131"/>
                    <a:pt x="32330" y="188431"/>
                  </a:cubicBezTo>
                  <a:cubicBezTo>
                    <a:pt x="11629" y="167731"/>
                    <a:pt x="0" y="139655"/>
                    <a:pt x="0" y="110380"/>
                  </a:cubicBezTo>
                  <a:lnTo>
                    <a:pt x="0" y="110380"/>
                  </a:lnTo>
                  <a:cubicBezTo>
                    <a:pt x="0" y="81106"/>
                    <a:pt x="11629" y="53030"/>
                    <a:pt x="32330" y="32330"/>
                  </a:cubicBezTo>
                  <a:cubicBezTo>
                    <a:pt x="53030" y="11629"/>
                    <a:pt x="81106" y="0"/>
                    <a:pt x="110380" y="0"/>
                  </a:cubicBezTo>
                  <a:close/>
                </a:path>
              </a:pathLst>
            </a:custGeom>
            <a:solidFill>
              <a:srgbClr val="FF5B37"/>
            </a:solidFill>
            <a:ln cap="rnd">
              <a:noFill/>
              <a:prstDash val="solid"/>
              <a:round/>
            </a:ln>
          </p:spPr>
        </p:sp>
        <p:sp>
          <p:nvSpPr>
            <p:cNvPr name="TextBox 38" id="38"/>
            <p:cNvSpPr txBox="true"/>
            <p:nvPr/>
          </p:nvSpPr>
          <p:spPr>
            <a:xfrm>
              <a:off x="0" y="0"/>
              <a:ext cx="1185228" cy="220760"/>
            </a:xfrm>
            <a:prstGeom prst="rect">
              <a:avLst/>
            </a:prstGeom>
          </p:spPr>
          <p:txBody>
            <a:bodyPr anchor="ctr" rtlCol="false" tIns="50800" lIns="50800" bIns="50800" rIns="50800"/>
            <a:lstStyle/>
            <a:p>
              <a:pPr algn="ctr" marL="0" indent="0" lvl="0">
                <a:lnSpc>
                  <a:spcPts val="2640"/>
                </a:lnSpc>
                <a:spcBef>
                  <a:spcPct val="0"/>
                </a:spcBef>
              </a:pPr>
              <a:r>
                <a:rPr lang="en-US" b="true" sz="2200">
                  <a:solidFill>
                    <a:srgbClr val="F5F5F5"/>
                  </a:solidFill>
                  <a:latin typeface="Inter Medium"/>
                  <a:ea typeface="Inter Medium"/>
                  <a:cs typeface="Inter Medium"/>
                  <a:sym typeface="Inter Medium"/>
                </a:rPr>
                <a:t>hello@reallygreatsite.com</a:t>
              </a:r>
            </a:p>
          </p:txBody>
        </p:sp>
      </p:grpSp>
      <p:grpSp>
        <p:nvGrpSpPr>
          <p:cNvPr name="Group 39" id="39"/>
          <p:cNvGrpSpPr/>
          <p:nvPr/>
        </p:nvGrpSpPr>
        <p:grpSpPr>
          <a:xfrm rot="0">
            <a:off x="9447190" y="8420100"/>
            <a:ext cx="5661871" cy="838200"/>
            <a:chOff x="0" y="0"/>
            <a:chExt cx="1491192" cy="220760"/>
          </a:xfrm>
        </p:grpSpPr>
        <p:sp>
          <p:nvSpPr>
            <p:cNvPr name="Freeform 40" id="40"/>
            <p:cNvSpPr/>
            <p:nvPr/>
          </p:nvSpPr>
          <p:spPr>
            <a:xfrm flipH="false" flipV="false" rot="0">
              <a:off x="0" y="0"/>
              <a:ext cx="1491192" cy="220760"/>
            </a:xfrm>
            <a:custGeom>
              <a:avLst/>
              <a:gdLst/>
              <a:ahLst/>
              <a:cxnLst/>
              <a:rect r="r" b="b" t="t" l="l"/>
              <a:pathLst>
                <a:path h="220760" w="1491192">
                  <a:moveTo>
                    <a:pt x="110380" y="0"/>
                  </a:moveTo>
                  <a:lnTo>
                    <a:pt x="1380812" y="0"/>
                  </a:lnTo>
                  <a:cubicBezTo>
                    <a:pt x="1410087" y="0"/>
                    <a:pt x="1438162" y="11629"/>
                    <a:pt x="1458863" y="32330"/>
                  </a:cubicBezTo>
                  <a:cubicBezTo>
                    <a:pt x="1479563" y="53030"/>
                    <a:pt x="1491192" y="81106"/>
                    <a:pt x="1491192" y="110380"/>
                  </a:cubicBezTo>
                  <a:lnTo>
                    <a:pt x="1491192" y="110380"/>
                  </a:lnTo>
                  <a:cubicBezTo>
                    <a:pt x="1491192" y="139655"/>
                    <a:pt x="1479563" y="167731"/>
                    <a:pt x="1458863" y="188431"/>
                  </a:cubicBezTo>
                  <a:cubicBezTo>
                    <a:pt x="1438162" y="209131"/>
                    <a:pt x="1410087" y="220760"/>
                    <a:pt x="1380812" y="220760"/>
                  </a:cubicBezTo>
                  <a:lnTo>
                    <a:pt x="110380" y="220760"/>
                  </a:lnTo>
                  <a:cubicBezTo>
                    <a:pt x="81106" y="220760"/>
                    <a:pt x="53030" y="209131"/>
                    <a:pt x="32330" y="188431"/>
                  </a:cubicBezTo>
                  <a:cubicBezTo>
                    <a:pt x="11629" y="167731"/>
                    <a:pt x="0" y="139655"/>
                    <a:pt x="0" y="110380"/>
                  </a:cubicBezTo>
                  <a:lnTo>
                    <a:pt x="0" y="110380"/>
                  </a:lnTo>
                  <a:cubicBezTo>
                    <a:pt x="0" y="81106"/>
                    <a:pt x="11629" y="53030"/>
                    <a:pt x="32330" y="32330"/>
                  </a:cubicBezTo>
                  <a:cubicBezTo>
                    <a:pt x="53030" y="11629"/>
                    <a:pt x="81106" y="0"/>
                    <a:pt x="110380" y="0"/>
                  </a:cubicBezTo>
                  <a:close/>
                </a:path>
              </a:pathLst>
            </a:custGeom>
            <a:solidFill>
              <a:srgbClr val="FF5B37"/>
            </a:solidFill>
            <a:ln cap="rnd">
              <a:noFill/>
              <a:prstDash val="solid"/>
              <a:round/>
            </a:ln>
          </p:spPr>
        </p:sp>
        <p:sp>
          <p:nvSpPr>
            <p:cNvPr name="TextBox 41" id="41"/>
            <p:cNvSpPr txBox="true"/>
            <p:nvPr/>
          </p:nvSpPr>
          <p:spPr>
            <a:xfrm>
              <a:off x="0" y="0"/>
              <a:ext cx="1491192" cy="220760"/>
            </a:xfrm>
            <a:prstGeom prst="rect">
              <a:avLst/>
            </a:prstGeom>
          </p:spPr>
          <p:txBody>
            <a:bodyPr anchor="ctr" rtlCol="false" tIns="50800" lIns="50800" bIns="50800" rIns="50800"/>
            <a:lstStyle/>
            <a:p>
              <a:pPr algn="ctr" marL="0" indent="0" lvl="0">
                <a:lnSpc>
                  <a:spcPts val="2640"/>
                </a:lnSpc>
                <a:spcBef>
                  <a:spcPct val="0"/>
                </a:spcBef>
              </a:pPr>
              <a:r>
                <a:rPr lang="en-US" b="true" sz="2200">
                  <a:solidFill>
                    <a:srgbClr val="F5F5F5"/>
                  </a:solidFill>
                  <a:latin typeface="Inter Medium"/>
                  <a:ea typeface="Inter Medium"/>
                  <a:cs typeface="Inter Medium"/>
                  <a:sym typeface="Inter Medium"/>
                </a:rPr>
                <a:t>123 Anywhere St., Any City, ST 12345</a:t>
              </a:r>
            </a:p>
          </p:txBody>
        </p:sp>
      </p:grpSp>
      <p:sp>
        <p:nvSpPr>
          <p:cNvPr name="TextBox 42" id="42"/>
          <p:cNvSpPr txBox="true"/>
          <p:nvPr/>
        </p:nvSpPr>
        <p:spPr>
          <a:xfrm rot="0">
            <a:off x="8344472" y="1611118"/>
            <a:ext cx="9048178" cy="3286125"/>
          </a:xfrm>
          <a:prstGeom prst="rect">
            <a:avLst/>
          </a:prstGeom>
        </p:spPr>
        <p:txBody>
          <a:bodyPr anchor="t" rtlCol="false" tIns="0" lIns="0" bIns="0" rIns="0">
            <a:spAutoFit/>
          </a:bodyPr>
          <a:lstStyle/>
          <a:p>
            <a:pPr algn="l" marL="0" indent="0" lvl="0">
              <a:lnSpc>
                <a:spcPts val="8639"/>
              </a:lnSpc>
            </a:pPr>
            <a:r>
              <a:rPr lang="en-US" b="true" sz="7199" spc="-115">
                <a:solidFill>
                  <a:srgbClr val="000000"/>
                </a:solidFill>
                <a:latin typeface="Inter Semi-Bold"/>
                <a:ea typeface="Inter Semi-Bold"/>
                <a:cs typeface="Inter Semi-Bold"/>
                <a:sym typeface="Inter Semi-Bold"/>
              </a:rPr>
              <a:t>The</a:t>
            </a:r>
            <a:r>
              <a:rPr lang="en-US" b="true" sz="7199" spc="-115">
                <a:solidFill>
                  <a:srgbClr val="000000"/>
                </a:solidFill>
                <a:latin typeface="Inter Semi-Bold"/>
                <a:ea typeface="Inter Semi-Bold"/>
                <a:cs typeface="Inter Semi-Bold"/>
                <a:sym typeface="Inter Semi-Bold"/>
              </a:rPr>
              <a:t> Future of Nutrition is Personal. Help Us Build It.</a:t>
            </a:r>
          </a:p>
        </p:txBody>
      </p:sp>
      <p:sp>
        <p:nvSpPr>
          <p:cNvPr name="TextBox 43" id="43"/>
          <p:cNvSpPr txBox="true"/>
          <p:nvPr/>
        </p:nvSpPr>
        <p:spPr>
          <a:xfrm rot="0">
            <a:off x="8930619" y="613809"/>
            <a:ext cx="1391384" cy="333375"/>
          </a:xfrm>
          <a:prstGeom prst="rect">
            <a:avLst/>
          </a:prstGeom>
        </p:spPr>
        <p:txBody>
          <a:bodyPr anchor="t" rtlCol="false" tIns="0" lIns="0" bIns="0" rIns="0">
            <a:spAutoFit/>
          </a:bodyPr>
          <a:lstStyle/>
          <a:p>
            <a:pPr algn="l" marL="0" indent="0" lvl="0">
              <a:lnSpc>
                <a:spcPts val="2640"/>
              </a:lnSpc>
              <a:spcBef>
                <a:spcPct val="0"/>
              </a:spcBef>
            </a:pPr>
            <a:r>
              <a:rPr lang="en-US" b="true" sz="2200" spc="-35">
                <a:solidFill>
                  <a:srgbClr val="000000"/>
                </a:solidFill>
                <a:latin typeface="Inter Bold"/>
                <a:ea typeface="Inter Bold"/>
                <a:cs typeface="Inter Bold"/>
                <a:sym typeface="Inter Bold"/>
              </a:rPr>
              <a:t>Rimberio</a:t>
            </a:r>
          </a:p>
        </p:txBody>
      </p:sp>
      <p:sp>
        <p:nvSpPr>
          <p:cNvPr name="Freeform 44" id="44"/>
          <p:cNvSpPr/>
          <p:nvPr/>
        </p:nvSpPr>
        <p:spPr>
          <a:xfrm flipH="false" flipV="false" rot="0">
            <a:off x="4630190" y="5203178"/>
            <a:ext cx="1465810" cy="1122011"/>
          </a:xfrm>
          <a:custGeom>
            <a:avLst/>
            <a:gdLst/>
            <a:ahLst/>
            <a:cxnLst/>
            <a:rect r="r" b="b" t="t" l="l"/>
            <a:pathLst>
              <a:path h="1122011" w="1465810">
                <a:moveTo>
                  <a:pt x="0" y="0"/>
                </a:moveTo>
                <a:lnTo>
                  <a:pt x="1465810" y="0"/>
                </a:lnTo>
                <a:lnTo>
                  <a:pt x="1465810" y="1122012"/>
                </a:lnTo>
                <a:lnTo>
                  <a:pt x="0" y="112201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5" id="45"/>
          <p:cNvSpPr txBox="true"/>
          <p:nvPr/>
        </p:nvSpPr>
        <p:spPr>
          <a:xfrm rot="0">
            <a:off x="4482237" y="6465918"/>
            <a:ext cx="1761716" cy="333375"/>
          </a:xfrm>
          <a:prstGeom prst="rect">
            <a:avLst/>
          </a:prstGeom>
        </p:spPr>
        <p:txBody>
          <a:bodyPr anchor="t" rtlCol="false" tIns="0" lIns="0" bIns="0" rIns="0">
            <a:spAutoFit/>
          </a:bodyPr>
          <a:lstStyle/>
          <a:p>
            <a:pPr algn="ctr" marL="0" indent="0" lvl="0">
              <a:lnSpc>
                <a:spcPts val="2640"/>
              </a:lnSpc>
              <a:spcBef>
                <a:spcPct val="0"/>
              </a:spcBef>
            </a:pPr>
            <a:r>
              <a:rPr lang="en-US" b="true" sz="2200" spc="-35">
                <a:solidFill>
                  <a:srgbClr val="FDFDFD"/>
                </a:solidFill>
                <a:latin typeface="Inter Bold"/>
                <a:ea typeface="Inter Bold"/>
                <a:cs typeface="Inter Bold"/>
                <a:sym typeface="Inter Bold"/>
              </a:rPr>
              <a:t>Rimberio</a:t>
            </a:r>
          </a:p>
        </p:txBody>
      </p:sp>
      <p:sp>
        <p:nvSpPr>
          <p:cNvPr name="TextBox 46" id="46"/>
          <p:cNvSpPr txBox="true"/>
          <p:nvPr/>
        </p:nvSpPr>
        <p:spPr>
          <a:xfrm rot="0">
            <a:off x="8344472" y="5422773"/>
            <a:ext cx="8382000" cy="824865"/>
          </a:xfrm>
          <a:prstGeom prst="rect">
            <a:avLst/>
          </a:prstGeom>
        </p:spPr>
        <p:txBody>
          <a:bodyPr anchor="t" rtlCol="false" tIns="0" lIns="0" bIns="0" rIns="0">
            <a:spAutoFit/>
          </a:bodyPr>
          <a:lstStyle/>
          <a:p>
            <a:pPr algn="l" marL="0" indent="0" lvl="0">
              <a:lnSpc>
                <a:spcPts val="3359"/>
              </a:lnSpc>
            </a:pPr>
            <a:r>
              <a:rPr lang="en-US" sz="2400" spc="-38">
                <a:solidFill>
                  <a:srgbClr val="000000"/>
                </a:solidFill>
                <a:latin typeface="Inter"/>
                <a:ea typeface="Inter"/>
                <a:cs typeface="Inter"/>
                <a:sym typeface="Inter"/>
              </a:rPr>
              <a:t>Lorem ipsum dolor sit amet, proin morbi elit. Quam vel</a:t>
            </a:r>
            <a:r>
              <a:rPr lang="en-US" sz="2400" spc="-38">
                <a:solidFill>
                  <a:srgbClr val="000000"/>
                </a:solidFill>
                <a:latin typeface="Inter"/>
                <a:ea typeface="Inter"/>
                <a:cs typeface="Inter"/>
                <a:sym typeface="Inter"/>
              </a:rPr>
              <a:t>it leo, turpis nec risus sed, felis eu velit. Cras massa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DAHWWc4W1zE</dc:identifier>
  <dcterms:modified xsi:type="dcterms:W3CDTF">2011-08-01T06:04:30Z</dcterms:modified>
  <cp:revision>1</cp:revision>
  <dc:title>Orange Modern Nutrition &amp; Meal App Pitch Deck Presentation</dc:title>
</cp:coreProperties>
</file>