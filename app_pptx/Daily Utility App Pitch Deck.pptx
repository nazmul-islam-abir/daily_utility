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Default Extension="svg" ContentType="image/svg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8288000" cy="10287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8DF287-1A11-650E-A937-E5B0A9E77C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98FCC4-F8A3-2EA5-8DCF-E3B8E11ECC6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840811-1D88-C507-C73C-DA9CBAFFEB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067EC1-586A-4AFC-D201-81358BEFE8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31BE09-1BD1-0954-E202-B5B7C4F602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4BEC73-0555-26A5-40EE-BA2094C034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720156-521D-6F52-351C-817C8F6704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2C6012D-1FDF-A8FC-2374-5A28B372DE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66F98E-A16E-FE51-E529-A7B29F8720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2DE6E0-4456-1A0C-3F97-CB9EF0E401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671435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885541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93651834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872496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71669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9358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0127384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947521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3288587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901333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0840348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104440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754754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0953280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370947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6655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198263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9185455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9749325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0646251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094748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21558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3633399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5075512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9725815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7612348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2112983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7268160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089871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6908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22990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4020241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922219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67702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58016283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769545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32709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8826589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3067546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4172473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39118753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15067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934130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1090348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01526076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9556795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5189794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460310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0208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885656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704442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890477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9467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46844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630155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34330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113909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747406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037373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505479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1322276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0578503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458519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png"/><Relationship Id="rId6" Type="http://schemas.openxmlformats.org/officeDocument/2006/relationships/image" Target="../media/media1.sv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media2.svg"/><Relationship Id="rId7" Type="http://schemas.openxmlformats.org/officeDocument/2006/relationships/image" Target="../media/image7.png"/><Relationship Id="rId8" Type="http://schemas.openxmlformats.org/officeDocument/2006/relationships/image" Target="../media/media3.svg"/><Relationship Id="rId9" Type="http://schemas.openxmlformats.org/officeDocument/2006/relationships/image" Target="../media/image8.png"/><Relationship Id="rId10" Type="http://schemas.openxmlformats.org/officeDocument/2006/relationships/image" Target="../media/media4.sv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media5.svg"/><Relationship Id="rId7" Type="http://schemas.openxmlformats.org/officeDocument/2006/relationships/image" Target="../media/image8.png"/><Relationship Id="rId8" Type="http://schemas.openxmlformats.org/officeDocument/2006/relationships/image" Target="../media/image11.png"/><Relationship Id="rId9" Type="http://schemas.openxmlformats.org/officeDocument/2006/relationships/image" Target="../media/media6.svg"/><Relationship Id="rId10" Type="http://schemas.openxmlformats.org/officeDocument/2006/relationships/image" Target="../media/image12.png"/><Relationship Id="rId11" Type="http://schemas.openxmlformats.org/officeDocument/2006/relationships/image" Target="../media/media7.sv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media8.svg"/><Relationship Id="rId6" Type="http://schemas.openxmlformats.org/officeDocument/2006/relationships/image" Target="../media/image15.png"/><Relationship Id="rId7" Type="http://schemas.openxmlformats.org/officeDocument/2006/relationships/image" Target="../media/media9.svg"/><Relationship Id="rId8" Type="http://schemas.openxmlformats.org/officeDocument/2006/relationships/image" Target="../media/image16.png"/><Relationship Id="rId9" Type="http://schemas.openxmlformats.org/officeDocument/2006/relationships/image" Target="../media/media10.svg"/><Relationship Id="rId10" Type="http://schemas.openxmlformats.org/officeDocument/2006/relationships/image" Target="../media/image17.png"/><Relationship Id="rId11" Type="http://schemas.openxmlformats.org/officeDocument/2006/relationships/image" Target="../media/media11.svg"/><Relationship Id="rId12" Type="http://schemas.openxmlformats.org/officeDocument/2006/relationships/image" Target="../media/image18.png"/><Relationship Id="rId13" Type="http://schemas.openxmlformats.org/officeDocument/2006/relationships/image" Target="../media/media12.svg"/><Relationship Id="rId14" Type="http://schemas.openxmlformats.org/officeDocument/2006/relationships/image" Target="../media/image19.png"/><Relationship Id="rId15" Type="http://schemas.openxmlformats.org/officeDocument/2006/relationships/image" Target="../media/image20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jpg"/><Relationship Id="rId4" Type="http://schemas.openxmlformats.org/officeDocument/2006/relationships/image" Target="../media/image22.png"/><Relationship Id="rId5" Type="http://schemas.openxmlformats.org/officeDocument/2006/relationships/image" Target="../media/media13.svg"/><Relationship Id="rId6" Type="http://schemas.openxmlformats.org/officeDocument/2006/relationships/image" Target="../media/image11.png"/><Relationship Id="rId7" Type="http://schemas.openxmlformats.org/officeDocument/2006/relationships/image" Target="../media/image23.png"/><Relationship Id="rId8" Type="http://schemas.openxmlformats.org/officeDocument/2006/relationships/image" Target="../media/media14.sv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media15.sv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31.jpg"/><Relationship Id="rId5" Type="http://schemas.openxmlformats.org/officeDocument/2006/relationships/image" Target="../media/image32.jpg"/><Relationship Id="rId6" Type="http://schemas.openxmlformats.org/officeDocument/2006/relationships/image" Target="../media/image33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4.jpg"/><Relationship Id="rId5" Type="http://schemas.openxmlformats.org/officeDocument/2006/relationships/image" Target="../media/image3.png"/><Relationship Id="rId6" Type="http://schemas.openxmlformats.org/officeDocument/2006/relationships/image" Target="../media/image35.jpg"/><Relationship Id="rId7" Type="http://schemas.openxmlformats.org/officeDocument/2006/relationships/image" Target="../media/image36.png"/><Relationship Id="rId8" Type="http://schemas.openxmlformats.org/officeDocument/2006/relationships/image" Target="../media/media16.svg"/><Relationship Id="rId9" Type="http://schemas.openxmlformats.org/officeDocument/2006/relationships/image" Target="../media/image37.png"/><Relationship Id="rId10" Type="http://schemas.openxmlformats.org/officeDocument/2006/relationships/image" Target="../media/media17.svg"/><Relationship Id="rId11" Type="http://schemas.openxmlformats.org/officeDocument/2006/relationships/image" Target="../media/image38.png"/><Relationship Id="rId12" Type="http://schemas.openxmlformats.org/officeDocument/2006/relationships/image" Target="../media/media18.svg"/><Relationship Id="rId13" Type="http://schemas.openxmlformats.org/officeDocument/2006/relationships/image" Target="../media/image39.png"/><Relationship Id="rId14" Type="http://schemas.openxmlformats.org/officeDocument/2006/relationships/image" Target="../media/media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DFDF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835904" name="Freeform 2"/>
          <p:cNvSpPr/>
          <p:nvPr/>
        </p:nvSpPr>
        <p:spPr bwMode="auto">
          <a:xfrm rot="-2230762" flipH="0" flipV="0">
            <a:off x="2459055" y="924443"/>
            <a:ext cx="19465889" cy="15997422"/>
          </a:xfrm>
          <a:custGeom>
            <a:avLst/>
            <a:gdLst/>
            <a:ahLst/>
            <a:cxnLst/>
            <a:rect l="l" t="t" r="r" b="b"/>
            <a:pathLst>
              <a:path w="19465889" h="15997422" fill="norm" stroke="1" extrusionOk="0">
                <a:moveTo>
                  <a:pt x="0" y="0"/>
                </a:moveTo>
                <a:lnTo>
                  <a:pt x="19465890" y="0"/>
                </a:lnTo>
                <a:lnTo>
                  <a:pt x="19465890" y="15997422"/>
                </a:lnTo>
                <a:lnTo>
                  <a:pt x="0" y="159974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1395766391" name="Group 3"/>
          <p:cNvGrpSpPr>
            <a:grpSpLocks noChangeAspect="1"/>
          </p:cNvGrpSpPr>
          <p:nvPr/>
        </p:nvGrpSpPr>
        <p:grpSpPr bwMode="auto">
          <a:xfrm rot="0">
            <a:off x="12192000" y="401620"/>
            <a:ext cx="4792993" cy="9483760"/>
            <a:chOff x="0" y="0"/>
            <a:chExt cx="2620010" cy="5184140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53340" y="25400"/>
              <a:ext cx="2513329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 fill="norm" stroke="1" extrusionOk="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Freeform 5"/>
            <p:cNvSpPr/>
            <p:nvPr/>
          </p:nvSpPr>
          <p:spPr bwMode="auto">
            <a:xfrm rot="-5400000" flipH="0" flipV="0">
              <a:off x="-1127754" y="1469384"/>
              <a:ext cx="4876800" cy="2250453"/>
            </a:xfrm>
            <a:custGeom>
              <a:avLst/>
              <a:gdLst/>
              <a:ahLst/>
              <a:cxnLst/>
              <a:rect l="l" t="t" r="r" b="b"/>
              <a:pathLst>
                <a:path w="4876800" h="2250453" fill="norm" stroke="1" extrusionOk="0">
                  <a:moveTo>
                    <a:pt x="4876800" y="2040889"/>
                  </a:moveTo>
                  <a:lnTo>
                    <a:pt x="4876800" y="1769110"/>
                  </a:lnTo>
                  <a:lnTo>
                    <a:pt x="4819650" y="1769110"/>
                  </a:lnTo>
                  <a:cubicBezTo>
                    <a:pt x="4754880" y="1769110"/>
                    <a:pt x="4701540" y="1715770"/>
                    <a:pt x="4701540" y="1650999"/>
                  </a:cubicBezTo>
                  <a:lnTo>
                    <a:pt x="4701540" y="601980"/>
                  </a:lnTo>
                  <a:cubicBezTo>
                    <a:pt x="4701540" y="537210"/>
                    <a:pt x="4754880" y="483870"/>
                    <a:pt x="4819650" y="483870"/>
                  </a:cubicBezTo>
                  <a:lnTo>
                    <a:pt x="4876800" y="483870"/>
                  </a:lnTo>
                  <a:lnTo>
                    <a:pt x="4876800" y="209550"/>
                  </a:lnTo>
                  <a:cubicBezTo>
                    <a:pt x="4876800" y="93980"/>
                    <a:pt x="4782820" y="0"/>
                    <a:pt x="4667250" y="0"/>
                  </a:cubicBez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2040889"/>
                  </a:lnTo>
                  <a:cubicBezTo>
                    <a:pt x="0" y="2156460"/>
                    <a:pt x="93980" y="2250439"/>
                    <a:pt x="209550" y="2250439"/>
                  </a:cubicBezTo>
                  <a:lnTo>
                    <a:pt x="4667250" y="2250439"/>
                  </a:lnTo>
                  <a:cubicBezTo>
                    <a:pt x="4782820" y="2251710"/>
                    <a:pt x="4876800" y="2157729"/>
                    <a:pt x="4876800" y="2040889"/>
                  </a:cubicBezTo>
                  <a:close/>
                </a:path>
              </a:pathLst>
            </a:custGeom>
            <a:blipFill rotWithShape="1">
              <a:blip r:embed="rId4"/>
              <a:stretch>
                <a:fillRect l="0" t="-42299" r="-12763" b="-40750"/>
              </a:stretch>
            </a:blipFill>
          </p:spPr>
        </p:sp>
        <p:sp>
          <p:nvSpPr>
            <p:cNvPr id="6" name="Freeform 6"/>
            <p:cNvSpPr/>
            <p:nvPr/>
          </p:nvSpPr>
          <p:spPr bwMode="auto">
            <a:xfrm rot="0" flipH="0" flipV="0"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 fill="norm" stroke="1" extrusionOk="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FF5B37"/>
            </a:solidFill>
          </p:spPr>
        </p:sp>
        <p:sp>
          <p:nvSpPr>
            <p:cNvPr id="7" name="Freeform 7"/>
            <p:cNvSpPr/>
            <p:nvPr/>
          </p:nvSpPr>
          <p:spPr bwMode="auto">
            <a:xfrm rot="0" flipH="0" flipV="0"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 fill="norm" stroke="1" extrusionOk="0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FF5B37"/>
            </a:solidFill>
          </p:spPr>
        </p:sp>
        <p:sp>
          <p:nvSpPr>
            <p:cNvPr id="8" name="Freeform 8"/>
            <p:cNvSpPr/>
            <p:nvPr/>
          </p:nvSpPr>
          <p:spPr bwMode="auto">
            <a:xfrm rot="0" flipH="0" flipV="0"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 fill="norm" stroke="1" extrusionOk="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F5B37"/>
            </a:solidFill>
          </p:spPr>
        </p:sp>
        <p:sp>
          <p:nvSpPr>
            <p:cNvPr id="9" name="Freeform 9"/>
            <p:cNvSpPr/>
            <p:nvPr/>
          </p:nvSpPr>
          <p:spPr bwMode="auto">
            <a:xfrm rot="0" flipH="0" flipV="0"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 fill="norm" stroke="1" extrusionOk="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F5B37"/>
            </a:solidFill>
          </p:spPr>
        </p:sp>
        <p:sp>
          <p:nvSpPr>
            <p:cNvPr id="10" name="Freeform 10"/>
            <p:cNvSpPr/>
            <p:nvPr/>
          </p:nvSpPr>
          <p:spPr bwMode="auto">
            <a:xfrm rot="0" flipH="0" flipV="0"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 fill="norm" stroke="1" extrusionOk="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FF5B37"/>
            </a:solidFill>
          </p:spPr>
        </p:sp>
        <p:sp>
          <p:nvSpPr>
            <p:cNvPr id="11" name="Freeform 11"/>
            <p:cNvSpPr/>
            <p:nvPr/>
          </p:nvSpPr>
          <p:spPr bwMode="auto">
            <a:xfrm rot="0" flipH="0" flipV="0"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 fill="norm" stroke="1" extrusionOk="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FF5B37"/>
            </a:solidFill>
          </p:spPr>
        </p:sp>
        <p:sp>
          <p:nvSpPr>
            <p:cNvPr id="12" name="Freeform 12"/>
            <p:cNvSpPr/>
            <p:nvPr/>
          </p:nvSpPr>
          <p:spPr bwMode="auto">
            <a:xfrm rot="0" flipH="0" flipV="0"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 fill="norm" stroke="1" extrusionOk="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75004197" name="Freeform 13"/>
          <p:cNvSpPr/>
          <p:nvPr/>
        </p:nvSpPr>
        <p:spPr bwMode="auto">
          <a:xfrm rot="0" flipH="0" flipV="0">
            <a:off x="609600" y="609600"/>
            <a:ext cx="446522" cy="341792"/>
          </a:xfrm>
          <a:custGeom>
            <a:avLst/>
            <a:gdLst/>
            <a:ahLst/>
            <a:cxnLst/>
            <a:rect l="l" t="t" r="r" b="b"/>
            <a:pathLst>
              <a:path w="446522" h="341792" fill="norm" stroke="1" extrusionOk="0">
                <a:moveTo>
                  <a:pt x="0" y="0"/>
                </a:moveTo>
                <a:lnTo>
                  <a:pt x="446522" y="0"/>
                </a:lnTo>
                <a:lnTo>
                  <a:pt x="446522" y="341792"/>
                </a:lnTo>
                <a:lnTo>
                  <a:pt x="0" y="3417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grpSp>
        <p:nvGrpSpPr>
          <p:cNvPr id="524057710" name="Group 14"/>
          <p:cNvGrpSpPr/>
          <p:nvPr/>
        </p:nvGrpSpPr>
        <p:grpSpPr bwMode="auto">
          <a:xfrm rot="0">
            <a:off x="609600" y="6718185"/>
            <a:ext cx="2339485" cy="751668"/>
            <a:chOff x="0" y="0"/>
            <a:chExt cx="616161" cy="197970"/>
          </a:xfrm>
        </p:grpSpPr>
        <p:sp>
          <p:nvSpPr>
            <p:cNvPr id="15" name="Freeform 15"/>
            <p:cNvSpPr/>
            <p:nvPr/>
          </p:nvSpPr>
          <p:spPr bwMode="auto">
            <a:xfrm rot="0" flipH="0" flipV="0">
              <a:off x="0" y="0"/>
              <a:ext cx="616161" cy="197970"/>
            </a:xfrm>
            <a:custGeom>
              <a:avLst/>
              <a:gdLst/>
              <a:ahLst/>
              <a:cxnLst/>
              <a:rect l="l" t="t" r="r" b="b"/>
              <a:pathLst>
                <a:path w="616161" h="197970" fill="norm" stroke="1" extrusionOk="0">
                  <a:moveTo>
                    <a:pt x="98985" y="0"/>
                  </a:moveTo>
                  <a:lnTo>
                    <a:pt x="517176" y="0"/>
                  </a:lnTo>
                  <a:cubicBezTo>
                    <a:pt x="571844" y="0"/>
                    <a:pt x="616161" y="44317"/>
                    <a:pt x="616161" y="98985"/>
                  </a:cubicBezTo>
                  <a:lnTo>
                    <a:pt x="616161" y="98985"/>
                  </a:lnTo>
                  <a:cubicBezTo>
                    <a:pt x="616161" y="125238"/>
                    <a:pt x="605732" y="150415"/>
                    <a:pt x="587169" y="168978"/>
                  </a:cubicBezTo>
                  <a:cubicBezTo>
                    <a:pt x="568605" y="187541"/>
                    <a:pt x="543428" y="197970"/>
                    <a:pt x="517176" y="197970"/>
                  </a:cubicBezTo>
                  <a:lnTo>
                    <a:pt x="98985" y="197970"/>
                  </a:lnTo>
                  <a:cubicBezTo>
                    <a:pt x="44317" y="197970"/>
                    <a:pt x="0" y="153653"/>
                    <a:pt x="0" y="98985"/>
                  </a:cubicBezTo>
                  <a:lnTo>
                    <a:pt x="0" y="98985"/>
                  </a:lnTo>
                  <a:cubicBezTo>
                    <a:pt x="0" y="44317"/>
                    <a:pt x="44317" y="0"/>
                    <a:pt x="98985" y="0"/>
                  </a:cubicBezTo>
                  <a:close/>
                </a:path>
              </a:pathLst>
            </a:custGeom>
            <a:solidFill>
              <a:srgbClr val="FF5B37"/>
            </a:solidFill>
            <a:ln cap="rnd">
              <a:noFill/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 bwMode="auto">
            <a:xfrm>
              <a:off x="0" y="0"/>
              <a:ext cx="616161" cy="19797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40"/>
                </a:lnSpc>
                <a:spcBef>
                  <a:spcPts val="0"/>
                </a:spcBef>
                <a:defRPr/>
              </a:pPr>
              <a:r>
                <a:rPr lang="en-US" sz="2200" b="1">
                  <a:solidFill>
                    <a:srgbClr val="F5F5F5"/>
                  </a:solidFill>
                  <a:latin typeface="Inter Medium"/>
                  <a:ea typeface="Inter Medium"/>
                  <a:cs typeface="Inter Medium"/>
                </a:rPr>
                <a:t>Proposal</a:t>
              </a:r>
              <a:endParaRPr/>
            </a:p>
          </p:txBody>
        </p:sp>
      </p:grpSp>
      <p:sp>
        <p:nvSpPr>
          <p:cNvPr id="956428311" name="TextBox 17"/>
          <p:cNvSpPr txBox="1"/>
          <p:nvPr/>
        </p:nvSpPr>
        <p:spPr bwMode="auto">
          <a:xfrm rot="0">
            <a:off x="609600" y="1611118"/>
            <a:ext cx="8382000" cy="3286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39"/>
              </a:lnSpc>
              <a:defRPr/>
            </a:pPr>
            <a:r>
              <a:rPr sz="4400" b="1">
                <a:solidFill>
                  <a:srgbClr val="000000"/>
                </a:solidFill>
              </a:rPr>
              <a:t>Daily Utility — One App. Every Day-of-Life Tool.</a:t>
            </a:r>
            <a:endParaRPr/>
          </a:p>
        </p:txBody>
      </p:sp>
      <p:sp>
        <p:nvSpPr>
          <p:cNvPr id="1821491473" name="TextBox 18"/>
          <p:cNvSpPr txBox="1"/>
          <p:nvPr/>
        </p:nvSpPr>
        <p:spPr bwMode="auto">
          <a:xfrm rot="0">
            <a:off x="1195748" y="613808"/>
            <a:ext cx="1391384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  <a:spcBef>
                <a:spcPts val="0"/>
              </a:spcBef>
              <a:defRPr/>
            </a:pPr>
            <a:r>
              <a:rPr sz="1400" b="1">
                <a:solidFill>
                  <a:srgbClr val="000000"/>
                </a:solidFill>
              </a:rPr>
              <a:t>DailyUtility</a:t>
            </a:r>
            <a:endParaRPr/>
          </a:p>
        </p:txBody>
      </p:sp>
      <p:sp>
        <p:nvSpPr>
          <p:cNvPr id="1006228220" name="TextBox 19"/>
          <p:cNvSpPr txBox="1"/>
          <p:nvPr/>
        </p:nvSpPr>
        <p:spPr bwMode="auto">
          <a:xfrm rot="0">
            <a:off x="609600" y="5332325"/>
            <a:ext cx="8382000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defRPr/>
            </a:pPr>
            <a:r>
              <a:rPr sz="1600">
                <a:solidFill>
                  <a:srgbClr val="1F1F1F"/>
                </a:solidFill>
              </a:rPr>
              <a:t>Tasks, notes, finance, calculators, prayer, vault, quiz — 20+ daily tools, fully offline, fully bilingual (বাংলা / English), in a single Material 3 Flutter app.</a:t>
            </a:r>
            <a:endParaRPr/>
          </a:p>
        </p:txBody>
      </p:sp>
      <p:sp>
        <p:nvSpPr>
          <p:cNvPr id="606556006" name="TextBox 20"/>
          <p:cNvSpPr txBox="1"/>
          <p:nvPr/>
        </p:nvSpPr>
        <p:spPr bwMode="auto">
          <a:xfrm rot="0">
            <a:off x="609600" y="8608829"/>
            <a:ext cx="259080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  <a:spcBef>
                <a:spcPts val="0"/>
              </a:spcBef>
              <a:defRPr/>
            </a:pPr>
            <a:r>
              <a:rPr sz="4000" b="1">
                <a:solidFill>
                  <a:srgbClr val="FF5B37"/>
                </a:solidFill>
              </a:rPr>
              <a:t>20+</a:t>
            </a:r>
            <a:endParaRPr/>
          </a:p>
        </p:txBody>
      </p:sp>
      <p:sp>
        <p:nvSpPr>
          <p:cNvPr id="43491597" name="TextBox 21"/>
          <p:cNvSpPr txBox="1"/>
          <p:nvPr/>
        </p:nvSpPr>
        <p:spPr bwMode="auto">
          <a:xfrm rot="0">
            <a:off x="609600" y="9328150"/>
            <a:ext cx="259080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defRPr/>
            </a:pPr>
            <a:r>
              <a:rPr sz="1200">
                <a:solidFill>
                  <a:srgbClr val="555555"/>
                </a:solidFill>
              </a:rPr>
              <a:t>Built-in Tools</a:t>
            </a:r>
            <a:endParaRPr/>
          </a:p>
        </p:txBody>
      </p:sp>
      <p:sp>
        <p:nvSpPr>
          <p:cNvPr id="1640585539" name="TextBox 22"/>
          <p:cNvSpPr txBox="1"/>
          <p:nvPr/>
        </p:nvSpPr>
        <p:spPr bwMode="auto">
          <a:xfrm rot="0">
            <a:off x="3657600" y="8608829"/>
            <a:ext cx="259080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  <a:spcBef>
                <a:spcPts val="0"/>
              </a:spcBef>
              <a:defRPr/>
            </a:pPr>
            <a:r>
              <a:rPr sz="3200" b="1">
                <a:solidFill>
                  <a:srgbClr val="FF5B37"/>
                </a:solidFill>
              </a:rPr>
              <a:t>Offline-First</a:t>
            </a:r>
            <a:endParaRPr/>
          </a:p>
        </p:txBody>
      </p:sp>
      <p:sp>
        <p:nvSpPr>
          <p:cNvPr id="34276445" name="TextBox 23"/>
          <p:cNvSpPr txBox="1"/>
          <p:nvPr/>
        </p:nvSpPr>
        <p:spPr bwMode="auto">
          <a:xfrm rot="0">
            <a:off x="3657600" y="9328150"/>
            <a:ext cx="259080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defRPr/>
            </a:pPr>
            <a:r>
              <a:rPr sz="1200">
                <a:solidFill>
                  <a:srgbClr val="555555"/>
                </a:solidFill>
              </a:rPr>
              <a:t>Storage Model</a:t>
            </a:r>
            <a:endParaRPr/>
          </a:p>
        </p:txBody>
      </p:sp>
      <p:sp>
        <p:nvSpPr>
          <p:cNvPr id="1341991038" name="TextBox 24"/>
          <p:cNvSpPr txBox="1"/>
          <p:nvPr/>
        </p:nvSpPr>
        <p:spPr bwMode="auto">
          <a:xfrm rot="0">
            <a:off x="3505199" y="6888597"/>
            <a:ext cx="2743200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80"/>
              </a:lnSpc>
              <a:defRPr/>
            </a:pPr>
            <a:r>
              <a:rPr sz="1800" b="1">
                <a:solidFill>
                  <a:srgbClr val="000000"/>
                </a:solidFill>
              </a:rPr>
              <a:t>Q3 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DFDF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66821" name="Freeform 2"/>
          <p:cNvSpPr/>
          <p:nvPr/>
        </p:nvSpPr>
        <p:spPr bwMode="auto">
          <a:xfrm rot="0" flipH="0" flipV="0">
            <a:off x="609600" y="609600"/>
            <a:ext cx="446522" cy="341792"/>
          </a:xfrm>
          <a:custGeom>
            <a:avLst/>
            <a:gdLst/>
            <a:ahLst/>
            <a:cxnLst/>
            <a:rect l="l" t="t" r="r" b="b"/>
            <a:pathLst>
              <a:path w="446522" h="341792" fill="norm" stroke="1" extrusionOk="0">
                <a:moveTo>
                  <a:pt x="0" y="0"/>
                </a:moveTo>
                <a:lnTo>
                  <a:pt x="446522" y="0"/>
                </a:lnTo>
                <a:lnTo>
                  <a:pt x="446522" y="341792"/>
                </a:lnTo>
                <a:lnTo>
                  <a:pt x="0" y="3417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403601978" name="Group 3"/>
          <p:cNvGrpSpPr/>
          <p:nvPr/>
        </p:nvGrpSpPr>
        <p:grpSpPr bwMode="auto">
          <a:xfrm rot="0">
            <a:off x="9877424" y="0"/>
            <a:ext cx="9329541" cy="10287000"/>
            <a:chOff x="0" y="0"/>
            <a:chExt cx="2457163" cy="2709333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457163" cy="2709333"/>
            </a:xfrm>
            <a:custGeom>
              <a:avLst/>
              <a:gdLst/>
              <a:ahLst/>
              <a:cxnLst/>
              <a:rect l="l" t="t" r="r" b="b"/>
              <a:pathLst>
                <a:path w="2457163" h="2709333" fill="norm" stroke="1" extrusionOk="0">
                  <a:moveTo>
                    <a:pt x="26555" y="0"/>
                  </a:moveTo>
                  <a:lnTo>
                    <a:pt x="2430608" y="0"/>
                  </a:lnTo>
                  <a:cubicBezTo>
                    <a:pt x="2445274" y="0"/>
                    <a:pt x="2457163" y="11889"/>
                    <a:pt x="2457163" y="26555"/>
                  </a:cubicBezTo>
                  <a:lnTo>
                    <a:pt x="2457163" y="2682779"/>
                  </a:lnTo>
                  <a:cubicBezTo>
                    <a:pt x="2457163" y="2697444"/>
                    <a:pt x="2445274" y="2709333"/>
                    <a:pt x="2430608" y="2709333"/>
                  </a:cubicBezTo>
                  <a:lnTo>
                    <a:pt x="26555" y="2709333"/>
                  </a:lnTo>
                  <a:cubicBezTo>
                    <a:pt x="11889" y="2709333"/>
                    <a:pt x="0" y="2697444"/>
                    <a:pt x="0" y="2682779"/>
                  </a:cubicBezTo>
                  <a:lnTo>
                    <a:pt x="0" y="26555"/>
                  </a:lnTo>
                  <a:cubicBezTo>
                    <a:pt x="0" y="11889"/>
                    <a:pt x="11889" y="0"/>
                    <a:pt x="26555" y="0"/>
                  </a:cubicBezTo>
                  <a:close/>
                </a:path>
              </a:pathLst>
            </a:custGeom>
            <a:solidFill>
              <a:srgbClr val="F5F5F5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0"/>
              <a:ext cx="2457163" cy="27093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557928690" name="Group 6"/>
          <p:cNvGrpSpPr/>
          <p:nvPr/>
        </p:nvGrpSpPr>
        <p:grpSpPr bwMode="auto">
          <a:xfrm rot="0">
            <a:off x="10439400" y="609600"/>
            <a:ext cx="7239000" cy="9067800"/>
            <a:chOff x="0" y="0"/>
            <a:chExt cx="1121511" cy="1404840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1121511" cy="1404840"/>
            </a:xfrm>
            <a:custGeom>
              <a:avLst/>
              <a:gdLst/>
              <a:ahLst/>
              <a:cxnLst/>
              <a:rect l="l" t="t" r="r" b="b"/>
              <a:pathLst>
                <a:path w="1121511" h="1404840" fill="norm" stroke="1" extrusionOk="0">
                  <a:moveTo>
                    <a:pt x="34223" y="0"/>
                  </a:moveTo>
                  <a:lnTo>
                    <a:pt x="1087287" y="0"/>
                  </a:lnTo>
                  <a:cubicBezTo>
                    <a:pt x="1106188" y="0"/>
                    <a:pt x="1121511" y="15322"/>
                    <a:pt x="1121511" y="34223"/>
                  </a:cubicBezTo>
                  <a:lnTo>
                    <a:pt x="1121511" y="1370616"/>
                  </a:lnTo>
                  <a:cubicBezTo>
                    <a:pt x="1121511" y="1379693"/>
                    <a:pt x="1117905" y="1388398"/>
                    <a:pt x="1111487" y="1394816"/>
                  </a:cubicBezTo>
                  <a:cubicBezTo>
                    <a:pt x="1105069" y="1401234"/>
                    <a:pt x="1096364" y="1404840"/>
                    <a:pt x="1087287" y="1404840"/>
                  </a:cubicBezTo>
                  <a:lnTo>
                    <a:pt x="34223" y="1404840"/>
                  </a:lnTo>
                  <a:cubicBezTo>
                    <a:pt x="25147" y="1404840"/>
                    <a:pt x="16442" y="1401234"/>
                    <a:pt x="10024" y="1394816"/>
                  </a:cubicBezTo>
                  <a:cubicBezTo>
                    <a:pt x="3606" y="1388398"/>
                    <a:pt x="0" y="1379693"/>
                    <a:pt x="0" y="1370616"/>
                  </a:cubicBezTo>
                  <a:lnTo>
                    <a:pt x="0" y="34223"/>
                  </a:lnTo>
                  <a:cubicBezTo>
                    <a:pt x="0" y="25147"/>
                    <a:pt x="3606" y="16442"/>
                    <a:pt x="10024" y="10024"/>
                  </a:cubicBezTo>
                  <a:cubicBezTo>
                    <a:pt x="16442" y="3606"/>
                    <a:pt x="25147" y="0"/>
                    <a:pt x="34223" y="0"/>
                  </a:cubicBezTo>
                  <a:close/>
                </a:path>
              </a:pathLst>
            </a:custGeom>
            <a:blipFill rotWithShape="1">
              <a:blip r:embed="rId4"/>
              <a:stretch>
                <a:fillRect l="-43862" t="0" r="-43861" b="0"/>
              </a:stretch>
            </a:blipFill>
          </p:spPr>
        </p:sp>
      </p:grpSp>
      <p:sp>
        <p:nvSpPr>
          <p:cNvPr id="1774232842" name="TextBox 8"/>
          <p:cNvSpPr txBox="1"/>
          <p:nvPr/>
        </p:nvSpPr>
        <p:spPr bwMode="auto">
          <a:xfrm rot="0">
            <a:off x="609600" y="1611118"/>
            <a:ext cx="8686800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79"/>
              </a:lnSpc>
              <a:defRPr/>
            </a:pPr>
            <a:r>
              <a:rPr sz="4000" b="1">
                <a:solidFill>
                  <a:srgbClr val="000000"/>
                </a:solidFill>
              </a:rPr>
              <a:t>The App-Overload Problem</a:t>
            </a:r>
            <a:endParaRPr/>
          </a:p>
        </p:txBody>
      </p:sp>
      <p:sp>
        <p:nvSpPr>
          <p:cNvPr id="1379134041" name="TextBox 9"/>
          <p:cNvSpPr txBox="1"/>
          <p:nvPr/>
        </p:nvSpPr>
        <p:spPr bwMode="auto">
          <a:xfrm rot="0">
            <a:off x="1195748" y="613808"/>
            <a:ext cx="1391384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  <a:spcBef>
                <a:spcPts val="0"/>
              </a:spcBef>
              <a:defRPr/>
            </a:pPr>
            <a:r>
              <a:rPr sz="1400" b="1">
                <a:solidFill>
                  <a:srgbClr val="000000"/>
                </a:solidFill>
              </a:rPr>
              <a:t>DailyUtility</a:t>
            </a:r>
            <a:endParaRPr/>
          </a:p>
        </p:txBody>
      </p:sp>
      <p:sp>
        <p:nvSpPr>
          <p:cNvPr id="627058786" name="TextBox 10"/>
          <p:cNvSpPr txBox="1"/>
          <p:nvPr/>
        </p:nvSpPr>
        <p:spPr bwMode="auto">
          <a:xfrm rot="0">
            <a:off x="609600" y="3841218"/>
            <a:ext cx="868680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defRPr/>
            </a:pPr>
            <a:r>
              <a:rPr sz="1400">
                <a:solidFill>
                  <a:srgbClr val="1F1F1F"/>
                </a:solidFill>
              </a:rPr>
              <a:t>Most people juggle 8–12 separate apps just to get through a normal week — a to-do app, a notes app, a finance tracker, a separate calculator, a habit app, a prayer app, a vault. Each one demands its own account, its own subscription, its own sync.</a:t>
            </a:r>
            <a:endParaRPr/>
          </a:p>
        </p:txBody>
      </p:sp>
      <p:sp>
        <p:nvSpPr>
          <p:cNvPr id="975888808" name="TextBox 11"/>
          <p:cNvSpPr txBox="1"/>
          <p:nvPr/>
        </p:nvSpPr>
        <p:spPr bwMode="auto">
          <a:xfrm rot="0">
            <a:off x="609600" y="5865362"/>
            <a:ext cx="4051149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  <a:spcBef>
                <a:spcPts val="0"/>
              </a:spcBef>
              <a:defRPr/>
            </a:pPr>
            <a:r>
              <a:rPr sz="3200" b="1">
                <a:solidFill>
                  <a:srgbClr val="FF5B37"/>
                </a:solidFill>
              </a:rPr>
              <a:t>8–12 apps</a:t>
            </a:r>
            <a:endParaRPr/>
          </a:p>
        </p:txBody>
      </p:sp>
      <p:sp>
        <p:nvSpPr>
          <p:cNvPr id="1494161701" name="TextBox 12"/>
          <p:cNvSpPr txBox="1"/>
          <p:nvPr/>
        </p:nvSpPr>
        <p:spPr bwMode="auto">
          <a:xfrm rot="0">
            <a:off x="609600" y="6584684"/>
            <a:ext cx="4051149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defRPr/>
            </a:pPr>
            <a:r>
              <a:rPr sz="1200">
                <a:solidFill>
                  <a:srgbClr val="1F1F1F"/>
                </a:solidFill>
              </a:rPr>
              <a:t>Average number of utility apps installed on a single phone.</a:t>
            </a:r>
            <a:endParaRPr/>
          </a:p>
        </p:txBody>
      </p:sp>
      <p:sp>
        <p:nvSpPr>
          <p:cNvPr id="1222129662" name="TextBox 13"/>
          <p:cNvSpPr txBox="1"/>
          <p:nvPr/>
        </p:nvSpPr>
        <p:spPr bwMode="auto">
          <a:xfrm rot="0">
            <a:off x="5245251" y="5865362"/>
            <a:ext cx="4051149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  <a:spcBef>
                <a:spcPts val="0"/>
              </a:spcBef>
              <a:defRPr/>
            </a:pPr>
            <a:r>
              <a:rPr sz="3200" b="1">
                <a:solidFill>
                  <a:srgbClr val="FF5B37"/>
                </a:solidFill>
              </a:rPr>
              <a:t>$ 200 / yr</a:t>
            </a:r>
            <a:endParaRPr/>
          </a:p>
        </p:txBody>
      </p:sp>
      <p:sp>
        <p:nvSpPr>
          <p:cNvPr id="1232266622" name="TextBox 14"/>
          <p:cNvSpPr txBox="1"/>
          <p:nvPr/>
        </p:nvSpPr>
        <p:spPr bwMode="auto">
          <a:xfrm rot="0">
            <a:off x="5245251" y="6584684"/>
            <a:ext cx="4051149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defRPr/>
            </a:pPr>
            <a:r>
              <a:rPr sz="1200">
                <a:solidFill>
                  <a:srgbClr val="1F1F1F"/>
                </a:solidFill>
              </a:rPr>
              <a:t>Combined annual subscriptions across productivity, finance and lifestyle tools.</a:t>
            </a:r>
            <a:endParaRPr/>
          </a:p>
        </p:txBody>
      </p:sp>
      <p:sp>
        <p:nvSpPr>
          <p:cNvPr id="1211756637" name="TextBox 15"/>
          <p:cNvSpPr txBox="1"/>
          <p:nvPr/>
        </p:nvSpPr>
        <p:spPr bwMode="auto">
          <a:xfrm rot="0">
            <a:off x="609600" y="8256404"/>
            <a:ext cx="4051149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  <a:spcBef>
                <a:spcPts val="0"/>
              </a:spcBef>
              <a:defRPr/>
            </a:pPr>
            <a:r>
              <a:rPr sz="3200" b="1">
                <a:solidFill>
                  <a:srgbClr val="FF5B37"/>
                </a:solidFill>
              </a:rPr>
              <a:t>0% privacy</a:t>
            </a:r>
            <a:endParaRPr/>
          </a:p>
        </p:txBody>
      </p:sp>
      <p:sp>
        <p:nvSpPr>
          <p:cNvPr id="1416727741" name="TextBox 16"/>
          <p:cNvSpPr txBox="1"/>
          <p:nvPr/>
        </p:nvSpPr>
        <p:spPr bwMode="auto">
          <a:xfrm rot="0">
            <a:off x="609600" y="8975725"/>
            <a:ext cx="4051149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defRPr/>
            </a:pPr>
            <a:r>
              <a:rPr sz="1200">
                <a:solidFill>
                  <a:srgbClr val="1F1F1F"/>
                </a:solidFill>
              </a:rPr>
              <a:t>Default cloud apps sync your tasks, notes and passwords to servers you don't control.</a:t>
            </a:r>
            <a:endParaRPr/>
          </a:p>
        </p:txBody>
      </p:sp>
      <p:sp>
        <p:nvSpPr>
          <p:cNvPr id="1043186749" name="TextBox 17"/>
          <p:cNvSpPr txBox="1"/>
          <p:nvPr/>
        </p:nvSpPr>
        <p:spPr bwMode="auto">
          <a:xfrm rot="0">
            <a:off x="5245251" y="8256404"/>
            <a:ext cx="4051149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  <a:spcBef>
                <a:spcPts val="0"/>
              </a:spcBef>
              <a:defRPr/>
            </a:pPr>
            <a:r>
              <a:rPr sz="2400" b="1">
                <a:solidFill>
                  <a:srgbClr val="FF5B37"/>
                </a:solidFill>
              </a:rPr>
              <a:t>Heavy on data</a:t>
            </a:r>
            <a:endParaRPr/>
          </a:p>
        </p:txBody>
      </p:sp>
      <p:sp>
        <p:nvSpPr>
          <p:cNvPr id="898143542" name="TextBox 18"/>
          <p:cNvSpPr txBox="1"/>
          <p:nvPr/>
        </p:nvSpPr>
        <p:spPr bwMode="auto">
          <a:xfrm rot="0">
            <a:off x="5245251" y="8975725"/>
            <a:ext cx="4051149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defRPr/>
            </a:pPr>
            <a:r>
              <a:rPr sz="1200">
                <a:solidFill>
                  <a:srgbClr val="1F1F1F"/>
                </a:solidFill>
              </a:rPr>
              <a:t>Many separate apps mean battery drain, storage use and constant notification noise.</a:t>
            </a:r>
            <a:endParaRPr/>
          </a:p>
        </p:txBody>
      </p:sp>
      <p:sp>
        <p:nvSpPr>
          <p:cNvPr id="51166939" name="TextBox 19"/>
          <p:cNvSpPr txBox="1"/>
          <p:nvPr/>
        </p:nvSpPr>
        <p:spPr bwMode="auto">
          <a:xfrm rot="0">
            <a:off x="609600" y="3393892"/>
            <a:ext cx="868680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defRPr/>
            </a:pPr>
            <a:r>
              <a:rPr sz="1400">
                <a:solidFill>
                  <a:srgbClr val="FF5B37"/>
                </a:solidFill>
              </a:rPr>
              <a:t>Nobody wants to install twelve apps to live one week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DFDF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41566401" name="Group 2"/>
          <p:cNvGrpSpPr/>
          <p:nvPr/>
        </p:nvGrpSpPr>
        <p:grpSpPr bwMode="auto">
          <a:xfrm rot="0">
            <a:off x="6874240" y="0"/>
            <a:ext cx="12332726" cy="10287000"/>
            <a:chOff x="0" y="0"/>
            <a:chExt cx="3248125" cy="2709333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3248125" cy="2709333"/>
            </a:xfrm>
            <a:custGeom>
              <a:avLst/>
              <a:gdLst/>
              <a:ahLst/>
              <a:cxnLst/>
              <a:rect l="l" t="t" r="r" b="b"/>
              <a:pathLst>
                <a:path w="3248125" h="2709333" fill="norm" stroke="1" extrusionOk="0">
                  <a:moveTo>
                    <a:pt x="20088" y="0"/>
                  </a:moveTo>
                  <a:lnTo>
                    <a:pt x="3228037" y="0"/>
                  </a:lnTo>
                  <a:cubicBezTo>
                    <a:pt x="3239131" y="0"/>
                    <a:pt x="3248125" y="8994"/>
                    <a:pt x="3248125" y="20088"/>
                  </a:cubicBezTo>
                  <a:lnTo>
                    <a:pt x="3248125" y="2689245"/>
                  </a:lnTo>
                  <a:cubicBezTo>
                    <a:pt x="3248125" y="2694573"/>
                    <a:pt x="3246009" y="2699682"/>
                    <a:pt x="3242241" y="2703450"/>
                  </a:cubicBezTo>
                  <a:cubicBezTo>
                    <a:pt x="3238474" y="2707217"/>
                    <a:pt x="3233365" y="2709333"/>
                    <a:pt x="3228037" y="2709333"/>
                  </a:cubicBezTo>
                  <a:lnTo>
                    <a:pt x="20088" y="2709333"/>
                  </a:lnTo>
                  <a:cubicBezTo>
                    <a:pt x="8994" y="2709333"/>
                    <a:pt x="0" y="2700339"/>
                    <a:pt x="0" y="2689245"/>
                  </a:cubicBezTo>
                  <a:lnTo>
                    <a:pt x="0" y="20088"/>
                  </a:lnTo>
                  <a:cubicBezTo>
                    <a:pt x="0" y="14760"/>
                    <a:pt x="2116" y="9651"/>
                    <a:pt x="5884" y="5884"/>
                  </a:cubicBezTo>
                  <a:cubicBezTo>
                    <a:pt x="9651" y="2116"/>
                    <a:pt x="14760" y="0"/>
                    <a:pt x="20088" y="0"/>
                  </a:cubicBezTo>
                  <a:close/>
                </a:path>
              </a:pathLst>
            </a:custGeom>
            <a:solidFill>
              <a:srgbClr val="F5F5F5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 bwMode="auto">
            <a:xfrm>
              <a:off x="0" y="0"/>
              <a:ext cx="3248125" cy="27093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129974088" name="Group 5"/>
          <p:cNvGrpSpPr>
            <a:grpSpLocks noChangeAspect="1"/>
          </p:cNvGrpSpPr>
          <p:nvPr/>
        </p:nvGrpSpPr>
        <p:grpSpPr bwMode="auto">
          <a:xfrm rot="0">
            <a:off x="7468481" y="609600"/>
            <a:ext cx="4580644" cy="9063591"/>
            <a:chOff x="0" y="0"/>
            <a:chExt cx="2620010" cy="5184140"/>
          </a:xfrm>
        </p:grpSpPr>
        <p:sp>
          <p:nvSpPr>
            <p:cNvPr id="6" name="Freeform 6"/>
            <p:cNvSpPr/>
            <p:nvPr/>
          </p:nvSpPr>
          <p:spPr bwMode="auto">
            <a:xfrm rot="0" flipH="0" flipV="0">
              <a:off x="53340" y="25400"/>
              <a:ext cx="2513329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 fill="norm" stroke="1" extrusionOk="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Freeform 7"/>
            <p:cNvSpPr/>
            <p:nvPr/>
          </p:nvSpPr>
          <p:spPr bwMode="auto">
            <a:xfrm rot="-5400000" flipH="0" flipV="0">
              <a:off x="-1127754" y="1469384"/>
              <a:ext cx="4876800" cy="2250453"/>
            </a:xfrm>
            <a:custGeom>
              <a:avLst/>
              <a:gdLst/>
              <a:ahLst/>
              <a:cxnLst/>
              <a:rect l="l" t="t" r="r" b="b"/>
              <a:pathLst>
                <a:path w="4876800" h="2250453" fill="norm" stroke="1" extrusionOk="0">
                  <a:moveTo>
                    <a:pt x="4876800" y="2040889"/>
                  </a:moveTo>
                  <a:lnTo>
                    <a:pt x="4876800" y="1769110"/>
                  </a:lnTo>
                  <a:lnTo>
                    <a:pt x="4819650" y="1769110"/>
                  </a:lnTo>
                  <a:cubicBezTo>
                    <a:pt x="4754880" y="1769110"/>
                    <a:pt x="4701540" y="1715770"/>
                    <a:pt x="4701540" y="1650999"/>
                  </a:cubicBezTo>
                  <a:lnTo>
                    <a:pt x="4701540" y="601980"/>
                  </a:lnTo>
                  <a:cubicBezTo>
                    <a:pt x="4701540" y="537210"/>
                    <a:pt x="4754880" y="483870"/>
                    <a:pt x="4819650" y="483870"/>
                  </a:cubicBezTo>
                  <a:lnTo>
                    <a:pt x="4876800" y="483870"/>
                  </a:lnTo>
                  <a:lnTo>
                    <a:pt x="4876800" y="209550"/>
                  </a:lnTo>
                  <a:cubicBezTo>
                    <a:pt x="4876800" y="93980"/>
                    <a:pt x="4782820" y="0"/>
                    <a:pt x="4667250" y="0"/>
                  </a:cubicBez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2040889"/>
                  </a:lnTo>
                  <a:cubicBezTo>
                    <a:pt x="0" y="2156460"/>
                    <a:pt x="93980" y="2250439"/>
                    <a:pt x="209550" y="2250439"/>
                  </a:cubicBezTo>
                  <a:lnTo>
                    <a:pt x="4667250" y="2250439"/>
                  </a:lnTo>
                  <a:cubicBezTo>
                    <a:pt x="4782820" y="2251710"/>
                    <a:pt x="4876800" y="2157729"/>
                    <a:pt x="4876800" y="2040889"/>
                  </a:cubicBezTo>
                  <a:close/>
                </a:path>
              </a:pathLst>
            </a:custGeom>
            <a:blipFill rotWithShape="1">
              <a:blip r:embed="rId3"/>
              <a:stretch>
                <a:fillRect l="0" t="-28464" r="0" b="-28464"/>
              </a:stretch>
            </a:blipFill>
          </p:spPr>
        </p:sp>
        <p:sp>
          <p:nvSpPr>
            <p:cNvPr id="8" name="Freeform 8"/>
            <p:cNvSpPr/>
            <p:nvPr/>
          </p:nvSpPr>
          <p:spPr bwMode="auto">
            <a:xfrm rot="0" flipH="0" flipV="0"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 fill="norm" stroke="1" extrusionOk="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FF5B37"/>
            </a:solidFill>
          </p:spPr>
        </p:sp>
        <p:sp>
          <p:nvSpPr>
            <p:cNvPr id="9" name="Freeform 9"/>
            <p:cNvSpPr/>
            <p:nvPr/>
          </p:nvSpPr>
          <p:spPr bwMode="auto">
            <a:xfrm rot="0" flipH="0" flipV="0"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 fill="norm" stroke="1" extrusionOk="0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FF5B37"/>
            </a:solidFill>
          </p:spPr>
        </p:sp>
        <p:sp>
          <p:nvSpPr>
            <p:cNvPr id="10" name="Freeform 10"/>
            <p:cNvSpPr/>
            <p:nvPr/>
          </p:nvSpPr>
          <p:spPr bwMode="auto">
            <a:xfrm rot="0" flipH="0" flipV="0"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 fill="norm" stroke="1" extrusionOk="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F5B37"/>
            </a:solidFill>
          </p:spPr>
        </p:sp>
        <p:sp>
          <p:nvSpPr>
            <p:cNvPr id="11" name="Freeform 11"/>
            <p:cNvSpPr/>
            <p:nvPr/>
          </p:nvSpPr>
          <p:spPr bwMode="auto">
            <a:xfrm rot="0" flipH="0" flipV="0"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 fill="norm" stroke="1" extrusionOk="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F5B37"/>
            </a:solidFill>
          </p:spPr>
        </p:sp>
        <p:sp>
          <p:nvSpPr>
            <p:cNvPr id="12" name="Freeform 12"/>
            <p:cNvSpPr/>
            <p:nvPr/>
          </p:nvSpPr>
          <p:spPr bwMode="auto">
            <a:xfrm rot="0" flipH="0" flipV="0"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 fill="norm" stroke="1" extrusionOk="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FF5B37"/>
            </a:solidFill>
          </p:spPr>
        </p:sp>
        <p:sp>
          <p:nvSpPr>
            <p:cNvPr id="13" name="Freeform 13"/>
            <p:cNvSpPr/>
            <p:nvPr/>
          </p:nvSpPr>
          <p:spPr bwMode="auto">
            <a:xfrm rot="0" flipH="0" flipV="0"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 fill="norm" stroke="1" extrusionOk="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FF5B37"/>
            </a:solidFill>
          </p:spPr>
        </p:sp>
        <p:sp>
          <p:nvSpPr>
            <p:cNvPr id="14" name="Freeform 14"/>
            <p:cNvSpPr/>
            <p:nvPr/>
          </p:nvSpPr>
          <p:spPr bwMode="auto">
            <a:xfrm rot="0" flipH="0" flipV="0"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 fill="norm" stroke="1" extrusionOk="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72638906" name="Freeform 15"/>
          <p:cNvSpPr/>
          <p:nvPr/>
        </p:nvSpPr>
        <p:spPr bwMode="auto">
          <a:xfrm rot="0" flipH="0" flipV="0">
            <a:off x="609600" y="609600"/>
            <a:ext cx="446522" cy="341792"/>
          </a:xfrm>
          <a:custGeom>
            <a:avLst/>
            <a:gdLst/>
            <a:ahLst/>
            <a:cxnLst/>
            <a:rect l="l" t="t" r="r" b="b"/>
            <a:pathLst>
              <a:path w="446522" h="341792" fill="norm" stroke="1" extrusionOk="0">
                <a:moveTo>
                  <a:pt x="0" y="0"/>
                </a:moveTo>
                <a:lnTo>
                  <a:pt x="446522" y="0"/>
                </a:lnTo>
                <a:lnTo>
                  <a:pt x="446522" y="341792"/>
                </a:lnTo>
                <a:lnTo>
                  <a:pt x="0" y="3417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grpSp>
        <p:nvGrpSpPr>
          <p:cNvPr id="1034978445" name="Group 16"/>
          <p:cNvGrpSpPr/>
          <p:nvPr/>
        </p:nvGrpSpPr>
        <p:grpSpPr bwMode="auto">
          <a:xfrm rot="0">
            <a:off x="11572875" y="1750064"/>
            <a:ext cx="838200" cy="838200"/>
            <a:chOff x="0" y="0"/>
            <a:chExt cx="160553" cy="160553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0553" cy="160553"/>
            </a:xfrm>
            <a:custGeom>
              <a:avLst/>
              <a:gdLst/>
              <a:ahLst/>
              <a:cxnLst/>
              <a:rect l="l" t="t" r="r" b="b"/>
              <a:pathLst>
                <a:path w="160553" h="160553" fill="norm" stroke="1" extrusionOk="0">
                  <a:moveTo>
                    <a:pt x="80277" y="0"/>
                  </a:moveTo>
                  <a:lnTo>
                    <a:pt x="80277" y="0"/>
                  </a:lnTo>
                  <a:cubicBezTo>
                    <a:pt x="124612" y="0"/>
                    <a:pt x="160553" y="35941"/>
                    <a:pt x="160553" y="80277"/>
                  </a:cubicBezTo>
                  <a:lnTo>
                    <a:pt x="160553" y="80277"/>
                  </a:lnTo>
                  <a:cubicBezTo>
                    <a:pt x="160553" y="101567"/>
                    <a:pt x="152095" y="121986"/>
                    <a:pt x="137041" y="137041"/>
                  </a:cubicBezTo>
                  <a:cubicBezTo>
                    <a:pt x="121986" y="152095"/>
                    <a:pt x="101567" y="160553"/>
                    <a:pt x="80277" y="160553"/>
                  </a:cubicBezTo>
                  <a:lnTo>
                    <a:pt x="80277" y="160553"/>
                  </a:lnTo>
                  <a:cubicBezTo>
                    <a:pt x="58986" y="160553"/>
                    <a:pt x="38567" y="152095"/>
                    <a:pt x="23512" y="137041"/>
                  </a:cubicBezTo>
                  <a:cubicBezTo>
                    <a:pt x="8458" y="121986"/>
                    <a:pt x="0" y="101567"/>
                    <a:pt x="0" y="80277"/>
                  </a:cubicBezTo>
                  <a:lnTo>
                    <a:pt x="0" y="80277"/>
                  </a:lnTo>
                  <a:cubicBezTo>
                    <a:pt x="0" y="58986"/>
                    <a:pt x="8458" y="38567"/>
                    <a:pt x="23512" y="23512"/>
                  </a:cubicBezTo>
                  <a:cubicBezTo>
                    <a:pt x="38567" y="8458"/>
                    <a:pt x="58986" y="0"/>
                    <a:pt x="80277" y="0"/>
                  </a:cubicBezTo>
                  <a:close/>
                </a:path>
              </a:pathLst>
            </a:custGeom>
            <a:solidFill>
              <a:srgbClr val="FF5B37"/>
            </a:solidFill>
            <a:ln cap="rnd">
              <a:noFill/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160553" cy="1986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sp>
        <p:nvSpPr>
          <p:cNvPr id="1540209691" name="Freeform 19"/>
          <p:cNvSpPr/>
          <p:nvPr/>
        </p:nvSpPr>
        <p:spPr bwMode="auto">
          <a:xfrm rot="0" flipH="0" flipV="0">
            <a:off x="11740515" y="1911989"/>
            <a:ext cx="502920" cy="457200"/>
          </a:xfrm>
          <a:custGeom>
            <a:avLst/>
            <a:gdLst/>
            <a:ahLst/>
            <a:cxnLst/>
            <a:rect l="l" t="t" r="r" b="b"/>
            <a:pathLst>
              <a:path w="502920" h="457200" fill="norm" stroke="1" extrusionOk="0">
                <a:moveTo>
                  <a:pt x="0" y="0"/>
                </a:moveTo>
                <a:lnTo>
                  <a:pt x="502920" y="0"/>
                </a:lnTo>
                <a:lnTo>
                  <a:pt x="50292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grpSp>
        <p:nvGrpSpPr>
          <p:cNvPr id="276186532" name="Group 20"/>
          <p:cNvGrpSpPr/>
          <p:nvPr/>
        </p:nvGrpSpPr>
        <p:grpSpPr bwMode="auto">
          <a:xfrm rot="0">
            <a:off x="11572875" y="5536977"/>
            <a:ext cx="838200" cy="838200"/>
            <a:chOff x="0" y="0"/>
            <a:chExt cx="160553" cy="160553"/>
          </a:xfrm>
        </p:grpSpPr>
        <p:sp>
          <p:nvSpPr>
            <p:cNvPr id="21" name="Freeform 21"/>
            <p:cNvSpPr/>
            <p:nvPr/>
          </p:nvSpPr>
          <p:spPr bwMode="auto">
            <a:xfrm rot="0" flipH="0" flipV="0">
              <a:off x="0" y="0"/>
              <a:ext cx="160553" cy="160553"/>
            </a:xfrm>
            <a:custGeom>
              <a:avLst/>
              <a:gdLst/>
              <a:ahLst/>
              <a:cxnLst/>
              <a:rect l="l" t="t" r="r" b="b"/>
              <a:pathLst>
                <a:path w="160553" h="160553" fill="norm" stroke="1" extrusionOk="0">
                  <a:moveTo>
                    <a:pt x="80277" y="0"/>
                  </a:moveTo>
                  <a:lnTo>
                    <a:pt x="80277" y="0"/>
                  </a:lnTo>
                  <a:cubicBezTo>
                    <a:pt x="124612" y="0"/>
                    <a:pt x="160553" y="35941"/>
                    <a:pt x="160553" y="80277"/>
                  </a:cubicBezTo>
                  <a:lnTo>
                    <a:pt x="160553" y="80277"/>
                  </a:lnTo>
                  <a:cubicBezTo>
                    <a:pt x="160553" y="101567"/>
                    <a:pt x="152095" y="121986"/>
                    <a:pt x="137041" y="137041"/>
                  </a:cubicBezTo>
                  <a:cubicBezTo>
                    <a:pt x="121986" y="152095"/>
                    <a:pt x="101567" y="160553"/>
                    <a:pt x="80277" y="160553"/>
                  </a:cubicBezTo>
                  <a:lnTo>
                    <a:pt x="80277" y="160553"/>
                  </a:lnTo>
                  <a:cubicBezTo>
                    <a:pt x="58986" y="160553"/>
                    <a:pt x="38567" y="152095"/>
                    <a:pt x="23512" y="137041"/>
                  </a:cubicBezTo>
                  <a:cubicBezTo>
                    <a:pt x="8458" y="121986"/>
                    <a:pt x="0" y="101567"/>
                    <a:pt x="0" y="80277"/>
                  </a:cubicBezTo>
                  <a:lnTo>
                    <a:pt x="0" y="80277"/>
                  </a:lnTo>
                  <a:cubicBezTo>
                    <a:pt x="0" y="58986"/>
                    <a:pt x="8458" y="38567"/>
                    <a:pt x="23512" y="23512"/>
                  </a:cubicBezTo>
                  <a:cubicBezTo>
                    <a:pt x="38567" y="8458"/>
                    <a:pt x="58986" y="0"/>
                    <a:pt x="80277" y="0"/>
                  </a:cubicBezTo>
                  <a:close/>
                </a:path>
              </a:pathLst>
            </a:custGeom>
            <a:solidFill>
              <a:srgbClr val="FF5B37"/>
            </a:solidFill>
            <a:ln cap="rnd">
              <a:noFill/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 bwMode="auto">
            <a:xfrm>
              <a:off x="0" y="-38100"/>
              <a:ext cx="160553" cy="1986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sp>
        <p:nvSpPr>
          <p:cNvPr id="457234719" name="Freeform 23"/>
          <p:cNvSpPr/>
          <p:nvPr/>
        </p:nvSpPr>
        <p:spPr bwMode="auto">
          <a:xfrm rot="0" flipH="0" flipV="0">
            <a:off x="11752489" y="5727478"/>
            <a:ext cx="478971" cy="457200"/>
          </a:xfrm>
          <a:custGeom>
            <a:avLst/>
            <a:gdLst/>
            <a:ahLst/>
            <a:cxnLst/>
            <a:rect l="l" t="t" r="r" b="b"/>
            <a:pathLst>
              <a:path w="478971" h="457200" fill="norm" stroke="1" extrusionOk="0">
                <a:moveTo>
                  <a:pt x="0" y="0"/>
                </a:moveTo>
                <a:lnTo>
                  <a:pt x="478972" y="0"/>
                </a:lnTo>
                <a:lnTo>
                  <a:pt x="478972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 l="0" t="0" r="0" b="0"/>
            </a:stretch>
          </a:blipFill>
        </p:spPr>
      </p:sp>
      <p:grpSp>
        <p:nvGrpSpPr>
          <p:cNvPr id="1178719642" name="Group 24"/>
          <p:cNvGrpSpPr/>
          <p:nvPr/>
        </p:nvGrpSpPr>
        <p:grpSpPr bwMode="auto">
          <a:xfrm rot="0">
            <a:off x="11572875" y="3643521"/>
            <a:ext cx="838200" cy="838200"/>
            <a:chOff x="0" y="0"/>
            <a:chExt cx="160553" cy="160553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160553" cy="160553"/>
            </a:xfrm>
            <a:custGeom>
              <a:avLst/>
              <a:gdLst/>
              <a:ahLst/>
              <a:cxnLst/>
              <a:rect l="l" t="t" r="r" b="b"/>
              <a:pathLst>
                <a:path w="160553" h="160553" fill="norm" stroke="1" extrusionOk="0">
                  <a:moveTo>
                    <a:pt x="80277" y="0"/>
                  </a:moveTo>
                  <a:lnTo>
                    <a:pt x="80277" y="0"/>
                  </a:lnTo>
                  <a:cubicBezTo>
                    <a:pt x="124612" y="0"/>
                    <a:pt x="160553" y="35941"/>
                    <a:pt x="160553" y="80277"/>
                  </a:cubicBezTo>
                  <a:lnTo>
                    <a:pt x="160553" y="80277"/>
                  </a:lnTo>
                  <a:cubicBezTo>
                    <a:pt x="160553" y="101567"/>
                    <a:pt x="152095" y="121986"/>
                    <a:pt x="137041" y="137041"/>
                  </a:cubicBezTo>
                  <a:cubicBezTo>
                    <a:pt x="121986" y="152095"/>
                    <a:pt x="101567" y="160553"/>
                    <a:pt x="80277" y="160553"/>
                  </a:cubicBezTo>
                  <a:lnTo>
                    <a:pt x="80277" y="160553"/>
                  </a:lnTo>
                  <a:cubicBezTo>
                    <a:pt x="58986" y="160553"/>
                    <a:pt x="38567" y="152095"/>
                    <a:pt x="23512" y="137041"/>
                  </a:cubicBezTo>
                  <a:cubicBezTo>
                    <a:pt x="8458" y="121986"/>
                    <a:pt x="0" y="101567"/>
                    <a:pt x="0" y="80277"/>
                  </a:cubicBezTo>
                  <a:lnTo>
                    <a:pt x="0" y="80277"/>
                  </a:lnTo>
                  <a:cubicBezTo>
                    <a:pt x="0" y="58986"/>
                    <a:pt x="8458" y="38567"/>
                    <a:pt x="23512" y="23512"/>
                  </a:cubicBezTo>
                  <a:cubicBezTo>
                    <a:pt x="38567" y="8458"/>
                    <a:pt x="58986" y="0"/>
                    <a:pt x="80277" y="0"/>
                  </a:cubicBezTo>
                  <a:close/>
                </a:path>
              </a:pathLst>
            </a:custGeom>
            <a:solidFill>
              <a:srgbClr val="FF5B37"/>
            </a:solidFill>
            <a:ln cap="rnd">
              <a:noFill/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 bwMode="auto">
            <a:xfrm>
              <a:off x="0" y="-38100"/>
              <a:ext cx="160553" cy="1986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sp>
        <p:nvSpPr>
          <p:cNvPr id="648135571" name="Freeform 27"/>
          <p:cNvSpPr/>
          <p:nvPr/>
        </p:nvSpPr>
        <p:spPr bwMode="auto">
          <a:xfrm rot="0" flipH="0" flipV="0">
            <a:off x="11774182" y="3834021"/>
            <a:ext cx="435587" cy="457200"/>
          </a:xfrm>
          <a:custGeom>
            <a:avLst/>
            <a:gdLst/>
            <a:ahLst/>
            <a:cxnLst/>
            <a:rect l="l" t="t" r="r" b="b"/>
            <a:pathLst>
              <a:path w="435587" h="457200" fill="norm" stroke="1" extrusionOk="0">
                <a:moveTo>
                  <a:pt x="0" y="0"/>
                </a:moveTo>
                <a:lnTo>
                  <a:pt x="435586" y="0"/>
                </a:lnTo>
                <a:lnTo>
                  <a:pt x="435586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/>
            <a:stretch>
              <a:fillRect l="0" t="0" r="0" b="0"/>
            </a:stretch>
          </a:blipFill>
        </p:spPr>
      </p:sp>
      <p:sp>
        <p:nvSpPr>
          <p:cNvPr id="1972427113" name="TextBox 28"/>
          <p:cNvSpPr txBox="1"/>
          <p:nvPr/>
        </p:nvSpPr>
        <p:spPr bwMode="auto">
          <a:xfrm rot="0">
            <a:off x="12829586" y="1974449"/>
            <a:ext cx="4848814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defRPr/>
            </a:pPr>
            <a:r>
              <a:rPr sz="1200">
                <a:solidFill>
                  <a:srgbClr val="1F1F1F"/>
                </a:solidFill>
              </a:rPr>
              <a:t>A single offline-first Flutter app covering the whole day — productivity, money, lifestyle, utilities, security.</a:t>
            </a:r>
            <a:endParaRPr/>
          </a:p>
        </p:txBody>
      </p:sp>
      <p:sp>
        <p:nvSpPr>
          <p:cNvPr id="2030198599" name="TextBox 29"/>
          <p:cNvSpPr txBox="1"/>
          <p:nvPr/>
        </p:nvSpPr>
        <p:spPr bwMode="auto">
          <a:xfrm rot="0">
            <a:off x="12829586" y="1543459"/>
            <a:ext cx="484881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ts val="0"/>
              </a:spcBef>
              <a:defRPr/>
            </a:pPr>
            <a:r>
              <a:rPr sz="1400" b="1">
                <a:solidFill>
                  <a:srgbClr val="000000"/>
                </a:solidFill>
              </a:rPr>
              <a:t>20+ Tools in One Codebase</a:t>
            </a:r>
            <a:endParaRPr/>
          </a:p>
        </p:txBody>
      </p:sp>
      <p:sp>
        <p:nvSpPr>
          <p:cNvPr id="417779845" name="TextBox 30"/>
          <p:cNvSpPr txBox="1"/>
          <p:nvPr/>
        </p:nvSpPr>
        <p:spPr bwMode="auto">
          <a:xfrm rot="0">
            <a:off x="609600" y="1611118"/>
            <a:ext cx="5486400" cy="194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79"/>
              </a:lnSpc>
              <a:defRPr/>
            </a:pPr>
            <a:r>
              <a:rPr sz="4400" b="1">
                <a:solidFill>
                  <a:srgbClr val="000000"/>
                </a:solidFill>
              </a:rPr>
              <a:t>Our Solution</a:t>
            </a:r>
            <a:endParaRPr/>
          </a:p>
        </p:txBody>
      </p:sp>
      <p:sp>
        <p:nvSpPr>
          <p:cNvPr id="1205429403" name="TextBox 31"/>
          <p:cNvSpPr txBox="1"/>
          <p:nvPr/>
        </p:nvSpPr>
        <p:spPr bwMode="auto">
          <a:xfrm rot="0">
            <a:off x="1195748" y="613808"/>
            <a:ext cx="1391384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  <a:spcBef>
                <a:spcPts val="0"/>
              </a:spcBef>
              <a:defRPr/>
            </a:pPr>
            <a:r>
              <a:rPr sz="1400" b="1">
                <a:solidFill>
                  <a:srgbClr val="000000"/>
                </a:solidFill>
              </a:rPr>
              <a:t>DailyUtility</a:t>
            </a:r>
            <a:endParaRPr/>
          </a:p>
        </p:txBody>
      </p:sp>
      <p:sp>
        <p:nvSpPr>
          <p:cNvPr id="1920524426" name="TextBox 32"/>
          <p:cNvSpPr txBox="1"/>
          <p:nvPr/>
        </p:nvSpPr>
        <p:spPr bwMode="auto">
          <a:xfrm rot="0">
            <a:off x="609600" y="4881421"/>
            <a:ext cx="5511054" cy="140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defRPr/>
            </a:pPr>
            <a:r>
              <a:rPr sz="1200">
                <a:solidFill>
                  <a:srgbClr val="1F1F1F"/>
                </a:solidFill>
              </a:rPr>
              <a:t>Personal data is stored locally with Hive, so it never leaves your phone. Only public content (notice board, quiz, contact) touches Firebase.</a:t>
            </a:r>
            <a:endParaRPr/>
          </a:p>
        </p:txBody>
      </p:sp>
      <p:sp>
        <p:nvSpPr>
          <p:cNvPr id="231380194" name="TextBox 33"/>
          <p:cNvSpPr txBox="1"/>
          <p:nvPr/>
        </p:nvSpPr>
        <p:spPr bwMode="auto">
          <a:xfrm rot="0">
            <a:off x="609600" y="4434096"/>
            <a:ext cx="551105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defRPr/>
            </a:pPr>
            <a:r>
              <a:rPr sz="1400" b="1">
                <a:solidFill>
                  <a:srgbClr val="000000"/>
                </a:solidFill>
              </a:rPr>
              <a:t>Offline-First by Design</a:t>
            </a:r>
            <a:endParaRPr/>
          </a:p>
        </p:txBody>
      </p:sp>
      <p:sp>
        <p:nvSpPr>
          <p:cNvPr id="462019002" name="TextBox 34"/>
          <p:cNvSpPr txBox="1"/>
          <p:nvPr/>
        </p:nvSpPr>
        <p:spPr bwMode="auto">
          <a:xfrm rot="0">
            <a:off x="12829586" y="3867906"/>
            <a:ext cx="4848814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defRPr/>
            </a:pPr>
            <a:r>
              <a:rPr sz="1200">
                <a:solidFill>
                  <a:srgbClr val="1F1F1F"/>
                </a:solidFill>
              </a:rPr>
              <a:t>Bilingual UI (English / বাংলা), light + dark Material 3 themes, responsive from small phones to tablets.</a:t>
            </a:r>
            <a:endParaRPr/>
          </a:p>
        </p:txBody>
      </p:sp>
      <p:sp>
        <p:nvSpPr>
          <p:cNvPr id="1477740624" name="TextBox 35"/>
          <p:cNvSpPr txBox="1"/>
          <p:nvPr/>
        </p:nvSpPr>
        <p:spPr bwMode="auto">
          <a:xfrm rot="0">
            <a:off x="12829586" y="3436916"/>
            <a:ext cx="484881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ts val="0"/>
              </a:spcBef>
              <a:defRPr/>
            </a:pPr>
            <a:r>
              <a:rPr sz="1400" b="1">
                <a:solidFill>
                  <a:srgbClr val="000000"/>
                </a:solidFill>
              </a:rPr>
              <a:t>Bilingual &amp; Themed</a:t>
            </a:r>
            <a:endParaRPr/>
          </a:p>
        </p:txBody>
      </p:sp>
      <p:sp>
        <p:nvSpPr>
          <p:cNvPr id="158314865" name="TextBox 36"/>
          <p:cNvSpPr txBox="1"/>
          <p:nvPr/>
        </p:nvSpPr>
        <p:spPr bwMode="auto">
          <a:xfrm rot="0">
            <a:off x="12829586" y="5761363"/>
            <a:ext cx="4848814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defRPr/>
            </a:pPr>
            <a:r>
              <a:rPr sz="1200">
                <a:solidFill>
                  <a:srgbClr val="1F1F1F"/>
                </a:solidFill>
              </a:rPr>
              <a:t>Every screen uses the single Theme.of(context).colorScheme tokens — no hardcoded colours, no design drift.</a:t>
            </a:r>
            <a:endParaRPr/>
          </a:p>
        </p:txBody>
      </p:sp>
      <p:sp>
        <p:nvSpPr>
          <p:cNvPr id="670623909" name="TextBox 37"/>
          <p:cNvSpPr txBox="1"/>
          <p:nvPr/>
        </p:nvSpPr>
        <p:spPr bwMode="auto">
          <a:xfrm rot="0">
            <a:off x="12829586" y="5330373"/>
            <a:ext cx="484881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ts val="0"/>
              </a:spcBef>
              <a:defRPr/>
            </a:pPr>
            <a:r>
              <a:rPr sz="1400" b="1">
                <a:solidFill>
                  <a:srgbClr val="000000"/>
                </a:solidFill>
              </a:rPr>
              <a:t>One Design System</a:t>
            </a:r>
            <a:endParaRPr/>
          </a:p>
        </p:txBody>
      </p:sp>
      <p:sp>
        <p:nvSpPr>
          <p:cNvPr id="961562200" name="TextBox 38"/>
          <p:cNvSpPr txBox="1"/>
          <p:nvPr/>
        </p:nvSpPr>
        <p:spPr bwMode="auto">
          <a:xfrm rot="0">
            <a:off x="12829586" y="7857330"/>
            <a:ext cx="4848814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  <a:spcBef>
                <a:spcPts val="0"/>
              </a:spcBef>
              <a:defRPr/>
            </a:pPr>
            <a:r>
              <a:rPr sz="3200" b="1">
                <a:solidFill>
                  <a:srgbClr val="FF5B37"/>
                </a:solidFill>
              </a:rPr>
              <a:t>100%</a:t>
            </a:r>
            <a:endParaRPr/>
          </a:p>
        </p:txBody>
      </p:sp>
      <p:sp>
        <p:nvSpPr>
          <p:cNvPr id="71587234" name="TextBox 39"/>
          <p:cNvSpPr txBox="1"/>
          <p:nvPr/>
        </p:nvSpPr>
        <p:spPr bwMode="auto">
          <a:xfrm rot="0">
            <a:off x="12829586" y="8623300"/>
            <a:ext cx="4848814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defRPr/>
            </a:pPr>
            <a:r>
              <a:rPr sz="1200">
                <a:solidFill>
                  <a:srgbClr val="1F1F1F"/>
                </a:solidFill>
              </a:rPr>
              <a:t>Personal data stored on your device — nothing leaves without you tapping "Share".</a:t>
            </a:r>
            <a:endParaRPr/>
          </a:p>
        </p:txBody>
      </p:sp>
      <p:sp>
        <p:nvSpPr>
          <p:cNvPr id="1580330407" name="TextBox 40"/>
          <p:cNvSpPr txBox="1"/>
          <p:nvPr/>
        </p:nvSpPr>
        <p:spPr bwMode="auto">
          <a:xfrm rot="0">
            <a:off x="609600" y="7329522"/>
            <a:ext cx="548640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defRPr/>
            </a:pPr>
            <a:r>
              <a:rPr sz="1200">
                <a:solidFill>
                  <a:srgbClr val="1F1F1F"/>
                </a:solidFill>
              </a:rPr>
              <a:t>Tasks, notes, finance, loans, subscriptions, vault, habits, mood, prayer, quiz, posts, backup — all in one Material 3 app.</a:t>
            </a:r>
            <a:endParaRPr/>
          </a:p>
        </p:txBody>
      </p:sp>
      <p:sp>
        <p:nvSpPr>
          <p:cNvPr id="1340817109" name="TextBox 41"/>
          <p:cNvSpPr txBox="1"/>
          <p:nvPr/>
        </p:nvSpPr>
        <p:spPr bwMode="auto">
          <a:xfrm rot="0">
            <a:off x="609600" y="6882196"/>
            <a:ext cx="551105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defRPr/>
            </a:pPr>
            <a:r>
              <a:rPr sz="1400" b="1">
                <a:solidFill>
                  <a:srgbClr val="000000"/>
                </a:solidFill>
              </a:rPr>
              <a:t>Your Day, One App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DFDF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12943748" name="Group 2"/>
          <p:cNvGrpSpPr>
            <a:grpSpLocks noChangeAspect="1"/>
          </p:cNvGrpSpPr>
          <p:nvPr/>
        </p:nvGrpSpPr>
        <p:grpSpPr bwMode="auto">
          <a:xfrm rot="0">
            <a:off x="609600" y="4063610"/>
            <a:ext cx="7751225" cy="6223390"/>
            <a:chOff x="0" y="0"/>
            <a:chExt cx="7467600" cy="599567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 fill="norm" stroke="1" extrusionOk="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 fill="norm" stroke="1" extrusionOk="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5" name="Freeform 5"/>
            <p:cNvSpPr/>
            <p:nvPr/>
          </p:nvSpPr>
          <p:spPr bwMode="auto">
            <a:xfrm rot="0" flipH="0" flipV="0">
              <a:off x="2434265" y="5210809"/>
              <a:ext cx="2596530" cy="786130"/>
            </a:xfrm>
            <a:custGeom>
              <a:avLst/>
              <a:gdLst/>
              <a:ahLst/>
              <a:cxnLst/>
              <a:rect l="l" t="t" r="r" b="b"/>
              <a:pathLst>
                <a:path w="2596530" h="786130" fill="norm" stroke="1" extrusionOk="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id="6" name="Freeform 6"/>
            <p:cNvSpPr/>
            <p:nvPr/>
          </p:nvSpPr>
          <p:spPr bwMode="auto">
            <a:xfrm rot="0" flipH="0" flipV="0">
              <a:off x="314960" y="353060"/>
              <a:ext cx="6827520" cy="3835400"/>
            </a:xfrm>
            <a:custGeom>
              <a:avLst/>
              <a:gdLst/>
              <a:ahLst/>
              <a:cxnLst/>
              <a:rect l="l" t="t" r="r" b="b"/>
              <a:pathLst>
                <a:path w="6827520" h="3835400" fill="norm" stroke="1" extrusionOk="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 rotWithShape="1">
              <a:blip r:embed="rId3"/>
              <a:stretch>
                <a:fillRect l="0" t="-5" r="0" b="-4"/>
              </a:stretch>
            </a:blipFill>
          </p:spPr>
        </p:sp>
      </p:grpSp>
      <p:grpSp>
        <p:nvGrpSpPr>
          <p:cNvPr id="1249758003" name="Group 7"/>
          <p:cNvGrpSpPr/>
          <p:nvPr/>
        </p:nvGrpSpPr>
        <p:grpSpPr bwMode="auto">
          <a:xfrm rot="0">
            <a:off x="8991600" y="1611118"/>
            <a:ext cx="4076699" cy="3766441"/>
            <a:chOff x="0" y="0"/>
            <a:chExt cx="1073699" cy="991985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1073699" cy="991985"/>
            </a:xfrm>
            <a:custGeom>
              <a:avLst/>
              <a:gdLst/>
              <a:ahLst/>
              <a:cxnLst/>
              <a:rect l="l" t="t" r="r" b="b"/>
              <a:pathLst>
                <a:path w="1073699" h="991985" fill="norm" stroke="1" extrusionOk="0">
                  <a:moveTo>
                    <a:pt x="60770" y="0"/>
                  </a:moveTo>
                  <a:lnTo>
                    <a:pt x="1012929" y="0"/>
                  </a:lnTo>
                  <a:cubicBezTo>
                    <a:pt x="1046491" y="0"/>
                    <a:pt x="1073699" y="27208"/>
                    <a:pt x="1073699" y="60770"/>
                  </a:cubicBezTo>
                  <a:lnTo>
                    <a:pt x="1073699" y="931214"/>
                  </a:lnTo>
                  <a:cubicBezTo>
                    <a:pt x="1073699" y="947332"/>
                    <a:pt x="1067296" y="962789"/>
                    <a:pt x="1055900" y="974185"/>
                  </a:cubicBezTo>
                  <a:cubicBezTo>
                    <a:pt x="1044503" y="985582"/>
                    <a:pt x="1029046" y="991985"/>
                    <a:pt x="1012929" y="991985"/>
                  </a:cubicBezTo>
                  <a:lnTo>
                    <a:pt x="60770" y="991985"/>
                  </a:lnTo>
                  <a:cubicBezTo>
                    <a:pt x="27208" y="991985"/>
                    <a:pt x="0" y="964777"/>
                    <a:pt x="0" y="931214"/>
                  </a:cubicBezTo>
                  <a:lnTo>
                    <a:pt x="0" y="60770"/>
                  </a:lnTo>
                  <a:cubicBezTo>
                    <a:pt x="0" y="27208"/>
                    <a:pt x="27208" y="0"/>
                    <a:pt x="60770" y="0"/>
                  </a:cubicBezTo>
                  <a:close/>
                </a:path>
              </a:pathLst>
            </a:custGeom>
            <a:solidFill>
              <a:srgbClr val="F5F5F5"/>
            </a:solidFill>
            <a:ln cap="rnd">
              <a:noFill/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0"/>
              <a:ext cx="1073699" cy="9919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sp>
        <p:nvSpPr>
          <p:cNvPr id="1597122652" name="Freeform 10"/>
          <p:cNvSpPr/>
          <p:nvPr/>
        </p:nvSpPr>
        <p:spPr bwMode="auto">
          <a:xfrm rot="0" flipH="0" flipV="0">
            <a:off x="609600" y="609600"/>
            <a:ext cx="446522" cy="341792"/>
          </a:xfrm>
          <a:custGeom>
            <a:avLst/>
            <a:gdLst/>
            <a:ahLst/>
            <a:cxnLst/>
            <a:rect l="l" t="t" r="r" b="b"/>
            <a:pathLst>
              <a:path w="446522" h="341792" fill="norm" stroke="1" extrusionOk="0">
                <a:moveTo>
                  <a:pt x="0" y="0"/>
                </a:moveTo>
                <a:lnTo>
                  <a:pt x="446522" y="0"/>
                </a:lnTo>
                <a:lnTo>
                  <a:pt x="446522" y="341792"/>
                </a:lnTo>
                <a:lnTo>
                  <a:pt x="0" y="3417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grpSp>
        <p:nvGrpSpPr>
          <p:cNvPr id="1600449779" name="Group 11"/>
          <p:cNvGrpSpPr/>
          <p:nvPr/>
        </p:nvGrpSpPr>
        <p:grpSpPr bwMode="auto">
          <a:xfrm rot="0">
            <a:off x="9442009" y="2051598"/>
            <a:ext cx="838200" cy="838200"/>
            <a:chOff x="0" y="0"/>
            <a:chExt cx="160553" cy="160553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160553" cy="160553"/>
            </a:xfrm>
            <a:custGeom>
              <a:avLst/>
              <a:gdLst/>
              <a:ahLst/>
              <a:cxnLst/>
              <a:rect l="l" t="t" r="r" b="b"/>
              <a:pathLst>
                <a:path w="160553" h="160553" fill="norm" stroke="1" extrusionOk="0">
                  <a:moveTo>
                    <a:pt x="80277" y="0"/>
                  </a:moveTo>
                  <a:lnTo>
                    <a:pt x="80277" y="0"/>
                  </a:lnTo>
                  <a:cubicBezTo>
                    <a:pt x="124612" y="0"/>
                    <a:pt x="160553" y="35941"/>
                    <a:pt x="160553" y="80277"/>
                  </a:cubicBezTo>
                  <a:lnTo>
                    <a:pt x="160553" y="80277"/>
                  </a:lnTo>
                  <a:cubicBezTo>
                    <a:pt x="160553" y="101567"/>
                    <a:pt x="152095" y="121986"/>
                    <a:pt x="137041" y="137041"/>
                  </a:cubicBezTo>
                  <a:cubicBezTo>
                    <a:pt x="121986" y="152095"/>
                    <a:pt x="101567" y="160553"/>
                    <a:pt x="80277" y="160553"/>
                  </a:cubicBezTo>
                  <a:lnTo>
                    <a:pt x="80277" y="160553"/>
                  </a:lnTo>
                  <a:cubicBezTo>
                    <a:pt x="58986" y="160553"/>
                    <a:pt x="38567" y="152095"/>
                    <a:pt x="23512" y="137041"/>
                  </a:cubicBezTo>
                  <a:cubicBezTo>
                    <a:pt x="8458" y="121986"/>
                    <a:pt x="0" y="101567"/>
                    <a:pt x="0" y="80277"/>
                  </a:cubicBezTo>
                  <a:lnTo>
                    <a:pt x="0" y="80277"/>
                  </a:lnTo>
                  <a:cubicBezTo>
                    <a:pt x="0" y="58986"/>
                    <a:pt x="8458" y="38567"/>
                    <a:pt x="23512" y="23512"/>
                  </a:cubicBezTo>
                  <a:cubicBezTo>
                    <a:pt x="38567" y="8458"/>
                    <a:pt x="58986" y="0"/>
                    <a:pt x="80277" y="0"/>
                  </a:cubicBezTo>
                  <a:close/>
                </a:path>
              </a:pathLst>
            </a:custGeom>
            <a:solidFill>
              <a:srgbClr val="FF5B37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 bwMode="auto">
            <a:xfrm>
              <a:off x="0" y="-38100"/>
              <a:ext cx="160553" cy="1986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sp>
        <p:nvSpPr>
          <p:cNvPr id="82147976" name="Freeform 14"/>
          <p:cNvSpPr/>
          <p:nvPr/>
        </p:nvSpPr>
        <p:spPr bwMode="auto">
          <a:xfrm rot="0" flipH="0" flipV="0">
            <a:off x="9632509" y="224209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fill="norm" stroke="1" extrusionOk="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grpSp>
        <p:nvGrpSpPr>
          <p:cNvPr id="1982560987" name="Group 15"/>
          <p:cNvGrpSpPr/>
          <p:nvPr/>
        </p:nvGrpSpPr>
        <p:grpSpPr bwMode="auto">
          <a:xfrm rot="0">
            <a:off x="13601700" y="1611118"/>
            <a:ext cx="4076699" cy="3766441"/>
            <a:chOff x="0" y="0"/>
            <a:chExt cx="1073699" cy="991985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1073699" cy="991985"/>
            </a:xfrm>
            <a:custGeom>
              <a:avLst/>
              <a:gdLst/>
              <a:ahLst/>
              <a:cxnLst/>
              <a:rect l="l" t="t" r="r" b="b"/>
              <a:pathLst>
                <a:path w="1073699" h="991985" fill="norm" stroke="1" extrusionOk="0">
                  <a:moveTo>
                    <a:pt x="60770" y="0"/>
                  </a:moveTo>
                  <a:lnTo>
                    <a:pt x="1012929" y="0"/>
                  </a:lnTo>
                  <a:cubicBezTo>
                    <a:pt x="1046491" y="0"/>
                    <a:pt x="1073699" y="27208"/>
                    <a:pt x="1073699" y="60770"/>
                  </a:cubicBezTo>
                  <a:lnTo>
                    <a:pt x="1073699" y="931214"/>
                  </a:lnTo>
                  <a:cubicBezTo>
                    <a:pt x="1073699" y="947332"/>
                    <a:pt x="1067296" y="962789"/>
                    <a:pt x="1055900" y="974185"/>
                  </a:cubicBezTo>
                  <a:cubicBezTo>
                    <a:pt x="1044503" y="985582"/>
                    <a:pt x="1029046" y="991985"/>
                    <a:pt x="1012929" y="991985"/>
                  </a:cubicBezTo>
                  <a:lnTo>
                    <a:pt x="60770" y="991985"/>
                  </a:lnTo>
                  <a:cubicBezTo>
                    <a:pt x="27208" y="991985"/>
                    <a:pt x="0" y="964777"/>
                    <a:pt x="0" y="931214"/>
                  </a:cubicBezTo>
                  <a:lnTo>
                    <a:pt x="0" y="60770"/>
                  </a:lnTo>
                  <a:cubicBezTo>
                    <a:pt x="0" y="27208"/>
                    <a:pt x="27208" y="0"/>
                    <a:pt x="60770" y="0"/>
                  </a:cubicBezTo>
                  <a:close/>
                </a:path>
              </a:pathLst>
            </a:custGeom>
            <a:solidFill>
              <a:srgbClr val="F5F5F5"/>
            </a:solidFill>
            <a:ln cap="rnd">
              <a:noFill/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 bwMode="auto">
            <a:xfrm>
              <a:off x="0" y="0"/>
              <a:ext cx="1073699" cy="9919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1524103996" name="Group 18"/>
          <p:cNvGrpSpPr/>
          <p:nvPr/>
        </p:nvGrpSpPr>
        <p:grpSpPr bwMode="auto">
          <a:xfrm rot="0">
            <a:off x="14052109" y="2051598"/>
            <a:ext cx="838200" cy="838200"/>
            <a:chOff x="0" y="0"/>
            <a:chExt cx="160553" cy="160553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160553" cy="160553"/>
            </a:xfrm>
            <a:custGeom>
              <a:avLst/>
              <a:gdLst/>
              <a:ahLst/>
              <a:cxnLst/>
              <a:rect l="l" t="t" r="r" b="b"/>
              <a:pathLst>
                <a:path w="160553" h="160553" fill="norm" stroke="1" extrusionOk="0">
                  <a:moveTo>
                    <a:pt x="80277" y="0"/>
                  </a:moveTo>
                  <a:lnTo>
                    <a:pt x="80277" y="0"/>
                  </a:lnTo>
                  <a:cubicBezTo>
                    <a:pt x="124612" y="0"/>
                    <a:pt x="160553" y="35941"/>
                    <a:pt x="160553" y="80277"/>
                  </a:cubicBezTo>
                  <a:lnTo>
                    <a:pt x="160553" y="80277"/>
                  </a:lnTo>
                  <a:cubicBezTo>
                    <a:pt x="160553" y="101567"/>
                    <a:pt x="152095" y="121986"/>
                    <a:pt x="137041" y="137041"/>
                  </a:cubicBezTo>
                  <a:cubicBezTo>
                    <a:pt x="121986" y="152095"/>
                    <a:pt x="101567" y="160553"/>
                    <a:pt x="80277" y="160553"/>
                  </a:cubicBezTo>
                  <a:lnTo>
                    <a:pt x="80277" y="160553"/>
                  </a:lnTo>
                  <a:cubicBezTo>
                    <a:pt x="58986" y="160553"/>
                    <a:pt x="38567" y="152095"/>
                    <a:pt x="23512" y="137041"/>
                  </a:cubicBezTo>
                  <a:cubicBezTo>
                    <a:pt x="8458" y="121986"/>
                    <a:pt x="0" y="101567"/>
                    <a:pt x="0" y="80277"/>
                  </a:cubicBezTo>
                  <a:lnTo>
                    <a:pt x="0" y="80277"/>
                  </a:lnTo>
                  <a:cubicBezTo>
                    <a:pt x="0" y="58986"/>
                    <a:pt x="8458" y="38567"/>
                    <a:pt x="23512" y="23512"/>
                  </a:cubicBezTo>
                  <a:cubicBezTo>
                    <a:pt x="38567" y="8458"/>
                    <a:pt x="58986" y="0"/>
                    <a:pt x="80277" y="0"/>
                  </a:cubicBezTo>
                  <a:close/>
                </a:path>
              </a:pathLst>
            </a:custGeom>
            <a:solidFill>
              <a:srgbClr val="FF5B37"/>
            </a:solidFill>
            <a:ln cap="rnd">
              <a:noFill/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0" y="-38100"/>
              <a:ext cx="160553" cy="1986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sp>
        <p:nvSpPr>
          <p:cNvPr id="2095142981" name="Freeform 21"/>
          <p:cNvSpPr/>
          <p:nvPr/>
        </p:nvSpPr>
        <p:spPr bwMode="auto">
          <a:xfrm rot="0" flipH="0" flipV="0">
            <a:off x="14253416" y="2242098"/>
            <a:ext cx="435587" cy="457200"/>
          </a:xfrm>
          <a:custGeom>
            <a:avLst/>
            <a:gdLst/>
            <a:ahLst/>
            <a:cxnLst/>
            <a:rect l="l" t="t" r="r" b="b"/>
            <a:pathLst>
              <a:path w="435587" h="457200" fill="norm" stroke="1" extrusionOk="0">
                <a:moveTo>
                  <a:pt x="0" y="0"/>
                </a:moveTo>
                <a:lnTo>
                  <a:pt x="435587" y="0"/>
                </a:lnTo>
                <a:lnTo>
                  <a:pt x="435587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 l="0" t="0" r="0" b="0"/>
            </a:stretch>
          </a:blipFill>
        </p:spPr>
      </p:sp>
      <p:grpSp>
        <p:nvGrpSpPr>
          <p:cNvPr id="1771487969" name="Group 22"/>
          <p:cNvGrpSpPr/>
          <p:nvPr/>
        </p:nvGrpSpPr>
        <p:grpSpPr bwMode="auto">
          <a:xfrm rot="0">
            <a:off x="8991600" y="5910959"/>
            <a:ext cx="4076699" cy="3766441"/>
            <a:chOff x="0" y="0"/>
            <a:chExt cx="1073699" cy="991985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1073699" cy="991985"/>
            </a:xfrm>
            <a:custGeom>
              <a:avLst/>
              <a:gdLst/>
              <a:ahLst/>
              <a:cxnLst/>
              <a:rect l="l" t="t" r="r" b="b"/>
              <a:pathLst>
                <a:path w="1073699" h="991985" fill="norm" stroke="1" extrusionOk="0">
                  <a:moveTo>
                    <a:pt x="60770" y="0"/>
                  </a:moveTo>
                  <a:lnTo>
                    <a:pt x="1012929" y="0"/>
                  </a:lnTo>
                  <a:cubicBezTo>
                    <a:pt x="1046491" y="0"/>
                    <a:pt x="1073699" y="27208"/>
                    <a:pt x="1073699" y="60770"/>
                  </a:cubicBezTo>
                  <a:lnTo>
                    <a:pt x="1073699" y="931214"/>
                  </a:lnTo>
                  <a:cubicBezTo>
                    <a:pt x="1073699" y="947332"/>
                    <a:pt x="1067296" y="962789"/>
                    <a:pt x="1055900" y="974185"/>
                  </a:cubicBezTo>
                  <a:cubicBezTo>
                    <a:pt x="1044503" y="985582"/>
                    <a:pt x="1029046" y="991985"/>
                    <a:pt x="1012929" y="991985"/>
                  </a:cubicBezTo>
                  <a:lnTo>
                    <a:pt x="60770" y="991985"/>
                  </a:lnTo>
                  <a:cubicBezTo>
                    <a:pt x="27208" y="991985"/>
                    <a:pt x="0" y="964777"/>
                    <a:pt x="0" y="931214"/>
                  </a:cubicBezTo>
                  <a:lnTo>
                    <a:pt x="0" y="60770"/>
                  </a:lnTo>
                  <a:cubicBezTo>
                    <a:pt x="0" y="27208"/>
                    <a:pt x="27208" y="0"/>
                    <a:pt x="60770" y="0"/>
                  </a:cubicBezTo>
                  <a:close/>
                </a:path>
              </a:pathLst>
            </a:custGeom>
            <a:solidFill>
              <a:srgbClr val="F5F5F5"/>
            </a:solidFill>
            <a:ln cap="rnd">
              <a:noFill/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0"/>
              <a:ext cx="1073699" cy="9919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1768345102" name="Group 25"/>
          <p:cNvGrpSpPr/>
          <p:nvPr/>
        </p:nvGrpSpPr>
        <p:grpSpPr bwMode="auto">
          <a:xfrm rot="0">
            <a:off x="9442009" y="6351439"/>
            <a:ext cx="838200" cy="838200"/>
            <a:chOff x="0" y="0"/>
            <a:chExt cx="160553" cy="160553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160553" cy="160553"/>
            </a:xfrm>
            <a:custGeom>
              <a:avLst/>
              <a:gdLst/>
              <a:ahLst/>
              <a:cxnLst/>
              <a:rect l="l" t="t" r="r" b="b"/>
              <a:pathLst>
                <a:path w="160553" h="160553" fill="norm" stroke="1" extrusionOk="0">
                  <a:moveTo>
                    <a:pt x="80277" y="0"/>
                  </a:moveTo>
                  <a:lnTo>
                    <a:pt x="80277" y="0"/>
                  </a:lnTo>
                  <a:cubicBezTo>
                    <a:pt x="124612" y="0"/>
                    <a:pt x="160553" y="35941"/>
                    <a:pt x="160553" y="80277"/>
                  </a:cubicBezTo>
                  <a:lnTo>
                    <a:pt x="160553" y="80277"/>
                  </a:lnTo>
                  <a:cubicBezTo>
                    <a:pt x="160553" y="101567"/>
                    <a:pt x="152095" y="121986"/>
                    <a:pt x="137041" y="137041"/>
                  </a:cubicBezTo>
                  <a:cubicBezTo>
                    <a:pt x="121986" y="152095"/>
                    <a:pt x="101567" y="160553"/>
                    <a:pt x="80277" y="160553"/>
                  </a:cubicBezTo>
                  <a:lnTo>
                    <a:pt x="80277" y="160553"/>
                  </a:lnTo>
                  <a:cubicBezTo>
                    <a:pt x="58986" y="160553"/>
                    <a:pt x="38567" y="152095"/>
                    <a:pt x="23512" y="137041"/>
                  </a:cubicBezTo>
                  <a:cubicBezTo>
                    <a:pt x="8458" y="121986"/>
                    <a:pt x="0" y="101567"/>
                    <a:pt x="0" y="80277"/>
                  </a:cubicBezTo>
                  <a:lnTo>
                    <a:pt x="0" y="80277"/>
                  </a:lnTo>
                  <a:cubicBezTo>
                    <a:pt x="0" y="58986"/>
                    <a:pt x="8458" y="38567"/>
                    <a:pt x="23512" y="23512"/>
                  </a:cubicBezTo>
                  <a:cubicBezTo>
                    <a:pt x="38567" y="8458"/>
                    <a:pt x="58986" y="0"/>
                    <a:pt x="80277" y="0"/>
                  </a:cubicBezTo>
                  <a:close/>
                </a:path>
              </a:pathLst>
            </a:custGeom>
            <a:solidFill>
              <a:srgbClr val="FF5B37"/>
            </a:solidFill>
            <a:ln cap="rnd">
              <a:noFill/>
              <a:prstDash val="solid"/>
              <a:round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38100"/>
              <a:ext cx="160553" cy="1986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13648984" name="Group 28"/>
          <p:cNvGrpSpPr/>
          <p:nvPr/>
        </p:nvGrpSpPr>
        <p:grpSpPr bwMode="auto">
          <a:xfrm rot="0">
            <a:off x="13601700" y="5910959"/>
            <a:ext cx="4076699" cy="3766441"/>
            <a:chOff x="0" y="0"/>
            <a:chExt cx="1073699" cy="991985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1073699" cy="991985"/>
            </a:xfrm>
            <a:custGeom>
              <a:avLst/>
              <a:gdLst/>
              <a:ahLst/>
              <a:cxnLst/>
              <a:rect l="l" t="t" r="r" b="b"/>
              <a:pathLst>
                <a:path w="1073699" h="991985" fill="norm" stroke="1" extrusionOk="0">
                  <a:moveTo>
                    <a:pt x="60770" y="0"/>
                  </a:moveTo>
                  <a:lnTo>
                    <a:pt x="1012929" y="0"/>
                  </a:lnTo>
                  <a:cubicBezTo>
                    <a:pt x="1046491" y="0"/>
                    <a:pt x="1073699" y="27208"/>
                    <a:pt x="1073699" y="60770"/>
                  </a:cubicBezTo>
                  <a:lnTo>
                    <a:pt x="1073699" y="931214"/>
                  </a:lnTo>
                  <a:cubicBezTo>
                    <a:pt x="1073699" y="947332"/>
                    <a:pt x="1067296" y="962789"/>
                    <a:pt x="1055900" y="974185"/>
                  </a:cubicBezTo>
                  <a:cubicBezTo>
                    <a:pt x="1044503" y="985582"/>
                    <a:pt x="1029046" y="991985"/>
                    <a:pt x="1012929" y="991985"/>
                  </a:cubicBezTo>
                  <a:lnTo>
                    <a:pt x="60770" y="991985"/>
                  </a:lnTo>
                  <a:cubicBezTo>
                    <a:pt x="27208" y="991985"/>
                    <a:pt x="0" y="964777"/>
                    <a:pt x="0" y="931214"/>
                  </a:cubicBezTo>
                  <a:lnTo>
                    <a:pt x="0" y="60770"/>
                  </a:lnTo>
                  <a:cubicBezTo>
                    <a:pt x="0" y="27208"/>
                    <a:pt x="27208" y="0"/>
                    <a:pt x="60770" y="0"/>
                  </a:cubicBezTo>
                  <a:close/>
                </a:path>
              </a:pathLst>
            </a:custGeom>
            <a:solidFill>
              <a:srgbClr val="F5F5F5"/>
            </a:solidFill>
            <a:ln cap="rnd">
              <a:noFill/>
              <a:prstDash val="solid"/>
              <a:round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0"/>
              <a:ext cx="1073699" cy="9919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393328562" name="Group 31"/>
          <p:cNvGrpSpPr/>
          <p:nvPr/>
        </p:nvGrpSpPr>
        <p:grpSpPr bwMode="auto">
          <a:xfrm rot="0">
            <a:off x="14052109" y="6351439"/>
            <a:ext cx="838200" cy="838200"/>
            <a:chOff x="0" y="0"/>
            <a:chExt cx="160553" cy="160553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160553" cy="160553"/>
            </a:xfrm>
            <a:custGeom>
              <a:avLst/>
              <a:gdLst/>
              <a:ahLst/>
              <a:cxnLst/>
              <a:rect l="l" t="t" r="r" b="b"/>
              <a:pathLst>
                <a:path w="160553" h="160553" fill="norm" stroke="1" extrusionOk="0">
                  <a:moveTo>
                    <a:pt x="80277" y="0"/>
                  </a:moveTo>
                  <a:lnTo>
                    <a:pt x="80277" y="0"/>
                  </a:lnTo>
                  <a:cubicBezTo>
                    <a:pt x="124612" y="0"/>
                    <a:pt x="160553" y="35941"/>
                    <a:pt x="160553" y="80277"/>
                  </a:cubicBezTo>
                  <a:lnTo>
                    <a:pt x="160553" y="80277"/>
                  </a:lnTo>
                  <a:cubicBezTo>
                    <a:pt x="160553" y="101567"/>
                    <a:pt x="152095" y="121986"/>
                    <a:pt x="137041" y="137041"/>
                  </a:cubicBezTo>
                  <a:cubicBezTo>
                    <a:pt x="121986" y="152095"/>
                    <a:pt x="101567" y="160553"/>
                    <a:pt x="80277" y="160553"/>
                  </a:cubicBezTo>
                  <a:lnTo>
                    <a:pt x="80277" y="160553"/>
                  </a:lnTo>
                  <a:cubicBezTo>
                    <a:pt x="58986" y="160553"/>
                    <a:pt x="38567" y="152095"/>
                    <a:pt x="23512" y="137041"/>
                  </a:cubicBezTo>
                  <a:cubicBezTo>
                    <a:pt x="8458" y="121986"/>
                    <a:pt x="0" y="101567"/>
                    <a:pt x="0" y="80277"/>
                  </a:cubicBezTo>
                  <a:lnTo>
                    <a:pt x="0" y="80277"/>
                  </a:lnTo>
                  <a:cubicBezTo>
                    <a:pt x="0" y="58986"/>
                    <a:pt x="8458" y="38567"/>
                    <a:pt x="23512" y="23512"/>
                  </a:cubicBezTo>
                  <a:cubicBezTo>
                    <a:pt x="38567" y="8458"/>
                    <a:pt x="58986" y="0"/>
                    <a:pt x="80277" y="0"/>
                  </a:cubicBezTo>
                  <a:close/>
                </a:path>
              </a:pathLst>
            </a:custGeom>
            <a:solidFill>
              <a:srgbClr val="FF5B37"/>
            </a:solidFill>
            <a:ln cap="rnd">
              <a:noFill/>
              <a:prstDash val="solid"/>
              <a:round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38100"/>
              <a:ext cx="160553" cy="1986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sp>
        <p:nvSpPr>
          <p:cNvPr id="547325114" name="Freeform 34"/>
          <p:cNvSpPr/>
          <p:nvPr/>
        </p:nvSpPr>
        <p:spPr bwMode="auto">
          <a:xfrm rot="0" flipH="0" flipV="0">
            <a:off x="9643731" y="6541939"/>
            <a:ext cx="434756" cy="457200"/>
          </a:xfrm>
          <a:custGeom>
            <a:avLst/>
            <a:gdLst/>
            <a:ahLst/>
            <a:cxnLst/>
            <a:rect l="l" t="t" r="r" b="b"/>
            <a:pathLst>
              <a:path w="434756" h="457200" fill="norm" stroke="1" extrusionOk="0">
                <a:moveTo>
                  <a:pt x="0" y="0"/>
                </a:moveTo>
                <a:lnTo>
                  <a:pt x="434756" y="0"/>
                </a:lnTo>
                <a:lnTo>
                  <a:pt x="434756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/>
            <a:stretch>
              <a:fillRect l="0" t="0" r="0" b="0"/>
            </a:stretch>
          </a:blipFill>
        </p:spPr>
      </p:sp>
      <p:sp>
        <p:nvSpPr>
          <p:cNvPr id="1624057029" name="Freeform 35"/>
          <p:cNvSpPr/>
          <p:nvPr/>
        </p:nvSpPr>
        <p:spPr bwMode="auto">
          <a:xfrm rot="0" flipH="0" flipV="0">
            <a:off x="14242609" y="654193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fill="norm" stroke="1" extrusionOk="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/>
            <a:stretch>
              <a:fillRect l="0" t="0" r="0" b="0"/>
            </a:stretch>
          </a:blipFill>
        </p:spPr>
      </p:sp>
      <p:sp>
        <p:nvSpPr>
          <p:cNvPr id="1635882321" name="TextBox 36"/>
          <p:cNvSpPr txBox="1"/>
          <p:nvPr/>
        </p:nvSpPr>
        <p:spPr bwMode="auto">
          <a:xfrm rot="0">
            <a:off x="609600" y="1611118"/>
            <a:ext cx="7751225" cy="194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79"/>
              </a:lnSpc>
              <a:defRPr/>
            </a:pPr>
            <a:r>
              <a:rPr sz="4400" b="1">
                <a:solidFill>
                  <a:srgbClr val="000000"/>
                </a:solidFill>
              </a:rPr>
              <a:t>How the App Works</a:t>
            </a:r>
            <a:endParaRPr/>
          </a:p>
        </p:txBody>
      </p:sp>
      <p:sp>
        <p:nvSpPr>
          <p:cNvPr id="1501798494" name="TextBox 37"/>
          <p:cNvSpPr txBox="1"/>
          <p:nvPr/>
        </p:nvSpPr>
        <p:spPr bwMode="auto">
          <a:xfrm rot="0">
            <a:off x="1195748" y="613808"/>
            <a:ext cx="1391384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  <a:spcBef>
                <a:spcPts val="0"/>
              </a:spcBef>
              <a:defRPr/>
            </a:pPr>
            <a:r>
              <a:rPr sz="1400" b="1">
                <a:solidFill>
                  <a:srgbClr val="000000"/>
                </a:solidFill>
              </a:rPr>
              <a:t>DailyUtility</a:t>
            </a:r>
            <a:endParaRPr/>
          </a:p>
        </p:txBody>
      </p:sp>
      <p:sp>
        <p:nvSpPr>
          <p:cNvPr id="2049179030" name="TextBox 38"/>
          <p:cNvSpPr txBox="1"/>
          <p:nvPr/>
        </p:nvSpPr>
        <p:spPr bwMode="auto">
          <a:xfrm rot="0">
            <a:off x="9442009" y="3882978"/>
            <a:ext cx="3175881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defRPr/>
            </a:pPr>
            <a:r>
              <a:rPr sz="1200">
                <a:solidFill>
                  <a:srgbClr val="1F1F1F"/>
                </a:solidFill>
              </a:rPr>
              <a:t>Each feature has one screen and one service singleton with a ValueNotifier — fast, predictable and trivial to extend.</a:t>
            </a:r>
            <a:endParaRPr/>
          </a:p>
        </p:txBody>
      </p:sp>
      <p:sp>
        <p:nvSpPr>
          <p:cNvPr id="2132016687" name="TextBox 39"/>
          <p:cNvSpPr txBox="1"/>
          <p:nvPr/>
        </p:nvSpPr>
        <p:spPr bwMode="auto">
          <a:xfrm rot="0">
            <a:off x="9442009" y="3451988"/>
            <a:ext cx="3175881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ts val="0"/>
              </a:spcBef>
              <a:defRPr/>
            </a:pPr>
            <a:r>
              <a:rPr sz="1400" b="1">
                <a:solidFill>
                  <a:srgbClr val="000000"/>
                </a:solidFill>
              </a:rPr>
              <a:t>Service-per-Feature</a:t>
            </a:r>
            <a:endParaRPr/>
          </a:p>
        </p:txBody>
      </p:sp>
      <p:sp>
        <p:nvSpPr>
          <p:cNvPr id="1313681411" name="TextBox 40"/>
          <p:cNvSpPr txBox="1"/>
          <p:nvPr/>
        </p:nvSpPr>
        <p:spPr bwMode="auto">
          <a:xfrm rot="0">
            <a:off x="14052109" y="3882978"/>
            <a:ext cx="3175881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defRPr/>
            </a:pPr>
            <a:r>
              <a:rPr sz="1200">
                <a:solidFill>
                  <a:srgbClr val="1F1F1F"/>
                </a:solidFill>
              </a:rPr>
              <a:t>Personal data in typed Hive boxes, public data fetched from Firestore — three collections: notice, quiz_categories, contact_messages.</a:t>
            </a:r>
            <a:endParaRPr/>
          </a:p>
        </p:txBody>
      </p:sp>
      <p:sp>
        <p:nvSpPr>
          <p:cNvPr id="1151036255" name="TextBox 41"/>
          <p:cNvSpPr txBox="1"/>
          <p:nvPr/>
        </p:nvSpPr>
        <p:spPr bwMode="auto">
          <a:xfrm rot="0">
            <a:off x="14052109" y="3451988"/>
            <a:ext cx="3175881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ts val="0"/>
              </a:spcBef>
              <a:defRPr/>
            </a:pPr>
            <a:r>
              <a:rPr sz="1400" b="1">
                <a:solidFill>
                  <a:srgbClr val="000000"/>
                </a:solidFill>
              </a:rPr>
              <a:t>Hive + Firestore Hybrid</a:t>
            </a:r>
            <a:endParaRPr/>
          </a:p>
        </p:txBody>
      </p:sp>
      <p:sp>
        <p:nvSpPr>
          <p:cNvPr id="77411116" name="TextBox 42"/>
          <p:cNvSpPr txBox="1"/>
          <p:nvPr/>
        </p:nvSpPr>
        <p:spPr bwMode="auto">
          <a:xfrm rot="0">
            <a:off x="9442009" y="8182820"/>
            <a:ext cx="3175881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defRPr/>
            </a:pPr>
            <a:r>
              <a:rPr sz="1200">
                <a:solidFill>
                  <a:srgbClr val="1F1F1F"/>
                </a:solidFill>
              </a:rPr>
              <a:t>flutter_local_notifications fires reminders for tasks and loan instalments — one sorted "Reminders" view shows them all.</a:t>
            </a:r>
            <a:endParaRPr/>
          </a:p>
        </p:txBody>
      </p:sp>
      <p:sp>
        <p:nvSpPr>
          <p:cNvPr id="473094643" name="TextBox 43"/>
          <p:cNvSpPr txBox="1"/>
          <p:nvPr/>
        </p:nvSpPr>
        <p:spPr bwMode="auto">
          <a:xfrm rot="0">
            <a:off x="9442009" y="7751830"/>
            <a:ext cx="3175881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ts val="0"/>
              </a:spcBef>
              <a:defRPr/>
            </a:pPr>
            <a:r>
              <a:rPr sz="1400" b="1">
                <a:solidFill>
                  <a:srgbClr val="000000"/>
                </a:solidFill>
              </a:rPr>
              <a:t>Local Reminders</a:t>
            </a:r>
            <a:endParaRPr/>
          </a:p>
        </p:txBody>
      </p:sp>
      <p:sp>
        <p:nvSpPr>
          <p:cNvPr id="755254260" name="TextBox 44"/>
          <p:cNvSpPr txBox="1"/>
          <p:nvPr/>
        </p:nvSpPr>
        <p:spPr bwMode="auto">
          <a:xfrm rot="0">
            <a:off x="14052109" y="8182820"/>
            <a:ext cx="3175881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defRPr/>
            </a:pPr>
            <a:r>
              <a:rPr sz="1200">
                <a:solidFill>
                  <a:srgbClr val="1F1F1F"/>
                </a:solidFill>
              </a:rPr>
              <a:t>Prayer times computed fully offline by adhan_dart from cached lat/long; optional geolocator for GPS detect and live Qibla.</a:t>
            </a:r>
            <a:endParaRPr/>
          </a:p>
        </p:txBody>
      </p:sp>
      <p:sp>
        <p:nvSpPr>
          <p:cNvPr id="44034291" name="TextBox 45"/>
          <p:cNvSpPr txBox="1"/>
          <p:nvPr/>
        </p:nvSpPr>
        <p:spPr bwMode="auto">
          <a:xfrm rot="0">
            <a:off x="14052109" y="7751830"/>
            <a:ext cx="3175881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ts val="0"/>
              </a:spcBef>
              <a:defRPr/>
            </a:pPr>
            <a:r>
              <a:rPr sz="1400" b="1">
                <a:solidFill>
                  <a:srgbClr val="000000"/>
                </a:solidFill>
              </a:rPr>
              <a:t>Offline Prayer &amp; Qibla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5B3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94373838" name="Group 2"/>
          <p:cNvGrpSpPr>
            <a:grpSpLocks noChangeAspect="1"/>
          </p:cNvGrpSpPr>
          <p:nvPr/>
        </p:nvGrpSpPr>
        <p:grpSpPr bwMode="auto">
          <a:xfrm rot="0">
            <a:off x="-745415" y="1611118"/>
            <a:ext cx="6024276" cy="11920064"/>
            <a:chOff x="0" y="0"/>
            <a:chExt cx="2620010" cy="518414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53340" y="25400"/>
              <a:ext cx="2513329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 fill="norm" stroke="1" extrusionOk="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 fill="norm" stroke="1" extrusionOk="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1">
              <a:blip r:embed="rId3"/>
              <a:stretch>
                <a:fillRect l="-94468" t="0" r="-94468" b="0"/>
              </a:stretch>
            </a:blipFill>
          </p:spPr>
        </p:sp>
        <p:sp>
          <p:nvSpPr>
            <p:cNvPr id="5" name="Freeform 5"/>
            <p:cNvSpPr/>
            <p:nvPr/>
          </p:nvSpPr>
          <p:spPr bwMode="auto">
            <a:xfrm rot="0" flipH="0" flipV="0"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 fill="norm" stroke="1" extrusionOk="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FF5B37"/>
            </a:solidFill>
          </p:spPr>
        </p:sp>
        <p:sp>
          <p:nvSpPr>
            <p:cNvPr id="6" name="Freeform 6"/>
            <p:cNvSpPr/>
            <p:nvPr/>
          </p:nvSpPr>
          <p:spPr bwMode="auto">
            <a:xfrm rot="0" flipH="0" flipV="0"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 fill="norm" stroke="1" extrusionOk="0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FF5B37"/>
            </a:solidFill>
          </p:spPr>
        </p:sp>
        <p:sp>
          <p:nvSpPr>
            <p:cNvPr id="7" name="Freeform 7"/>
            <p:cNvSpPr/>
            <p:nvPr/>
          </p:nvSpPr>
          <p:spPr bwMode="auto">
            <a:xfrm rot="0" flipH="0" flipV="0"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 fill="norm" stroke="1" extrusionOk="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Freeform 8"/>
            <p:cNvSpPr/>
            <p:nvPr/>
          </p:nvSpPr>
          <p:spPr bwMode="auto">
            <a:xfrm rot="0" flipH="0" flipV="0"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 fill="norm" stroke="1" extrusionOk="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Freeform 9"/>
            <p:cNvSpPr/>
            <p:nvPr/>
          </p:nvSpPr>
          <p:spPr bwMode="auto">
            <a:xfrm rot="0" flipH="0" flipV="0"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 fill="norm" stroke="1" extrusionOk="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" name="Freeform 10"/>
            <p:cNvSpPr/>
            <p:nvPr/>
          </p:nvSpPr>
          <p:spPr bwMode="auto">
            <a:xfrm rot="0" flipH="0" flipV="0"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 fill="norm" stroke="1" extrusionOk="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" name="Freeform 11"/>
            <p:cNvSpPr/>
            <p:nvPr/>
          </p:nvSpPr>
          <p:spPr bwMode="auto">
            <a:xfrm rot="0" flipH="0" flipV="0"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 fill="norm" stroke="1" extrusionOk="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791504045" name="Freeform 12"/>
          <p:cNvSpPr/>
          <p:nvPr/>
        </p:nvSpPr>
        <p:spPr bwMode="auto">
          <a:xfrm rot="0" flipH="0" flipV="0">
            <a:off x="609600" y="609600"/>
            <a:ext cx="446522" cy="341792"/>
          </a:xfrm>
          <a:custGeom>
            <a:avLst/>
            <a:gdLst/>
            <a:ahLst/>
            <a:cxnLst/>
            <a:rect l="l" t="t" r="r" b="b"/>
            <a:pathLst>
              <a:path w="446522" h="341792" fill="norm" stroke="1" extrusionOk="0">
                <a:moveTo>
                  <a:pt x="0" y="0"/>
                </a:moveTo>
                <a:lnTo>
                  <a:pt x="446522" y="0"/>
                </a:lnTo>
                <a:lnTo>
                  <a:pt x="446522" y="341792"/>
                </a:lnTo>
                <a:lnTo>
                  <a:pt x="0" y="3417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grpSp>
        <p:nvGrpSpPr>
          <p:cNvPr id="1328822205" name="Group 13"/>
          <p:cNvGrpSpPr/>
          <p:nvPr/>
        </p:nvGrpSpPr>
        <p:grpSpPr bwMode="auto">
          <a:xfrm rot="0">
            <a:off x="6096000" y="5549653"/>
            <a:ext cx="838200" cy="838200"/>
            <a:chOff x="0" y="0"/>
            <a:chExt cx="160553" cy="160553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60553" cy="160553"/>
            </a:xfrm>
            <a:custGeom>
              <a:avLst/>
              <a:gdLst/>
              <a:ahLst/>
              <a:cxnLst/>
              <a:rect l="l" t="t" r="r" b="b"/>
              <a:pathLst>
                <a:path w="160553" h="160553" fill="norm" stroke="1" extrusionOk="0">
                  <a:moveTo>
                    <a:pt x="80277" y="0"/>
                  </a:moveTo>
                  <a:lnTo>
                    <a:pt x="80277" y="0"/>
                  </a:lnTo>
                  <a:cubicBezTo>
                    <a:pt x="124612" y="0"/>
                    <a:pt x="160553" y="35941"/>
                    <a:pt x="160553" y="80277"/>
                  </a:cubicBezTo>
                  <a:lnTo>
                    <a:pt x="160553" y="80277"/>
                  </a:lnTo>
                  <a:cubicBezTo>
                    <a:pt x="160553" y="101567"/>
                    <a:pt x="152095" y="121986"/>
                    <a:pt x="137041" y="137041"/>
                  </a:cubicBezTo>
                  <a:cubicBezTo>
                    <a:pt x="121986" y="152095"/>
                    <a:pt x="101567" y="160553"/>
                    <a:pt x="80277" y="160553"/>
                  </a:cubicBezTo>
                  <a:lnTo>
                    <a:pt x="80277" y="160553"/>
                  </a:lnTo>
                  <a:cubicBezTo>
                    <a:pt x="58986" y="160553"/>
                    <a:pt x="38567" y="152095"/>
                    <a:pt x="23512" y="137041"/>
                  </a:cubicBezTo>
                  <a:cubicBezTo>
                    <a:pt x="8458" y="121986"/>
                    <a:pt x="0" y="101567"/>
                    <a:pt x="0" y="80277"/>
                  </a:cubicBezTo>
                  <a:lnTo>
                    <a:pt x="0" y="80277"/>
                  </a:lnTo>
                  <a:cubicBezTo>
                    <a:pt x="0" y="58986"/>
                    <a:pt x="8458" y="38567"/>
                    <a:pt x="23512" y="23512"/>
                  </a:cubicBezTo>
                  <a:cubicBezTo>
                    <a:pt x="38567" y="8458"/>
                    <a:pt x="58986" y="0"/>
                    <a:pt x="80277" y="0"/>
                  </a:cubicBezTo>
                  <a:close/>
                </a:path>
              </a:pathLst>
            </a:custGeom>
            <a:solidFill>
              <a:srgbClr val="F7E4D9"/>
            </a:solidFill>
            <a:ln cap="rnd">
              <a:noFill/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 bwMode="auto">
            <a:xfrm>
              <a:off x="0" y="-38100"/>
              <a:ext cx="160553" cy="1986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1324415270" name="Group 16"/>
          <p:cNvGrpSpPr/>
          <p:nvPr/>
        </p:nvGrpSpPr>
        <p:grpSpPr bwMode="auto">
          <a:xfrm rot="0">
            <a:off x="12343139" y="5549653"/>
            <a:ext cx="838200" cy="838200"/>
            <a:chOff x="0" y="0"/>
            <a:chExt cx="160553" cy="160553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0553" cy="160553"/>
            </a:xfrm>
            <a:custGeom>
              <a:avLst/>
              <a:gdLst/>
              <a:ahLst/>
              <a:cxnLst/>
              <a:rect l="l" t="t" r="r" b="b"/>
              <a:pathLst>
                <a:path w="160553" h="160553" fill="norm" stroke="1" extrusionOk="0">
                  <a:moveTo>
                    <a:pt x="80277" y="0"/>
                  </a:moveTo>
                  <a:lnTo>
                    <a:pt x="80277" y="0"/>
                  </a:lnTo>
                  <a:cubicBezTo>
                    <a:pt x="124612" y="0"/>
                    <a:pt x="160553" y="35941"/>
                    <a:pt x="160553" y="80277"/>
                  </a:cubicBezTo>
                  <a:lnTo>
                    <a:pt x="160553" y="80277"/>
                  </a:lnTo>
                  <a:cubicBezTo>
                    <a:pt x="160553" y="101567"/>
                    <a:pt x="152095" y="121986"/>
                    <a:pt x="137041" y="137041"/>
                  </a:cubicBezTo>
                  <a:cubicBezTo>
                    <a:pt x="121986" y="152095"/>
                    <a:pt x="101567" y="160553"/>
                    <a:pt x="80277" y="160553"/>
                  </a:cubicBezTo>
                  <a:lnTo>
                    <a:pt x="80277" y="160553"/>
                  </a:lnTo>
                  <a:cubicBezTo>
                    <a:pt x="58986" y="160553"/>
                    <a:pt x="38567" y="152095"/>
                    <a:pt x="23512" y="137041"/>
                  </a:cubicBezTo>
                  <a:cubicBezTo>
                    <a:pt x="8458" y="121986"/>
                    <a:pt x="0" y="101567"/>
                    <a:pt x="0" y="80277"/>
                  </a:cubicBezTo>
                  <a:lnTo>
                    <a:pt x="0" y="80277"/>
                  </a:lnTo>
                  <a:cubicBezTo>
                    <a:pt x="0" y="58986"/>
                    <a:pt x="8458" y="38567"/>
                    <a:pt x="23512" y="23512"/>
                  </a:cubicBezTo>
                  <a:cubicBezTo>
                    <a:pt x="38567" y="8458"/>
                    <a:pt x="58986" y="0"/>
                    <a:pt x="80277" y="0"/>
                  </a:cubicBezTo>
                  <a:close/>
                </a:path>
              </a:pathLst>
            </a:custGeom>
            <a:solidFill>
              <a:srgbClr val="F7E4D9"/>
            </a:solidFill>
            <a:ln cap="rnd">
              <a:noFill/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160553" cy="1986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705637388" name="Group 19"/>
          <p:cNvGrpSpPr/>
          <p:nvPr/>
        </p:nvGrpSpPr>
        <p:grpSpPr bwMode="auto">
          <a:xfrm rot="0">
            <a:off x="6096000" y="7933250"/>
            <a:ext cx="838200" cy="838200"/>
            <a:chOff x="0" y="0"/>
            <a:chExt cx="160553" cy="160553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160553" cy="160553"/>
            </a:xfrm>
            <a:custGeom>
              <a:avLst/>
              <a:gdLst/>
              <a:ahLst/>
              <a:cxnLst/>
              <a:rect l="l" t="t" r="r" b="b"/>
              <a:pathLst>
                <a:path w="160553" h="160553" fill="norm" stroke="1" extrusionOk="0">
                  <a:moveTo>
                    <a:pt x="80277" y="0"/>
                  </a:moveTo>
                  <a:lnTo>
                    <a:pt x="80277" y="0"/>
                  </a:lnTo>
                  <a:cubicBezTo>
                    <a:pt x="124612" y="0"/>
                    <a:pt x="160553" y="35941"/>
                    <a:pt x="160553" y="80277"/>
                  </a:cubicBezTo>
                  <a:lnTo>
                    <a:pt x="160553" y="80277"/>
                  </a:lnTo>
                  <a:cubicBezTo>
                    <a:pt x="160553" y="101567"/>
                    <a:pt x="152095" y="121986"/>
                    <a:pt x="137041" y="137041"/>
                  </a:cubicBezTo>
                  <a:cubicBezTo>
                    <a:pt x="121986" y="152095"/>
                    <a:pt x="101567" y="160553"/>
                    <a:pt x="80277" y="160553"/>
                  </a:cubicBezTo>
                  <a:lnTo>
                    <a:pt x="80277" y="160553"/>
                  </a:lnTo>
                  <a:cubicBezTo>
                    <a:pt x="58986" y="160553"/>
                    <a:pt x="38567" y="152095"/>
                    <a:pt x="23512" y="137041"/>
                  </a:cubicBezTo>
                  <a:cubicBezTo>
                    <a:pt x="8458" y="121986"/>
                    <a:pt x="0" y="101567"/>
                    <a:pt x="0" y="80277"/>
                  </a:cubicBezTo>
                  <a:lnTo>
                    <a:pt x="0" y="80277"/>
                  </a:lnTo>
                  <a:cubicBezTo>
                    <a:pt x="0" y="58986"/>
                    <a:pt x="8458" y="38567"/>
                    <a:pt x="23512" y="23512"/>
                  </a:cubicBezTo>
                  <a:cubicBezTo>
                    <a:pt x="38567" y="8458"/>
                    <a:pt x="58986" y="0"/>
                    <a:pt x="80277" y="0"/>
                  </a:cubicBezTo>
                  <a:close/>
                </a:path>
              </a:pathLst>
            </a:custGeom>
            <a:solidFill>
              <a:srgbClr val="F7E4D9"/>
            </a:solidFill>
            <a:ln cap="rnd">
              <a:noFill/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160553" cy="1986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1285559744" name="Group 22"/>
          <p:cNvGrpSpPr/>
          <p:nvPr/>
        </p:nvGrpSpPr>
        <p:grpSpPr bwMode="auto">
          <a:xfrm rot="0">
            <a:off x="12343139" y="7933250"/>
            <a:ext cx="838200" cy="838200"/>
            <a:chOff x="0" y="0"/>
            <a:chExt cx="160553" cy="160553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160553" cy="160553"/>
            </a:xfrm>
            <a:custGeom>
              <a:avLst/>
              <a:gdLst/>
              <a:ahLst/>
              <a:cxnLst/>
              <a:rect l="l" t="t" r="r" b="b"/>
              <a:pathLst>
                <a:path w="160553" h="160553" fill="norm" stroke="1" extrusionOk="0">
                  <a:moveTo>
                    <a:pt x="80277" y="0"/>
                  </a:moveTo>
                  <a:lnTo>
                    <a:pt x="80277" y="0"/>
                  </a:lnTo>
                  <a:cubicBezTo>
                    <a:pt x="124612" y="0"/>
                    <a:pt x="160553" y="35941"/>
                    <a:pt x="160553" y="80277"/>
                  </a:cubicBezTo>
                  <a:lnTo>
                    <a:pt x="160553" y="80277"/>
                  </a:lnTo>
                  <a:cubicBezTo>
                    <a:pt x="160553" y="101567"/>
                    <a:pt x="152095" y="121986"/>
                    <a:pt x="137041" y="137041"/>
                  </a:cubicBezTo>
                  <a:cubicBezTo>
                    <a:pt x="121986" y="152095"/>
                    <a:pt x="101567" y="160553"/>
                    <a:pt x="80277" y="160553"/>
                  </a:cubicBezTo>
                  <a:lnTo>
                    <a:pt x="80277" y="160553"/>
                  </a:lnTo>
                  <a:cubicBezTo>
                    <a:pt x="58986" y="160553"/>
                    <a:pt x="38567" y="152095"/>
                    <a:pt x="23512" y="137041"/>
                  </a:cubicBezTo>
                  <a:cubicBezTo>
                    <a:pt x="8458" y="121986"/>
                    <a:pt x="0" y="101567"/>
                    <a:pt x="0" y="80277"/>
                  </a:cubicBezTo>
                  <a:lnTo>
                    <a:pt x="0" y="80277"/>
                  </a:lnTo>
                  <a:cubicBezTo>
                    <a:pt x="0" y="58986"/>
                    <a:pt x="8458" y="38567"/>
                    <a:pt x="23512" y="23512"/>
                  </a:cubicBezTo>
                  <a:cubicBezTo>
                    <a:pt x="38567" y="8458"/>
                    <a:pt x="58986" y="0"/>
                    <a:pt x="80277" y="0"/>
                  </a:cubicBezTo>
                  <a:close/>
                </a:path>
              </a:pathLst>
            </a:custGeom>
            <a:solidFill>
              <a:srgbClr val="F7E4D9"/>
            </a:solidFill>
            <a:ln cap="rnd">
              <a:noFill/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160553" cy="1986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sp>
        <p:nvSpPr>
          <p:cNvPr id="1567369721" name="Freeform 25"/>
          <p:cNvSpPr/>
          <p:nvPr/>
        </p:nvSpPr>
        <p:spPr bwMode="auto">
          <a:xfrm rot="0" flipH="0" flipV="0">
            <a:off x="12533639" y="574015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fill="norm" stroke="1" extrusionOk="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</p:sp>
      <p:sp>
        <p:nvSpPr>
          <p:cNvPr id="903993301" name="Freeform 26"/>
          <p:cNvSpPr/>
          <p:nvPr/>
        </p:nvSpPr>
        <p:spPr bwMode="auto">
          <a:xfrm rot="0" flipH="0" flipV="0">
            <a:off x="6347599" y="5740153"/>
            <a:ext cx="335003" cy="457200"/>
          </a:xfrm>
          <a:custGeom>
            <a:avLst/>
            <a:gdLst/>
            <a:ahLst/>
            <a:cxnLst/>
            <a:rect l="l" t="t" r="r" b="b"/>
            <a:pathLst>
              <a:path w="335003" h="457200" fill="norm" stroke="1" extrusionOk="0">
                <a:moveTo>
                  <a:pt x="0" y="0"/>
                </a:moveTo>
                <a:lnTo>
                  <a:pt x="335002" y="0"/>
                </a:lnTo>
                <a:lnTo>
                  <a:pt x="335002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/>
            <a:stretch>
              <a:fillRect l="0" t="0" r="0" b="0"/>
            </a:stretch>
          </a:blipFill>
        </p:spPr>
      </p:sp>
      <p:sp>
        <p:nvSpPr>
          <p:cNvPr id="505384884" name="Freeform 27"/>
          <p:cNvSpPr/>
          <p:nvPr/>
        </p:nvSpPr>
        <p:spPr bwMode="auto">
          <a:xfrm rot="0" flipH="0" flipV="0">
            <a:off x="6286500" y="8123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fill="norm" stroke="1" extrusionOk="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/>
            <a:stretch>
              <a:fillRect l="0" t="0" r="0" b="0"/>
            </a:stretch>
          </a:blipFill>
        </p:spPr>
      </p:sp>
      <p:sp>
        <p:nvSpPr>
          <p:cNvPr id="263740023" name="Freeform 28"/>
          <p:cNvSpPr/>
          <p:nvPr/>
        </p:nvSpPr>
        <p:spPr bwMode="auto">
          <a:xfrm rot="0" flipH="0" flipV="0">
            <a:off x="12533639" y="8123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fill="norm" stroke="1" extrusionOk="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/>
            <a:stretch>
              <a:fillRect l="0" t="0" r="0" b="0"/>
            </a:stretch>
          </a:blipFill>
        </p:spPr>
      </p:sp>
      <p:sp>
        <p:nvSpPr>
          <p:cNvPr id="596968295" name="TextBox 29"/>
          <p:cNvSpPr txBox="1"/>
          <p:nvPr/>
        </p:nvSpPr>
        <p:spPr bwMode="auto">
          <a:xfrm rot="0">
            <a:off x="6096000" y="2403012"/>
            <a:ext cx="11582400" cy="194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79"/>
              </a:lnSpc>
              <a:defRPr/>
            </a:pPr>
            <a:r>
              <a:rPr sz="3200" b="1">
                <a:solidFill>
                  <a:srgbClr val="000000"/>
                </a:solidFill>
              </a:rPr>
              <a:t>Key Features: Everything You'd Otherwise Install 12 Apps For</a:t>
            </a:r>
            <a:endParaRPr/>
          </a:p>
        </p:txBody>
      </p:sp>
      <p:sp>
        <p:nvSpPr>
          <p:cNvPr id="825779811" name="TextBox 30"/>
          <p:cNvSpPr txBox="1"/>
          <p:nvPr/>
        </p:nvSpPr>
        <p:spPr bwMode="auto">
          <a:xfrm rot="0">
            <a:off x="1195748" y="613808"/>
            <a:ext cx="1391384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  <a:spcBef>
                <a:spcPts val="0"/>
              </a:spcBef>
              <a:defRPr/>
            </a:pPr>
            <a:r>
              <a:rPr sz="1400" b="1">
                <a:solidFill>
                  <a:srgbClr val="000000"/>
                </a:solidFill>
              </a:rPr>
              <a:t>DailyUtility</a:t>
            </a:r>
            <a:endParaRPr/>
          </a:p>
        </p:txBody>
      </p:sp>
      <p:sp>
        <p:nvSpPr>
          <p:cNvPr id="735536618" name="TextBox 31"/>
          <p:cNvSpPr txBox="1"/>
          <p:nvPr/>
        </p:nvSpPr>
        <p:spPr bwMode="auto">
          <a:xfrm rot="0">
            <a:off x="7302298" y="5988580"/>
            <a:ext cx="4128963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defRPr/>
            </a:pPr>
            <a:r>
              <a:rPr sz="1200">
                <a:solidFill>
                  <a:srgbClr val="1F1F1F"/>
                </a:solidFill>
              </a:rPr>
              <a:t>Tasks with priority, due date, recurrence and reminder. Active list with progress badge, completed-history tab.</a:t>
            </a:r>
            <a:endParaRPr/>
          </a:p>
        </p:txBody>
      </p:sp>
      <p:sp>
        <p:nvSpPr>
          <p:cNvPr id="418581803" name="TextBox 32"/>
          <p:cNvSpPr txBox="1"/>
          <p:nvPr/>
        </p:nvSpPr>
        <p:spPr bwMode="auto">
          <a:xfrm rot="0">
            <a:off x="7302298" y="5502028"/>
            <a:ext cx="412896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ts val="0"/>
              </a:spcBef>
              <a:defRPr/>
            </a:pPr>
            <a:r>
              <a:rPr sz="1400" b="1">
                <a:solidFill>
                  <a:srgbClr val="000000"/>
                </a:solidFill>
              </a:rPr>
              <a:t>Tasks &amp; Notes</a:t>
            </a:r>
            <a:endParaRPr/>
          </a:p>
        </p:txBody>
      </p:sp>
      <p:sp>
        <p:nvSpPr>
          <p:cNvPr id="817535769" name="TextBox 33"/>
          <p:cNvSpPr txBox="1"/>
          <p:nvPr/>
        </p:nvSpPr>
        <p:spPr bwMode="auto">
          <a:xfrm rot="0">
            <a:off x="13549437" y="5988580"/>
            <a:ext cx="4128963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defRPr/>
            </a:pPr>
            <a:r>
              <a:rPr sz="1200">
                <a:solidFill>
                  <a:srgbClr val="1F1F1F"/>
                </a:solidFill>
              </a:rPr>
              <a:t>Income / expense, Baki Khata people-ledger, loan tracker with progress bar, and a Netflix/Spotify-grade subscription manager.</a:t>
            </a:r>
            <a:endParaRPr/>
          </a:p>
        </p:txBody>
      </p:sp>
      <p:sp>
        <p:nvSpPr>
          <p:cNvPr id="2013529070" name="TextBox 34"/>
          <p:cNvSpPr txBox="1"/>
          <p:nvPr/>
        </p:nvSpPr>
        <p:spPr bwMode="auto">
          <a:xfrm rot="0">
            <a:off x="13549437" y="5502028"/>
            <a:ext cx="412896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ts val="0"/>
              </a:spcBef>
              <a:defRPr/>
            </a:pPr>
            <a:r>
              <a:rPr sz="1400" b="1">
                <a:solidFill>
                  <a:srgbClr val="000000"/>
                </a:solidFill>
              </a:rPr>
              <a:t>Finance Suite</a:t>
            </a:r>
            <a:endParaRPr/>
          </a:p>
        </p:txBody>
      </p:sp>
      <p:sp>
        <p:nvSpPr>
          <p:cNvPr id="685781690" name="TextBox 35"/>
          <p:cNvSpPr txBox="1"/>
          <p:nvPr/>
        </p:nvSpPr>
        <p:spPr bwMode="auto">
          <a:xfrm rot="0">
            <a:off x="7302298" y="8372178"/>
            <a:ext cx="4128963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defRPr/>
            </a:pPr>
            <a:r>
              <a:rPr sz="1200">
                <a:solidFill>
                  <a:srgbClr val="1F1F1F"/>
                </a:solidFill>
              </a:rPr>
              <a:t>20+ calculators across General, Education, Health, Finance and BD Special — plus Unit Converter and Date Tools.</a:t>
            </a:r>
            <a:endParaRPr/>
          </a:p>
        </p:txBody>
      </p:sp>
      <p:sp>
        <p:nvSpPr>
          <p:cNvPr id="1601884598" name="TextBox 36"/>
          <p:cNvSpPr txBox="1"/>
          <p:nvPr/>
        </p:nvSpPr>
        <p:spPr bwMode="auto">
          <a:xfrm rot="0">
            <a:off x="7302298" y="7885625"/>
            <a:ext cx="412896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ts val="0"/>
              </a:spcBef>
              <a:defRPr/>
            </a:pPr>
            <a:r>
              <a:rPr sz="1400" b="1">
                <a:solidFill>
                  <a:srgbClr val="000000"/>
                </a:solidFill>
              </a:rPr>
              <a:t>Calculators &amp; Converters</a:t>
            </a:r>
            <a:endParaRPr/>
          </a:p>
        </p:txBody>
      </p:sp>
      <p:sp>
        <p:nvSpPr>
          <p:cNvPr id="1125122071" name="TextBox 37"/>
          <p:cNvSpPr txBox="1"/>
          <p:nvPr/>
        </p:nvSpPr>
        <p:spPr bwMode="auto">
          <a:xfrm rot="0">
            <a:off x="13549437" y="8372178"/>
            <a:ext cx="4128963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defRPr/>
            </a:pPr>
            <a:r>
              <a:rPr sz="1200">
                <a:solidFill>
                  <a:srgbClr val="1F1F1F"/>
                </a:solidFill>
              </a:rPr>
              <a:t>Habit tracker with streak + consistency, Daily Reflect, shopping list, and reminders aggregated across tasks and loans.</a:t>
            </a:r>
            <a:endParaRPr/>
          </a:p>
        </p:txBody>
      </p:sp>
      <p:sp>
        <p:nvSpPr>
          <p:cNvPr id="703274025" name="TextBox 38"/>
          <p:cNvSpPr txBox="1"/>
          <p:nvPr/>
        </p:nvSpPr>
        <p:spPr bwMode="auto">
          <a:xfrm rot="0">
            <a:off x="13549437" y="7885625"/>
            <a:ext cx="412896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ts val="0"/>
              </a:spcBef>
              <a:defRPr/>
            </a:pPr>
            <a:r>
              <a:rPr sz="1400" b="1">
                <a:solidFill>
                  <a:srgbClr val="000000"/>
                </a:solidFill>
              </a:rPr>
              <a:t>Lifestyle &amp; Habits</a:t>
            </a:r>
            <a:endParaRPr/>
          </a:p>
        </p:txBody>
      </p:sp>
      <p:pic>
        <p:nvPicPr>
          <p:cNvPr id="380167193" name="Picture 38" descr="Screenshot_20260927_063501.png"/>
          <p:cNvPicPr>
            <a:picLocks noChangeAspect="1"/>
          </p:cNvPicPr>
          <p:nvPr/>
        </p:nvPicPr>
        <p:blipFill rotWithShape="1">
          <a:blip r:embed="rId14"/>
          <a:stretch/>
        </p:blipFill>
        <p:spPr bwMode="auto">
          <a:xfrm>
            <a:off x="-402540" y="2088709"/>
            <a:ext cx="2697480" cy="6035039"/>
          </a:xfrm>
          <a:prstGeom prst="rect">
            <a:avLst/>
          </a:prstGeom>
        </p:spPr>
      </p:pic>
      <p:pic>
        <p:nvPicPr>
          <p:cNvPr id="1178915207" name="Picture 39" descr="Screenshot_20260927_063707.png"/>
          <p:cNvPicPr>
            <a:picLocks noChangeAspect="1"/>
          </p:cNvPicPr>
          <p:nvPr/>
        </p:nvPicPr>
        <p:blipFill rotWithShape="1">
          <a:blip r:embed="rId15"/>
          <a:stretch/>
        </p:blipFill>
        <p:spPr bwMode="auto">
          <a:xfrm>
            <a:off x="1874519" y="4389120"/>
            <a:ext cx="2423160" cy="37490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DFDF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332204" name="Freeform 2"/>
          <p:cNvSpPr/>
          <p:nvPr/>
        </p:nvSpPr>
        <p:spPr bwMode="auto">
          <a:xfrm rot="0" flipH="0" flipV="0">
            <a:off x="609600" y="609600"/>
            <a:ext cx="446522" cy="341792"/>
          </a:xfrm>
          <a:custGeom>
            <a:avLst/>
            <a:gdLst/>
            <a:ahLst/>
            <a:cxnLst/>
            <a:rect l="l" t="t" r="r" b="b"/>
            <a:pathLst>
              <a:path w="446522" h="341792" fill="norm" stroke="1" extrusionOk="0">
                <a:moveTo>
                  <a:pt x="0" y="0"/>
                </a:moveTo>
                <a:lnTo>
                  <a:pt x="446522" y="0"/>
                </a:lnTo>
                <a:lnTo>
                  <a:pt x="446522" y="341792"/>
                </a:lnTo>
                <a:lnTo>
                  <a:pt x="0" y="3417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1394087033" name="Group 3"/>
          <p:cNvGrpSpPr/>
          <p:nvPr/>
        </p:nvGrpSpPr>
        <p:grpSpPr bwMode="auto">
          <a:xfrm rot="0">
            <a:off x="9410700" y="5910959"/>
            <a:ext cx="8267700" cy="3766441"/>
            <a:chOff x="0" y="0"/>
            <a:chExt cx="2177501" cy="99198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177501" cy="991985"/>
            </a:xfrm>
            <a:custGeom>
              <a:avLst/>
              <a:gdLst/>
              <a:ahLst/>
              <a:cxnLst/>
              <a:rect l="l" t="t" r="r" b="b"/>
              <a:pathLst>
                <a:path w="2177501" h="991985" fill="norm" stroke="1" extrusionOk="0">
                  <a:moveTo>
                    <a:pt x="29965" y="0"/>
                  </a:moveTo>
                  <a:lnTo>
                    <a:pt x="2147536" y="0"/>
                  </a:lnTo>
                  <a:cubicBezTo>
                    <a:pt x="2155483" y="0"/>
                    <a:pt x="2163105" y="3157"/>
                    <a:pt x="2168725" y="8777"/>
                  </a:cubicBezTo>
                  <a:cubicBezTo>
                    <a:pt x="2174344" y="14396"/>
                    <a:pt x="2177501" y="22018"/>
                    <a:pt x="2177501" y="29965"/>
                  </a:cubicBezTo>
                  <a:lnTo>
                    <a:pt x="2177501" y="962020"/>
                  </a:lnTo>
                  <a:cubicBezTo>
                    <a:pt x="2177501" y="969967"/>
                    <a:pt x="2174344" y="977588"/>
                    <a:pt x="2168725" y="983208"/>
                  </a:cubicBezTo>
                  <a:cubicBezTo>
                    <a:pt x="2163105" y="988828"/>
                    <a:pt x="2155483" y="991985"/>
                    <a:pt x="2147536" y="991985"/>
                  </a:cubicBezTo>
                  <a:lnTo>
                    <a:pt x="29965" y="991985"/>
                  </a:lnTo>
                  <a:cubicBezTo>
                    <a:pt x="22018" y="991985"/>
                    <a:pt x="14396" y="988828"/>
                    <a:pt x="8777" y="983208"/>
                  </a:cubicBezTo>
                  <a:cubicBezTo>
                    <a:pt x="3157" y="977588"/>
                    <a:pt x="0" y="969967"/>
                    <a:pt x="0" y="962020"/>
                  </a:cubicBezTo>
                  <a:lnTo>
                    <a:pt x="0" y="29965"/>
                  </a:lnTo>
                  <a:cubicBezTo>
                    <a:pt x="0" y="22018"/>
                    <a:pt x="3157" y="14396"/>
                    <a:pt x="8777" y="8777"/>
                  </a:cubicBezTo>
                  <a:cubicBezTo>
                    <a:pt x="14396" y="3157"/>
                    <a:pt x="22018" y="0"/>
                    <a:pt x="29965" y="0"/>
                  </a:cubicBezTo>
                  <a:close/>
                </a:path>
              </a:pathLst>
            </a:custGeom>
            <a:solidFill>
              <a:srgbClr val="FF5B37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0"/>
              <a:ext cx="2177501" cy="9919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1676586393" name="Group 6"/>
          <p:cNvGrpSpPr/>
          <p:nvPr/>
        </p:nvGrpSpPr>
        <p:grpSpPr bwMode="auto">
          <a:xfrm rot="0">
            <a:off x="609600" y="5910959"/>
            <a:ext cx="8267700" cy="3766441"/>
            <a:chOff x="0" y="0"/>
            <a:chExt cx="2177501" cy="991985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2177501" cy="991985"/>
            </a:xfrm>
            <a:custGeom>
              <a:avLst/>
              <a:gdLst/>
              <a:ahLst/>
              <a:cxnLst/>
              <a:rect l="l" t="t" r="r" b="b"/>
              <a:pathLst>
                <a:path w="2177501" h="991985" fill="norm" stroke="1" extrusionOk="0">
                  <a:moveTo>
                    <a:pt x="29965" y="0"/>
                  </a:moveTo>
                  <a:lnTo>
                    <a:pt x="2147536" y="0"/>
                  </a:lnTo>
                  <a:cubicBezTo>
                    <a:pt x="2155483" y="0"/>
                    <a:pt x="2163105" y="3157"/>
                    <a:pt x="2168725" y="8777"/>
                  </a:cubicBezTo>
                  <a:cubicBezTo>
                    <a:pt x="2174344" y="14396"/>
                    <a:pt x="2177501" y="22018"/>
                    <a:pt x="2177501" y="29965"/>
                  </a:cubicBezTo>
                  <a:lnTo>
                    <a:pt x="2177501" y="962020"/>
                  </a:lnTo>
                  <a:cubicBezTo>
                    <a:pt x="2177501" y="969967"/>
                    <a:pt x="2174344" y="977588"/>
                    <a:pt x="2168725" y="983208"/>
                  </a:cubicBezTo>
                  <a:cubicBezTo>
                    <a:pt x="2163105" y="988828"/>
                    <a:pt x="2155483" y="991985"/>
                    <a:pt x="2147536" y="991985"/>
                  </a:cubicBezTo>
                  <a:lnTo>
                    <a:pt x="29965" y="991985"/>
                  </a:lnTo>
                  <a:cubicBezTo>
                    <a:pt x="22018" y="991985"/>
                    <a:pt x="14396" y="988828"/>
                    <a:pt x="8777" y="983208"/>
                  </a:cubicBezTo>
                  <a:cubicBezTo>
                    <a:pt x="3157" y="977588"/>
                    <a:pt x="0" y="969967"/>
                    <a:pt x="0" y="962020"/>
                  </a:cubicBezTo>
                  <a:lnTo>
                    <a:pt x="0" y="29965"/>
                  </a:lnTo>
                  <a:cubicBezTo>
                    <a:pt x="0" y="22018"/>
                    <a:pt x="3157" y="14396"/>
                    <a:pt x="8777" y="8777"/>
                  </a:cubicBezTo>
                  <a:cubicBezTo>
                    <a:pt x="14396" y="3157"/>
                    <a:pt x="22018" y="0"/>
                    <a:pt x="29965" y="0"/>
                  </a:cubicBezTo>
                  <a:close/>
                </a:path>
              </a:pathLst>
            </a:custGeom>
            <a:solidFill>
              <a:srgbClr val="F5F5F5"/>
            </a:soli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0"/>
              <a:ext cx="2177501" cy="9919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376633202" name="Group 9"/>
          <p:cNvGrpSpPr/>
          <p:nvPr/>
        </p:nvGrpSpPr>
        <p:grpSpPr bwMode="auto">
          <a:xfrm rot="0">
            <a:off x="9410700" y="1611118"/>
            <a:ext cx="8267700" cy="3766441"/>
            <a:chOff x="0" y="0"/>
            <a:chExt cx="2177501" cy="99198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2177501" cy="991985"/>
            </a:xfrm>
            <a:custGeom>
              <a:avLst/>
              <a:gdLst/>
              <a:ahLst/>
              <a:cxnLst/>
              <a:rect l="l" t="t" r="r" b="b"/>
              <a:pathLst>
                <a:path w="2177501" h="991985" fill="norm" stroke="1" extrusionOk="0">
                  <a:moveTo>
                    <a:pt x="29965" y="0"/>
                  </a:moveTo>
                  <a:lnTo>
                    <a:pt x="2147536" y="0"/>
                  </a:lnTo>
                  <a:cubicBezTo>
                    <a:pt x="2155483" y="0"/>
                    <a:pt x="2163105" y="3157"/>
                    <a:pt x="2168725" y="8777"/>
                  </a:cubicBezTo>
                  <a:cubicBezTo>
                    <a:pt x="2174344" y="14396"/>
                    <a:pt x="2177501" y="22018"/>
                    <a:pt x="2177501" y="29965"/>
                  </a:cubicBezTo>
                  <a:lnTo>
                    <a:pt x="2177501" y="962020"/>
                  </a:lnTo>
                  <a:cubicBezTo>
                    <a:pt x="2177501" y="969967"/>
                    <a:pt x="2174344" y="977588"/>
                    <a:pt x="2168725" y="983208"/>
                  </a:cubicBezTo>
                  <a:cubicBezTo>
                    <a:pt x="2163105" y="988828"/>
                    <a:pt x="2155483" y="991985"/>
                    <a:pt x="2147536" y="991985"/>
                  </a:cubicBezTo>
                  <a:lnTo>
                    <a:pt x="29965" y="991985"/>
                  </a:lnTo>
                  <a:cubicBezTo>
                    <a:pt x="22018" y="991985"/>
                    <a:pt x="14396" y="988828"/>
                    <a:pt x="8777" y="983208"/>
                  </a:cubicBezTo>
                  <a:cubicBezTo>
                    <a:pt x="3157" y="977588"/>
                    <a:pt x="0" y="969967"/>
                    <a:pt x="0" y="962020"/>
                  </a:cubicBezTo>
                  <a:lnTo>
                    <a:pt x="0" y="29965"/>
                  </a:lnTo>
                  <a:cubicBezTo>
                    <a:pt x="0" y="22018"/>
                    <a:pt x="3157" y="14396"/>
                    <a:pt x="8777" y="8777"/>
                  </a:cubicBezTo>
                  <a:cubicBezTo>
                    <a:pt x="14396" y="3157"/>
                    <a:pt x="22018" y="0"/>
                    <a:pt x="29965" y="0"/>
                  </a:cubicBezTo>
                  <a:close/>
                </a:path>
              </a:pathLst>
            </a:custGeom>
            <a:solidFill>
              <a:srgbClr val="F5F5F5"/>
            </a:solidFill>
            <a:ln cap="rnd">
              <a:noFill/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0"/>
              <a:ext cx="2177501" cy="9919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67185447" name="Group 12"/>
          <p:cNvGrpSpPr/>
          <p:nvPr/>
        </p:nvGrpSpPr>
        <p:grpSpPr bwMode="auto">
          <a:xfrm rot="0">
            <a:off x="16571292" y="2051598"/>
            <a:ext cx="672353" cy="672353"/>
            <a:chOff x="0" y="0"/>
            <a:chExt cx="160553" cy="160553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160553" cy="160553"/>
            </a:xfrm>
            <a:custGeom>
              <a:avLst/>
              <a:gdLst/>
              <a:ahLst/>
              <a:cxnLst/>
              <a:rect l="l" t="t" r="r" b="b"/>
              <a:pathLst>
                <a:path w="160553" h="160553" fill="norm" stroke="1" extrusionOk="0">
                  <a:moveTo>
                    <a:pt x="80277" y="0"/>
                  </a:moveTo>
                  <a:lnTo>
                    <a:pt x="80277" y="0"/>
                  </a:lnTo>
                  <a:cubicBezTo>
                    <a:pt x="124612" y="0"/>
                    <a:pt x="160553" y="35941"/>
                    <a:pt x="160553" y="80277"/>
                  </a:cubicBezTo>
                  <a:lnTo>
                    <a:pt x="160553" y="80277"/>
                  </a:lnTo>
                  <a:cubicBezTo>
                    <a:pt x="160553" y="101567"/>
                    <a:pt x="152095" y="121986"/>
                    <a:pt x="137041" y="137041"/>
                  </a:cubicBezTo>
                  <a:cubicBezTo>
                    <a:pt x="121986" y="152095"/>
                    <a:pt x="101567" y="160553"/>
                    <a:pt x="80277" y="160553"/>
                  </a:cubicBezTo>
                  <a:lnTo>
                    <a:pt x="80277" y="160553"/>
                  </a:lnTo>
                  <a:cubicBezTo>
                    <a:pt x="58986" y="160553"/>
                    <a:pt x="38567" y="152095"/>
                    <a:pt x="23512" y="137041"/>
                  </a:cubicBezTo>
                  <a:cubicBezTo>
                    <a:pt x="8458" y="121986"/>
                    <a:pt x="0" y="101567"/>
                    <a:pt x="0" y="80277"/>
                  </a:cubicBezTo>
                  <a:lnTo>
                    <a:pt x="0" y="80277"/>
                  </a:lnTo>
                  <a:cubicBezTo>
                    <a:pt x="0" y="58986"/>
                    <a:pt x="8458" y="38567"/>
                    <a:pt x="23512" y="23512"/>
                  </a:cubicBezTo>
                  <a:cubicBezTo>
                    <a:pt x="38567" y="8458"/>
                    <a:pt x="58986" y="0"/>
                    <a:pt x="80277" y="0"/>
                  </a:cubicBezTo>
                  <a:close/>
                </a:path>
              </a:pathLst>
            </a:custGeom>
            <a:solidFill>
              <a:srgbClr val="FF5B37"/>
            </a:solidFill>
            <a:ln cap="rnd">
              <a:noFill/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160553" cy="198653"/>
            </a:xfrm>
            <a:prstGeom prst="rect">
              <a:avLst/>
            </a:prstGeom>
            <a:grpFill/>
          </p:spPr>
          <p:txBody>
            <a:bodyPr lIns="40749" tIns="40749" rIns="40749" bIns="40749" rtlCol="0" anchor="ctr"/>
            <a:lstStyle/>
            <a:p>
              <a:pPr marL="0" lvl="0" indent="0" algn="ctr">
                <a:lnSpc>
                  <a:spcPts val="22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sp>
        <p:nvSpPr>
          <p:cNvPr id="877724770" name="Freeform 15"/>
          <p:cNvSpPr/>
          <p:nvPr/>
        </p:nvSpPr>
        <p:spPr bwMode="auto">
          <a:xfrm rot="0" flipH="0" flipV="0">
            <a:off x="16724100" y="2204405"/>
            <a:ext cx="366738" cy="366738"/>
          </a:xfrm>
          <a:custGeom>
            <a:avLst/>
            <a:gdLst/>
            <a:ahLst/>
            <a:cxnLst/>
            <a:rect l="l" t="t" r="r" b="b"/>
            <a:pathLst>
              <a:path w="366738" h="366738" fill="norm" stroke="1" extrusionOk="0">
                <a:moveTo>
                  <a:pt x="0" y="0"/>
                </a:moveTo>
                <a:lnTo>
                  <a:pt x="366738" y="0"/>
                </a:lnTo>
                <a:lnTo>
                  <a:pt x="366738" y="366738"/>
                </a:lnTo>
                <a:lnTo>
                  <a:pt x="0" y="366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grpSp>
        <p:nvGrpSpPr>
          <p:cNvPr id="278578129" name="Group 16"/>
          <p:cNvGrpSpPr/>
          <p:nvPr/>
        </p:nvGrpSpPr>
        <p:grpSpPr bwMode="auto">
          <a:xfrm rot="0">
            <a:off x="7770192" y="6351439"/>
            <a:ext cx="672353" cy="672353"/>
            <a:chOff x="0" y="0"/>
            <a:chExt cx="160553" cy="160553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0553" cy="160553"/>
            </a:xfrm>
            <a:custGeom>
              <a:avLst/>
              <a:gdLst/>
              <a:ahLst/>
              <a:cxnLst/>
              <a:rect l="l" t="t" r="r" b="b"/>
              <a:pathLst>
                <a:path w="160553" h="160553" fill="norm" stroke="1" extrusionOk="0">
                  <a:moveTo>
                    <a:pt x="80277" y="0"/>
                  </a:moveTo>
                  <a:lnTo>
                    <a:pt x="80277" y="0"/>
                  </a:lnTo>
                  <a:cubicBezTo>
                    <a:pt x="124612" y="0"/>
                    <a:pt x="160553" y="35941"/>
                    <a:pt x="160553" y="80277"/>
                  </a:cubicBezTo>
                  <a:lnTo>
                    <a:pt x="160553" y="80277"/>
                  </a:lnTo>
                  <a:cubicBezTo>
                    <a:pt x="160553" y="101567"/>
                    <a:pt x="152095" y="121986"/>
                    <a:pt x="137041" y="137041"/>
                  </a:cubicBezTo>
                  <a:cubicBezTo>
                    <a:pt x="121986" y="152095"/>
                    <a:pt x="101567" y="160553"/>
                    <a:pt x="80277" y="160553"/>
                  </a:cubicBezTo>
                  <a:lnTo>
                    <a:pt x="80277" y="160553"/>
                  </a:lnTo>
                  <a:cubicBezTo>
                    <a:pt x="58986" y="160553"/>
                    <a:pt x="38567" y="152095"/>
                    <a:pt x="23512" y="137041"/>
                  </a:cubicBezTo>
                  <a:cubicBezTo>
                    <a:pt x="8458" y="121986"/>
                    <a:pt x="0" y="101567"/>
                    <a:pt x="0" y="80277"/>
                  </a:cubicBezTo>
                  <a:lnTo>
                    <a:pt x="0" y="80277"/>
                  </a:lnTo>
                  <a:cubicBezTo>
                    <a:pt x="0" y="58986"/>
                    <a:pt x="8458" y="38567"/>
                    <a:pt x="23512" y="23512"/>
                  </a:cubicBezTo>
                  <a:cubicBezTo>
                    <a:pt x="38567" y="8458"/>
                    <a:pt x="58986" y="0"/>
                    <a:pt x="80277" y="0"/>
                  </a:cubicBezTo>
                  <a:close/>
                </a:path>
              </a:pathLst>
            </a:custGeom>
            <a:solidFill>
              <a:srgbClr val="FF5B37"/>
            </a:solidFill>
            <a:ln cap="rnd">
              <a:noFill/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160553" cy="198653"/>
            </a:xfrm>
            <a:prstGeom prst="rect">
              <a:avLst/>
            </a:prstGeom>
            <a:grpFill/>
          </p:spPr>
          <p:txBody>
            <a:bodyPr lIns="40749" tIns="40749" rIns="40749" bIns="40749" rtlCol="0" anchor="ctr"/>
            <a:lstStyle/>
            <a:p>
              <a:pPr marL="0" lvl="0" indent="0" algn="ctr">
                <a:lnSpc>
                  <a:spcPts val="22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sp>
        <p:nvSpPr>
          <p:cNvPr id="719075233" name="Freeform 19"/>
          <p:cNvSpPr/>
          <p:nvPr/>
        </p:nvSpPr>
        <p:spPr bwMode="auto">
          <a:xfrm rot="0" flipH="0" flipV="0">
            <a:off x="7923000" y="6504246"/>
            <a:ext cx="366738" cy="366738"/>
          </a:xfrm>
          <a:custGeom>
            <a:avLst/>
            <a:gdLst/>
            <a:ahLst/>
            <a:cxnLst/>
            <a:rect l="l" t="t" r="r" b="b"/>
            <a:pathLst>
              <a:path w="366738" h="366738" fill="norm" stroke="1" extrusionOk="0">
                <a:moveTo>
                  <a:pt x="0" y="0"/>
                </a:moveTo>
                <a:lnTo>
                  <a:pt x="366738" y="0"/>
                </a:lnTo>
                <a:lnTo>
                  <a:pt x="366738" y="366738"/>
                </a:lnTo>
                <a:lnTo>
                  <a:pt x="0" y="366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grpSp>
        <p:nvGrpSpPr>
          <p:cNvPr id="1530035218" name="Group 20"/>
          <p:cNvGrpSpPr/>
          <p:nvPr/>
        </p:nvGrpSpPr>
        <p:grpSpPr bwMode="auto">
          <a:xfrm rot="0">
            <a:off x="16571292" y="6351439"/>
            <a:ext cx="672353" cy="672353"/>
            <a:chOff x="0" y="0"/>
            <a:chExt cx="160553" cy="160553"/>
          </a:xfrm>
        </p:grpSpPr>
        <p:sp>
          <p:nvSpPr>
            <p:cNvPr id="21" name="Freeform 21"/>
            <p:cNvSpPr/>
            <p:nvPr/>
          </p:nvSpPr>
          <p:spPr bwMode="auto">
            <a:xfrm rot="0" flipH="0" flipV="0">
              <a:off x="0" y="0"/>
              <a:ext cx="160553" cy="160553"/>
            </a:xfrm>
            <a:custGeom>
              <a:avLst/>
              <a:gdLst/>
              <a:ahLst/>
              <a:cxnLst/>
              <a:rect l="l" t="t" r="r" b="b"/>
              <a:pathLst>
                <a:path w="160553" h="160553" fill="norm" stroke="1" extrusionOk="0">
                  <a:moveTo>
                    <a:pt x="80277" y="0"/>
                  </a:moveTo>
                  <a:lnTo>
                    <a:pt x="80277" y="0"/>
                  </a:lnTo>
                  <a:cubicBezTo>
                    <a:pt x="124612" y="0"/>
                    <a:pt x="160553" y="35941"/>
                    <a:pt x="160553" y="80277"/>
                  </a:cubicBezTo>
                  <a:lnTo>
                    <a:pt x="160553" y="80277"/>
                  </a:lnTo>
                  <a:cubicBezTo>
                    <a:pt x="160553" y="101567"/>
                    <a:pt x="152095" y="121986"/>
                    <a:pt x="137041" y="137041"/>
                  </a:cubicBezTo>
                  <a:cubicBezTo>
                    <a:pt x="121986" y="152095"/>
                    <a:pt x="101567" y="160553"/>
                    <a:pt x="80277" y="160553"/>
                  </a:cubicBezTo>
                  <a:lnTo>
                    <a:pt x="80277" y="160553"/>
                  </a:lnTo>
                  <a:cubicBezTo>
                    <a:pt x="58986" y="160553"/>
                    <a:pt x="38567" y="152095"/>
                    <a:pt x="23512" y="137041"/>
                  </a:cubicBezTo>
                  <a:cubicBezTo>
                    <a:pt x="8458" y="121986"/>
                    <a:pt x="0" y="101567"/>
                    <a:pt x="0" y="80277"/>
                  </a:cubicBezTo>
                  <a:lnTo>
                    <a:pt x="0" y="80277"/>
                  </a:lnTo>
                  <a:cubicBezTo>
                    <a:pt x="0" y="58986"/>
                    <a:pt x="8458" y="38567"/>
                    <a:pt x="23512" y="23512"/>
                  </a:cubicBezTo>
                  <a:cubicBezTo>
                    <a:pt x="38567" y="8458"/>
                    <a:pt x="58986" y="0"/>
                    <a:pt x="80277" y="0"/>
                  </a:cubicBezTo>
                  <a:close/>
                </a:path>
              </a:pathLst>
            </a:custGeom>
            <a:solidFill>
              <a:srgbClr val="F7E4D9"/>
            </a:solidFill>
            <a:ln cap="rnd">
              <a:noFill/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 bwMode="auto">
            <a:xfrm>
              <a:off x="0" y="-38100"/>
              <a:ext cx="160553" cy="198653"/>
            </a:xfrm>
            <a:prstGeom prst="rect">
              <a:avLst/>
            </a:prstGeom>
            <a:grpFill/>
          </p:spPr>
          <p:txBody>
            <a:bodyPr lIns="40749" tIns="40749" rIns="40749" bIns="40749" rtlCol="0" anchor="ctr"/>
            <a:lstStyle/>
            <a:p>
              <a:pPr marL="0" lvl="0" indent="0" algn="ctr">
                <a:lnSpc>
                  <a:spcPts val="22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sp>
        <p:nvSpPr>
          <p:cNvPr id="1417227263" name="Freeform 23"/>
          <p:cNvSpPr/>
          <p:nvPr/>
        </p:nvSpPr>
        <p:spPr bwMode="auto">
          <a:xfrm rot="0" flipH="0" flipV="0">
            <a:off x="16724100" y="6504246"/>
            <a:ext cx="366738" cy="366738"/>
          </a:xfrm>
          <a:custGeom>
            <a:avLst/>
            <a:gdLst/>
            <a:ahLst/>
            <a:cxnLst/>
            <a:rect l="l" t="t" r="r" b="b"/>
            <a:pathLst>
              <a:path w="366738" h="366738" fill="norm" stroke="1" extrusionOk="0">
                <a:moveTo>
                  <a:pt x="0" y="0"/>
                </a:moveTo>
                <a:lnTo>
                  <a:pt x="366738" y="0"/>
                </a:lnTo>
                <a:lnTo>
                  <a:pt x="366738" y="366738"/>
                </a:lnTo>
                <a:lnTo>
                  <a:pt x="0" y="366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484818388" name="TextBox 24"/>
          <p:cNvSpPr txBox="1"/>
          <p:nvPr/>
        </p:nvSpPr>
        <p:spPr bwMode="auto">
          <a:xfrm rot="0">
            <a:off x="1028700" y="2051598"/>
            <a:ext cx="7332125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79"/>
              </a:lnSpc>
              <a:defRPr/>
            </a:pPr>
            <a:r>
              <a:rPr sz="4400" b="1">
                <a:solidFill>
                  <a:srgbClr val="000000"/>
                </a:solidFill>
              </a:rPr>
              <a:t>Who It's For</a:t>
            </a:r>
            <a:endParaRPr/>
          </a:p>
        </p:txBody>
      </p:sp>
      <p:sp>
        <p:nvSpPr>
          <p:cNvPr id="285302055" name="TextBox 25"/>
          <p:cNvSpPr txBox="1"/>
          <p:nvPr/>
        </p:nvSpPr>
        <p:spPr bwMode="auto">
          <a:xfrm rot="0">
            <a:off x="1195748" y="613808"/>
            <a:ext cx="1391384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  <a:spcBef>
                <a:spcPts val="0"/>
              </a:spcBef>
              <a:defRPr/>
            </a:pPr>
            <a:r>
              <a:rPr sz="1400" b="1">
                <a:solidFill>
                  <a:srgbClr val="000000"/>
                </a:solidFill>
              </a:rPr>
              <a:t>DailyUtility</a:t>
            </a:r>
            <a:endParaRPr/>
          </a:p>
        </p:txBody>
      </p:sp>
      <p:sp>
        <p:nvSpPr>
          <p:cNvPr id="1779486407" name="TextBox 26"/>
          <p:cNvSpPr txBox="1"/>
          <p:nvPr/>
        </p:nvSpPr>
        <p:spPr bwMode="auto">
          <a:xfrm rot="0">
            <a:off x="9845455" y="6303814"/>
            <a:ext cx="3057065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ts val="0"/>
              </a:spcBef>
              <a:defRPr/>
            </a:pPr>
            <a:r>
              <a:rPr sz="1200">
                <a:solidFill>
                  <a:srgbClr val="1F1F1F"/>
                </a:solidFill>
              </a:rPr>
              <a:t>Students using a Baki Khata, tracking subscriptions and acing GPA / CGPA — Bangladesh first, English-speaking markets next.</a:t>
            </a:r>
            <a:endParaRPr/>
          </a:p>
        </p:txBody>
      </p:sp>
      <p:sp>
        <p:nvSpPr>
          <p:cNvPr id="1208383846" name="TextBox 27"/>
          <p:cNvSpPr txBox="1"/>
          <p:nvPr/>
        </p:nvSpPr>
        <p:spPr bwMode="auto">
          <a:xfrm rot="0">
            <a:off x="9845455" y="7378621"/>
            <a:ext cx="7398191" cy="182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4342"/>
              </a:lnSpc>
              <a:spcBef>
                <a:spcPts val="0"/>
              </a:spcBef>
              <a:defRPr/>
            </a:pPr>
            <a:r>
              <a:rPr sz="1400" b="1">
                <a:solidFill>
                  <a:srgbClr val="000000"/>
                </a:solidFill>
              </a:rPr>
              <a:t>Early Access Cohort</a:t>
            </a:r>
            <a:endParaRPr/>
          </a:p>
        </p:txBody>
      </p:sp>
      <p:sp>
        <p:nvSpPr>
          <p:cNvPr id="473653623" name="TextBox 28"/>
          <p:cNvSpPr txBox="1"/>
          <p:nvPr/>
        </p:nvSpPr>
        <p:spPr bwMode="auto">
          <a:xfrm rot="0">
            <a:off x="1044355" y="6303814"/>
            <a:ext cx="3169124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ts val="0"/>
              </a:spcBef>
              <a:defRPr/>
            </a:pPr>
            <a:r>
              <a:rPr sz="7200" b="1">
                <a:solidFill>
                  <a:srgbClr val="FF5B37"/>
                </a:solidFill>
              </a:rPr>
              <a:t>500+</a:t>
            </a:r>
            <a:endParaRPr/>
          </a:p>
        </p:txBody>
      </p:sp>
      <p:sp>
        <p:nvSpPr>
          <p:cNvPr id="1373615643" name="TextBox 29"/>
          <p:cNvSpPr txBox="1"/>
          <p:nvPr/>
        </p:nvSpPr>
        <p:spPr bwMode="auto">
          <a:xfrm rot="0">
            <a:off x="1056122" y="7378621"/>
            <a:ext cx="7386423" cy="182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4342"/>
              </a:lnSpc>
              <a:spcBef>
                <a:spcPts val="0"/>
              </a:spcBef>
              <a:defRPr/>
            </a:pPr>
            <a:r>
              <a:rPr sz="1200">
                <a:solidFill>
                  <a:srgbClr val="1F1F1F"/>
                </a:solidFill>
              </a:rPr>
              <a:t>Friends, family &amp; colleagues in Bangladesh testing the local tools (Baki Khata, BD land-units, prayer).</a:t>
            </a:r>
            <a:endParaRPr/>
          </a:p>
        </p:txBody>
      </p:sp>
      <p:sp>
        <p:nvSpPr>
          <p:cNvPr id="607273353" name="TextBox 30"/>
          <p:cNvSpPr txBox="1"/>
          <p:nvPr/>
        </p:nvSpPr>
        <p:spPr bwMode="auto">
          <a:xfrm rot="0">
            <a:off x="9845455" y="2003973"/>
            <a:ext cx="3057065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sz="1400" b="1">
                <a:solidFill>
                  <a:srgbClr val="000000"/>
                </a:solidFill>
              </a:rPr>
              <a:t>English-Speaking Markets</a:t>
            </a:r>
            <a:endParaRPr/>
          </a:p>
        </p:txBody>
      </p:sp>
      <p:sp>
        <p:nvSpPr>
          <p:cNvPr id="87494728" name="TextBox 31"/>
          <p:cNvSpPr txBox="1"/>
          <p:nvPr/>
        </p:nvSpPr>
        <p:spPr bwMode="auto">
          <a:xfrm rot="0">
            <a:off x="9845455" y="3078780"/>
            <a:ext cx="7398191" cy="182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4342"/>
              </a:lnSpc>
              <a:spcBef>
                <a:spcPts val="0"/>
              </a:spcBef>
              <a:defRPr/>
            </a:pPr>
            <a:r>
              <a:rPr sz="7200" b="1">
                <a:solidFill>
                  <a:srgbClr val="FF5B37"/>
                </a:solidFill>
              </a:rPr>
              <a:t>50,000+</a:t>
            </a:r>
            <a:endParaRPr/>
          </a:p>
        </p:txBody>
      </p:sp>
      <p:sp>
        <p:nvSpPr>
          <p:cNvPr id="2058124839" name="TextBox 32"/>
          <p:cNvSpPr txBox="1"/>
          <p:nvPr/>
        </p:nvSpPr>
        <p:spPr bwMode="auto">
          <a:xfrm rot="0">
            <a:off x="1056122" y="3341938"/>
            <a:ext cx="7386423" cy="140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defRPr/>
            </a:pPr>
            <a:r>
              <a:rPr sz="1400">
                <a:solidFill>
                  <a:srgbClr val="1F1F1F"/>
                </a:solidFill>
              </a:rPr>
              <a:t>Productivity-app users who want one offline-first tool replacing 8–12 separate apps — privacy-conscious, subscription-fatigued, mobile-first.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092282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-18626" r="0" b="0"/>
            </a:stretch>
          </a:blipFill>
        </p:spPr>
      </p:sp>
      <p:sp>
        <p:nvSpPr>
          <p:cNvPr id="1371129003" name="Freeform 3"/>
          <p:cNvSpPr/>
          <p:nvPr/>
        </p:nvSpPr>
        <p:spPr bwMode="auto">
          <a:xfrm rot="0" flipH="0" flipV="0">
            <a:off x="609600" y="609600"/>
            <a:ext cx="446522" cy="341792"/>
          </a:xfrm>
          <a:custGeom>
            <a:avLst/>
            <a:gdLst/>
            <a:ahLst/>
            <a:cxnLst/>
            <a:rect l="l" t="t" r="r" b="b"/>
            <a:pathLst>
              <a:path w="446522" h="341792" fill="norm" stroke="1" extrusionOk="0">
                <a:moveTo>
                  <a:pt x="0" y="0"/>
                </a:moveTo>
                <a:lnTo>
                  <a:pt x="446522" y="0"/>
                </a:lnTo>
                <a:lnTo>
                  <a:pt x="446522" y="341792"/>
                </a:lnTo>
                <a:lnTo>
                  <a:pt x="0" y="3417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grpSp>
        <p:nvGrpSpPr>
          <p:cNvPr id="1505456882" name="Group 4"/>
          <p:cNvGrpSpPr/>
          <p:nvPr/>
        </p:nvGrpSpPr>
        <p:grpSpPr bwMode="auto">
          <a:xfrm rot="0">
            <a:off x="0" y="5143500"/>
            <a:ext cx="18288000" cy="5385547"/>
            <a:chOff x="0" y="0"/>
            <a:chExt cx="4816593" cy="1418416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4816592" cy="1418416"/>
            </a:xfrm>
            <a:custGeom>
              <a:avLst/>
              <a:gdLst/>
              <a:ahLst/>
              <a:cxnLst/>
              <a:rect l="l" t="t" r="r" b="b"/>
              <a:pathLst>
                <a:path w="4816592" h="1418416" fill="norm" stroke="1" extrusionOk="0">
                  <a:moveTo>
                    <a:pt x="13547" y="0"/>
                  </a:moveTo>
                  <a:lnTo>
                    <a:pt x="4803046" y="0"/>
                  </a:lnTo>
                  <a:cubicBezTo>
                    <a:pt x="4806638" y="0"/>
                    <a:pt x="4810084" y="1427"/>
                    <a:pt x="4812625" y="3968"/>
                  </a:cubicBezTo>
                  <a:cubicBezTo>
                    <a:pt x="4815165" y="6508"/>
                    <a:pt x="4816592" y="9954"/>
                    <a:pt x="4816592" y="13547"/>
                  </a:cubicBezTo>
                  <a:lnTo>
                    <a:pt x="4816592" y="1404869"/>
                  </a:lnTo>
                  <a:cubicBezTo>
                    <a:pt x="4816592" y="1412351"/>
                    <a:pt x="4810527" y="1418416"/>
                    <a:pt x="4803046" y="1418416"/>
                  </a:cubicBezTo>
                  <a:lnTo>
                    <a:pt x="13547" y="1418416"/>
                  </a:lnTo>
                  <a:cubicBezTo>
                    <a:pt x="6065" y="1418416"/>
                    <a:pt x="0" y="1412351"/>
                    <a:pt x="0" y="1404869"/>
                  </a:cubicBezTo>
                  <a:lnTo>
                    <a:pt x="0" y="13547"/>
                  </a:lnTo>
                  <a:cubicBezTo>
                    <a:pt x="0" y="6065"/>
                    <a:pt x="6065" y="0"/>
                    <a:pt x="13547" y="0"/>
                  </a:cubicBezTo>
                  <a:close/>
                </a:path>
              </a:pathLst>
            </a:custGeom>
            <a:solidFill>
              <a:srgbClr val="FF5B37"/>
            </a:solidFill>
            <a:ln cap="rnd">
              <a:noFill/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0"/>
              <a:ext cx="4816593" cy="14184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848617358" name="Group 7"/>
          <p:cNvGrpSpPr/>
          <p:nvPr/>
        </p:nvGrpSpPr>
        <p:grpSpPr bwMode="auto">
          <a:xfrm rot="0">
            <a:off x="8991600" y="5910959"/>
            <a:ext cx="4076699" cy="3766441"/>
            <a:chOff x="0" y="0"/>
            <a:chExt cx="1073699" cy="991985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1073699" cy="991985"/>
            </a:xfrm>
            <a:custGeom>
              <a:avLst/>
              <a:gdLst/>
              <a:ahLst/>
              <a:cxnLst/>
              <a:rect l="l" t="t" r="r" b="b"/>
              <a:pathLst>
                <a:path w="1073699" h="991985" fill="norm" stroke="1" extrusionOk="0">
                  <a:moveTo>
                    <a:pt x="60770" y="0"/>
                  </a:moveTo>
                  <a:lnTo>
                    <a:pt x="1012929" y="0"/>
                  </a:lnTo>
                  <a:cubicBezTo>
                    <a:pt x="1046491" y="0"/>
                    <a:pt x="1073699" y="27208"/>
                    <a:pt x="1073699" y="60770"/>
                  </a:cubicBezTo>
                  <a:lnTo>
                    <a:pt x="1073699" y="931214"/>
                  </a:lnTo>
                  <a:cubicBezTo>
                    <a:pt x="1073699" y="947332"/>
                    <a:pt x="1067296" y="962789"/>
                    <a:pt x="1055900" y="974185"/>
                  </a:cubicBezTo>
                  <a:cubicBezTo>
                    <a:pt x="1044503" y="985582"/>
                    <a:pt x="1029046" y="991985"/>
                    <a:pt x="1012929" y="991985"/>
                  </a:cubicBezTo>
                  <a:lnTo>
                    <a:pt x="60770" y="991985"/>
                  </a:lnTo>
                  <a:cubicBezTo>
                    <a:pt x="27208" y="991985"/>
                    <a:pt x="0" y="964777"/>
                    <a:pt x="0" y="931214"/>
                  </a:cubicBezTo>
                  <a:lnTo>
                    <a:pt x="0" y="60770"/>
                  </a:lnTo>
                  <a:cubicBezTo>
                    <a:pt x="0" y="27208"/>
                    <a:pt x="27208" y="0"/>
                    <a:pt x="60770" y="0"/>
                  </a:cubicBezTo>
                  <a:close/>
                </a:path>
              </a:pathLst>
            </a:custGeom>
            <a:solidFill>
              <a:srgbClr val="F7E4D9"/>
            </a:solidFill>
            <a:ln cap="rnd">
              <a:noFill/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0"/>
              <a:ext cx="1073699" cy="9919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1429319211" name="Group 10"/>
          <p:cNvGrpSpPr/>
          <p:nvPr/>
        </p:nvGrpSpPr>
        <p:grpSpPr bwMode="auto">
          <a:xfrm rot="0">
            <a:off x="9442009" y="6351439"/>
            <a:ext cx="838200" cy="838200"/>
            <a:chOff x="0" y="0"/>
            <a:chExt cx="160553" cy="160553"/>
          </a:xfrm>
        </p:grpSpPr>
        <p:sp>
          <p:nvSpPr>
            <p:cNvPr id="11" name="Freeform 11"/>
            <p:cNvSpPr/>
            <p:nvPr/>
          </p:nvSpPr>
          <p:spPr bwMode="auto">
            <a:xfrm rot="0" flipH="0" flipV="0">
              <a:off x="0" y="0"/>
              <a:ext cx="160553" cy="160553"/>
            </a:xfrm>
            <a:custGeom>
              <a:avLst/>
              <a:gdLst/>
              <a:ahLst/>
              <a:cxnLst/>
              <a:rect l="l" t="t" r="r" b="b"/>
              <a:pathLst>
                <a:path w="160553" h="160553" fill="norm" stroke="1" extrusionOk="0">
                  <a:moveTo>
                    <a:pt x="80277" y="0"/>
                  </a:moveTo>
                  <a:lnTo>
                    <a:pt x="80277" y="0"/>
                  </a:lnTo>
                  <a:cubicBezTo>
                    <a:pt x="124612" y="0"/>
                    <a:pt x="160553" y="35941"/>
                    <a:pt x="160553" y="80277"/>
                  </a:cubicBezTo>
                  <a:lnTo>
                    <a:pt x="160553" y="80277"/>
                  </a:lnTo>
                  <a:cubicBezTo>
                    <a:pt x="160553" y="101567"/>
                    <a:pt x="152095" y="121986"/>
                    <a:pt x="137041" y="137041"/>
                  </a:cubicBezTo>
                  <a:cubicBezTo>
                    <a:pt x="121986" y="152095"/>
                    <a:pt x="101567" y="160553"/>
                    <a:pt x="80277" y="160553"/>
                  </a:cubicBezTo>
                  <a:lnTo>
                    <a:pt x="80277" y="160553"/>
                  </a:lnTo>
                  <a:cubicBezTo>
                    <a:pt x="58986" y="160553"/>
                    <a:pt x="38567" y="152095"/>
                    <a:pt x="23512" y="137041"/>
                  </a:cubicBezTo>
                  <a:cubicBezTo>
                    <a:pt x="8458" y="121986"/>
                    <a:pt x="0" y="101567"/>
                    <a:pt x="0" y="80277"/>
                  </a:cubicBezTo>
                  <a:lnTo>
                    <a:pt x="0" y="80277"/>
                  </a:lnTo>
                  <a:cubicBezTo>
                    <a:pt x="0" y="58986"/>
                    <a:pt x="8458" y="38567"/>
                    <a:pt x="23512" y="23512"/>
                  </a:cubicBezTo>
                  <a:cubicBezTo>
                    <a:pt x="38567" y="8458"/>
                    <a:pt x="58986" y="0"/>
                    <a:pt x="80277" y="0"/>
                  </a:cubicBezTo>
                  <a:close/>
                </a:path>
              </a:pathLst>
            </a:custGeom>
            <a:solidFill>
              <a:srgbClr val="FF5B37"/>
            </a:soli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 bwMode="auto">
            <a:xfrm>
              <a:off x="0" y="-38100"/>
              <a:ext cx="160553" cy="1986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559179103" name="Group 13"/>
          <p:cNvGrpSpPr/>
          <p:nvPr/>
        </p:nvGrpSpPr>
        <p:grpSpPr bwMode="auto">
          <a:xfrm rot="0">
            <a:off x="13601700" y="5910959"/>
            <a:ext cx="4076699" cy="3766441"/>
            <a:chOff x="0" y="0"/>
            <a:chExt cx="1073699" cy="991985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073699" cy="991985"/>
            </a:xfrm>
            <a:custGeom>
              <a:avLst/>
              <a:gdLst/>
              <a:ahLst/>
              <a:cxnLst/>
              <a:rect l="l" t="t" r="r" b="b"/>
              <a:pathLst>
                <a:path w="1073699" h="991985" fill="norm" stroke="1" extrusionOk="0">
                  <a:moveTo>
                    <a:pt x="60770" y="0"/>
                  </a:moveTo>
                  <a:lnTo>
                    <a:pt x="1012929" y="0"/>
                  </a:lnTo>
                  <a:cubicBezTo>
                    <a:pt x="1046491" y="0"/>
                    <a:pt x="1073699" y="27208"/>
                    <a:pt x="1073699" y="60770"/>
                  </a:cubicBezTo>
                  <a:lnTo>
                    <a:pt x="1073699" y="931214"/>
                  </a:lnTo>
                  <a:cubicBezTo>
                    <a:pt x="1073699" y="947332"/>
                    <a:pt x="1067296" y="962789"/>
                    <a:pt x="1055900" y="974185"/>
                  </a:cubicBezTo>
                  <a:cubicBezTo>
                    <a:pt x="1044503" y="985582"/>
                    <a:pt x="1029046" y="991985"/>
                    <a:pt x="1012929" y="991985"/>
                  </a:cubicBezTo>
                  <a:lnTo>
                    <a:pt x="60770" y="991985"/>
                  </a:lnTo>
                  <a:cubicBezTo>
                    <a:pt x="27208" y="991985"/>
                    <a:pt x="0" y="964777"/>
                    <a:pt x="0" y="931214"/>
                  </a:cubicBezTo>
                  <a:lnTo>
                    <a:pt x="0" y="60770"/>
                  </a:lnTo>
                  <a:cubicBezTo>
                    <a:pt x="0" y="27208"/>
                    <a:pt x="27208" y="0"/>
                    <a:pt x="60770" y="0"/>
                  </a:cubicBezTo>
                  <a:close/>
                </a:path>
              </a:pathLst>
            </a:custGeom>
            <a:solidFill>
              <a:srgbClr val="F7E4D9"/>
            </a:solidFill>
            <a:ln cap="rnd">
              <a:noFill/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 bwMode="auto">
            <a:xfrm>
              <a:off x="0" y="0"/>
              <a:ext cx="1073699" cy="9919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388524749" name="Group 16"/>
          <p:cNvGrpSpPr/>
          <p:nvPr/>
        </p:nvGrpSpPr>
        <p:grpSpPr bwMode="auto">
          <a:xfrm rot="0">
            <a:off x="14052109" y="6351439"/>
            <a:ext cx="838200" cy="838200"/>
            <a:chOff x="0" y="0"/>
            <a:chExt cx="160553" cy="160553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0553" cy="160553"/>
            </a:xfrm>
            <a:custGeom>
              <a:avLst/>
              <a:gdLst/>
              <a:ahLst/>
              <a:cxnLst/>
              <a:rect l="l" t="t" r="r" b="b"/>
              <a:pathLst>
                <a:path w="160553" h="160553" fill="norm" stroke="1" extrusionOk="0">
                  <a:moveTo>
                    <a:pt x="80277" y="0"/>
                  </a:moveTo>
                  <a:lnTo>
                    <a:pt x="80277" y="0"/>
                  </a:lnTo>
                  <a:cubicBezTo>
                    <a:pt x="124612" y="0"/>
                    <a:pt x="160553" y="35941"/>
                    <a:pt x="160553" y="80277"/>
                  </a:cubicBezTo>
                  <a:lnTo>
                    <a:pt x="160553" y="80277"/>
                  </a:lnTo>
                  <a:cubicBezTo>
                    <a:pt x="160553" y="101567"/>
                    <a:pt x="152095" y="121986"/>
                    <a:pt x="137041" y="137041"/>
                  </a:cubicBezTo>
                  <a:cubicBezTo>
                    <a:pt x="121986" y="152095"/>
                    <a:pt x="101567" y="160553"/>
                    <a:pt x="80277" y="160553"/>
                  </a:cubicBezTo>
                  <a:lnTo>
                    <a:pt x="80277" y="160553"/>
                  </a:lnTo>
                  <a:cubicBezTo>
                    <a:pt x="58986" y="160553"/>
                    <a:pt x="38567" y="152095"/>
                    <a:pt x="23512" y="137041"/>
                  </a:cubicBezTo>
                  <a:cubicBezTo>
                    <a:pt x="8458" y="121986"/>
                    <a:pt x="0" y="101567"/>
                    <a:pt x="0" y="80277"/>
                  </a:cubicBezTo>
                  <a:lnTo>
                    <a:pt x="0" y="80277"/>
                  </a:lnTo>
                  <a:cubicBezTo>
                    <a:pt x="0" y="58986"/>
                    <a:pt x="8458" y="38567"/>
                    <a:pt x="23512" y="23512"/>
                  </a:cubicBezTo>
                  <a:cubicBezTo>
                    <a:pt x="38567" y="8458"/>
                    <a:pt x="58986" y="0"/>
                    <a:pt x="80277" y="0"/>
                  </a:cubicBezTo>
                  <a:close/>
                </a:path>
              </a:pathLst>
            </a:custGeom>
            <a:solidFill>
              <a:srgbClr val="FF5B37"/>
            </a:solidFill>
            <a:ln cap="rnd">
              <a:noFill/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160553" cy="1986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sp>
        <p:nvSpPr>
          <p:cNvPr id="1268889283" name="Freeform 19"/>
          <p:cNvSpPr/>
          <p:nvPr/>
        </p:nvSpPr>
        <p:spPr bwMode="auto">
          <a:xfrm rot="0" flipH="0" flipV="0">
            <a:off x="9643731" y="6541939"/>
            <a:ext cx="434756" cy="457200"/>
          </a:xfrm>
          <a:custGeom>
            <a:avLst/>
            <a:gdLst/>
            <a:ahLst/>
            <a:cxnLst/>
            <a:rect l="l" t="t" r="r" b="b"/>
            <a:pathLst>
              <a:path w="434756" h="457200" fill="norm" stroke="1" extrusionOk="0">
                <a:moveTo>
                  <a:pt x="0" y="0"/>
                </a:moveTo>
                <a:lnTo>
                  <a:pt x="434756" y="0"/>
                </a:lnTo>
                <a:lnTo>
                  <a:pt x="434756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</p:sp>
      <p:sp>
        <p:nvSpPr>
          <p:cNvPr id="670420531" name="Freeform 20"/>
          <p:cNvSpPr/>
          <p:nvPr/>
        </p:nvSpPr>
        <p:spPr bwMode="auto">
          <a:xfrm rot="0" flipH="0" flipV="0">
            <a:off x="14249259" y="6541939"/>
            <a:ext cx="443900" cy="457200"/>
          </a:xfrm>
          <a:custGeom>
            <a:avLst/>
            <a:gdLst/>
            <a:ahLst/>
            <a:cxnLst/>
            <a:rect l="l" t="t" r="r" b="b"/>
            <a:pathLst>
              <a:path w="443900" h="457200" fill="norm" stroke="1" extrusionOk="0">
                <a:moveTo>
                  <a:pt x="0" y="0"/>
                </a:moveTo>
                <a:lnTo>
                  <a:pt x="443900" y="0"/>
                </a:lnTo>
                <a:lnTo>
                  <a:pt x="4439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 l="0" t="0" r="0" b="0"/>
            </a:stretch>
          </a:blipFill>
        </p:spPr>
      </p:sp>
      <p:sp>
        <p:nvSpPr>
          <p:cNvPr id="437810904" name="TextBox 21"/>
          <p:cNvSpPr txBox="1"/>
          <p:nvPr/>
        </p:nvSpPr>
        <p:spPr bwMode="auto">
          <a:xfrm rot="0">
            <a:off x="609600" y="6351439"/>
            <a:ext cx="6934200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79"/>
              </a:lnSpc>
              <a:defRPr/>
            </a:pPr>
            <a:r>
              <a:rPr sz="3600" b="1">
                <a:solidFill>
                  <a:srgbClr val="000000"/>
                </a:solidFill>
              </a:rPr>
              <a:t>How It Stays Free &amp; Sustainable</a:t>
            </a:r>
            <a:endParaRPr/>
          </a:p>
        </p:txBody>
      </p:sp>
      <p:sp>
        <p:nvSpPr>
          <p:cNvPr id="662203656" name="TextBox 22"/>
          <p:cNvSpPr txBox="1"/>
          <p:nvPr/>
        </p:nvSpPr>
        <p:spPr bwMode="auto">
          <a:xfrm rot="0">
            <a:off x="1195748" y="613808"/>
            <a:ext cx="1391384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  <a:spcBef>
                <a:spcPts val="0"/>
              </a:spcBef>
              <a:defRPr/>
            </a:pPr>
            <a:r>
              <a:rPr sz="1400" b="1">
                <a:solidFill>
                  <a:srgbClr val="000000"/>
                </a:solidFill>
              </a:rPr>
              <a:t>DailyUtility</a:t>
            </a:r>
            <a:endParaRPr/>
          </a:p>
        </p:txBody>
      </p:sp>
      <p:sp>
        <p:nvSpPr>
          <p:cNvPr id="1141019797" name="TextBox 23"/>
          <p:cNvSpPr txBox="1"/>
          <p:nvPr/>
        </p:nvSpPr>
        <p:spPr bwMode="auto">
          <a:xfrm rot="0">
            <a:off x="637022" y="7830395"/>
            <a:ext cx="6906778" cy="140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defRPr/>
            </a:pPr>
            <a:r>
              <a:rPr sz="1400">
                <a:solidFill>
                  <a:srgbClr val="1F1F1F"/>
                </a:solidFill>
              </a:rPr>
              <a:t>Today the app is fully free, fully offline, no ads, no accounts. When sustainable monetisation lands, it lands gently:</a:t>
            </a:r>
            <a:endParaRPr/>
          </a:p>
        </p:txBody>
      </p:sp>
      <p:sp>
        <p:nvSpPr>
          <p:cNvPr id="1685130780" name="TextBox 24"/>
          <p:cNvSpPr txBox="1"/>
          <p:nvPr/>
        </p:nvSpPr>
        <p:spPr bwMode="auto">
          <a:xfrm rot="0">
            <a:off x="9442009" y="8182820"/>
            <a:ext cx="3175881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defRPr/>
            </a:pPr>
            <a:r>
              <a:rPr sz="1200">
                <a:solidFill>
                  <a:srgbClr val="1F1F1F"/>
                </a:solidFill>
              </a:rPr>
              <a:t>Optional Pro tier (planned): cloud-restore, multi-device sync, advanced analytics in Habits/Mood, premium calculators.</a:t>
            </a:r>
            <a:endParaRPr/>
          </a:p>
        </p:txBody>
      </p:sp>
      <p:sp>
        <p:nvSpPr>
          <p:cNvPr id="8272876" name="TextBox 25"/>
          <p:cNvSpPr txBox="1"/>
          <p:nvPr/>
        </p:nvSpPr>
        <p:spPr bwMode="auto">
          <a:xfrm rot="0">
            <a:off x="9442009" y="7751830"/>
            <a:ext cx="3175881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ts val="0"/>
              </a:spcBef>
              <a:defRPr/>
            </a:pPr>
            <a:r>
              <a:rPr sz="1400" b="1">
                <a:solidFill>
                  <a:srgbClr val="000000"/>
                </a:solidFill>
              </a:rPr>
              <a:t>Pro Tier (Future)</a:t>
            </a:r>
            <a:endParaRPr/>
          </a:p>
        </p:txBody>
      </p:sp>
      <p:sp>
        <p:nvSpPr>
          <p:cNvPr id="986463424" name="TextBox 26"/>
          <p:cNvSpPr txBox="1"/>
          <p:nvPr/>
        </p:nvSpPr>
        <p:spPr bwMode="auto">
          <a:xfrm rot="0">
            <a:off x="14052109" y="8182820"/>
            <a:ext cx="3175881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defRPr/>
            </a:pPr>
            <a:r>
              <a:rPr sz="1200">
                <a:solidFill>
                  <a:srgbClr val="1F1F1F"/>
                </a:solidFill>
              </a:rPr>
              <a:t>Sponsorships for the curated BD-special calculators and co-branded notice-board placements on the public content layer.</a:t>
            </a:r>
            <a:endParaRPr/>
          </a:p>
        </p:txBody>
      </p:sp>
      <p:sp>
        <p:nvSpPr>
          <p:cNvPr id="1929896714" name="TextBox 27"/>
          <p:cNvSpPr txBox="1"/>
          <p:nvPr/>
        </p:nvSpPr>
        <p:spPr bwMode="auto">
          <a:xfrm rot="0">
            <a:off x="14052109" y="7751830"/>
            <a:ext cx="3175881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ts val="0"/>
              </a:spcBef>
              <a:defRPr/>
            </a:pPr>
            <a:r>
              <a:rPr sz="1400" b="1">
                <a:solidFill>
                  <a:srgbClr val="000000"/>
                </a:solidFill>
              </a:rPr>
              <a:t>Brand Partnerships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DFDF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96045" name="Freeform 2"/>
          <p:cNvSpPr/>
          <p:nvPr/>
        </p:nvSpPr>
        <p:spPr bwMode="auto">
          <a:xfrm rot="0" flipH="0" flipV="0">
            <a:off x="609600" y="609600"/>
            <a:ext cx="446522" cy="341792"/>
          </a:xfrm>
          <a:custGeom>
            <a:avLst/>
            <a:gdLst/>
            <a:ahLst/>
            <a:cxnLst/>
            <a:rect l="l" t="t" r="r" b="b"/>
            <a:pathLst>
              <a:path w="446522" h="341792" fill="norm" stroke="1" extrusionOk="0">
                <a:moveTo>
                  <a:pt x="0" y="0"/>
                </a:moveTo>
                <a:lnTo>
                  <a:pt x="446522" y="0"/>
                </a:lnTo>
                <a:lnTo>
                  <a:pt x="446522" y="341792"/>
                </a:lnTo>
                <a:lnTo>
                  <a:pt x="0" y="3417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666297937" name="Group 3"/>
          <p:cNvGrpSpPr/>
          <p:nvPr/>
        </p:nvGrpSpPr>
        <p:grpSpPr bwMode="auto">
          <a:xfrm rot="0">
            <a:off x="4750557" y="5883557"/>
            <a:ext cx="3607557" cy="3793843"/>
            <a:chOff x="0" y="0"/>
            <a:chExt cx="950139" cy="99920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950139" cy="999201"/>
            </a:xfrm>
            <a:custGeom>
              <a:avLst/>
              <a:gdLst/>
              <a:ahLst/>
              <a:cxnLst/>
              <a:rect l="l" t="t" r="r" b="b"/>
              <a:pathLst>
                <a:path w="950139" h="999201" fill="norm" stroke="1" extrusionOk="0">
                  <a:moveTo>
                    <a:pt x="68673" y="0"/>
                  </a:moveTo>
                  <a:lnTo>
                    <a:pt x="881466" y="0"/>
                  </a:lnTo>
                  <a:cubicBezTo>
                    <a:pt x="899679" y="0"/>
                    <a:pt x="917146" y="7235"/>
                    <a:pt x="930025" y="20114"/>
                  </a:cubicBezTo>
                  <a:cubicBezTo>
                    <a:pt x="942903" y="32992"/>
                    <a:pt x="950139" y="50460"/>
                    <a:pt x="950139" y="68673"/>
                  </a:cubicBezTo>
                  <a:lnTo>
                    <a:pt x="950139" y="930528"/>
                  </a:lnTo>
                  <a:cubicBezTo>
                    <a:pt x="950139" y="948742"/>
                    <a:pt x="942903" y="966209"/>
                    <a:pt x="930025" y="979088"/>
                  </a:cubicBezTo>
                  <a:cubicBezTo>
                    <a:pt x="917146" y="991966"/>
                    <a:pt x="899679" y="999201"/>
                    <a:pt x="881466" y="999201"/>
                  </a:cubicBezTo>
                  <a:lnTo>
                    <a:pt x="68673" y="999201"/>
                  </a:lnTo>
                  <a:cubicBezTo>
                    <a:pt x="50460" y="999201"/>
                    <a:pt x="32992" y="991966"/>
                    <a:pt x="20114" y="979088"/>
                  </a:cubicBezTo>
                  <a:cubicBezTo>
                    <a:pt x="7235" y="966209"/>
                    <a:pt x="0" y="948742"/>
                    <a:pt x="0" y="930528"/>
                  </a:cubicBezTo>
                  <a:lnTo>
                    <a:pt x="0" y="68673"/>
                  </a:lnTo>
                  <a:cubicBezTo>
                    <a:pt x="0" y="50460"/>
                    <a:pt x="7235" y="32992"/>
                    <a:pt x="20114" y="20114"/>
                  </a:cubicBezTo>
                  <a:cubicBezTo>
                    <a:pt x="32992" y="7235"/>
                    <a:pt x="50460" y="0"/>
                    <a:pt x="68673" y="0"/>
                  </a:cubicBezTo>
                  <a:close/>
                </a:path>
              </a:pathLst>
            </a:custGeom>
            <a:solidFill>
              <a:srgbClr val="F5F5F5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0"/>
              <a:ext cx="950139" cy="99920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918558213" name="Group 6"/>
          <p:cNvGrpSpPr/>
          <p:nvPr/>
        </p:nvGrpSpPr>
        <p:grpSpPr bwMode="auto">
          <a:xfrm rot="0">
            <a:off x="8991600" y="1611118"/>
            <a:ext cx="8686800" cy="8066282"/>
            <a:chOff x="0" y="0"/>
            <a:chExt cx="2287881" cy="2124453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2287881" cy="2124453"/>
            </a:xfrm>
            <a:custGeom>
              <a:avLst/>
              <a:gdLst/>
              <a:ahLst/>
              <a:cxnLst/>
              <a:rect l="l" t="t" r="r" b="b"/>
              <a:pathLst>
                <a:path w="2287881" h="2124453" fill="norm" stroke="1" extrusionOk="0">
                  <a:moveTo>
                    <a:pt x="28519" y="0"/>
                  </a:moveTo>
                  <a:lnTo>
                    <a:pt x="2259362" y="0"/>
                  </a:lnTo>
                  <a:cubicBezTo>
                    <a:pt x="2275113" y="0"/>
                    <a:pt x="2287881" y="12769"/>
                    <a:pt x="2287881" y="28519"/>
                  </a:cubicBezTo>
                  <a:lnTo>
                    <a:pt x="2287881" y="2095934"/>
                  </a:lnTo>
                  <a:cubicBezTo>
                    <a:pt x="2287881" y="2111684"/>
                    <a:pt x="2275113" y="2124453"/>
                    <a:pt x="2259362" y="2124453"/>
                  </a:cubicBezTo>
                  <a:lnTo>
                    <a:pt x="28519" y="2124453"/>
                  </a:lnTo>
                  <a:cubicBezTo>
                    <a:pt x="12769" y="2124453"/>
                    <a:pt x="0" y="2111684"/>
                    <a:pt x="0" y="2095934"/>
                  </a:cubicBezTo>
                  <a:lnTo>
                    <a:pt x="0" y="28519"/>
                  </a:lnTo>
                  <a:cubicBezTo>
                    <a:pt x="0" y="12769"/>
                    <a:pt x="12769" y="0"/>
                    <a:pt x="28519" y="0"/>
                  </a:cubicBezTo>
                  <a:close/>
                </a:path>
              </a:pathLst>
            </a:custGeom>
            <a:solidFill>
              <a:srgbClr val="F5F5F5"/>
            </a:soli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0"/>
              <a:ext cx="2287881" cy="21244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823147659" name="Group 10"/>
          <p:cNvGrpSpPr/>
          <p:nvPr/>
        </p:nvGrpSpPr>
        <p:grpSpPr bwMode="auto">
          <a:xfrm rot="0">
            <a:off x="5257800" y="6449050"/>
            <a:ext cx="838200" cy="838200"/>
            <a:chOff x="0" y="0"/>
            <a:chExt cx="160553" cy="160553"/>
          </a:xfrm>
        </p:grpSpPr>
        <p:sp>
          <p:nvSpPr>
            <p:cNvPr id="11" name="Freeform 11"/>
            <p:cNvSpPr/>
            <p:nvPr/>
          </p:nvSpPr>
          <p:spPr bwMode="auto">
            <a:xfrm rot="0" flipH="0" flipV="0">
              <a:off x="0" y="0"/>
              <a:ext cx="160553" cy="160553"/>
            </a:xfrm>
            <a:custGeom>
              <a:avLst/>
              <a:gdLst/>
              <a:ahLst/>
              <a:cxnLst/>
              <a:rect l="l" t="t" r="r" b="b"/>
              <a:pathLst>
                <a:path w="160553" h="160553" fill="norm" stroke="1" extrusionOk="0">
                  <a:moveTo>
                    <a:pt x="80277" y="0"/>
                  </a:moveTo>
                  <a:lnTo>
                    <a:pt x="80277" y="0"/>
                  </a:lnTo>
                  <a:cubicBezTo>
                    <a:pt x="124612" y="0"/>
                    <a:pt x="160553" y="35941"/>
                    <a:pt x="160553" y="80277"/>
                  </a:cubicBezTo>
                  <a:lnTo>
                    <a:pt x="160553" y="80277"/>
                  </a:lnTo>
                  <a:cubicBezTo>
                    <a:pt x="160553" y="101567"/>
                    <a:pt x="152095" y="121986"/>
                    <a:pt x="137041" y="137041"/>
                  </a:cubicBezTo>
                  <a:cubicBezTo>
                    <a:pt x="121986" y="152095"/>
                    <a:pt x="101567" y="160553"/>
                    <a:pt x="80277" y="160553"/>
                  </a:cubicBezTo>
                  <a:lnTo>
                    <a:pt x="80277" y="160553"/>
                  </a:lnTo>
                  <a:cubicBezTo>
                    <a:pt x="58986" y="160553"/>
                    <a:pt x="38567" y="152095"/>
                    <a:pt x="23512" y="137041"/>
                  </a:cubicBezTo>
                  <a:cubicBezTo>
                    <a:pt x="8458" y="121986"/>
                    <a:pt x="0" y="101567"/>
                    <a:pt x="0" y="80277"/>
                  </a:cubicBezTo>
                  <a:lnTo>
                    <a:pt x="0" y="80277"/>
                  </a:lnTo>
                  <a:cubicBezTo>
                    <a:pt x="0" y="58986"/>
                    <a:pt x="8458" y="38567"/>
                    <a:pt x="23512" y="23512"/>
                  </a:cubicBezTo>
                  <a:cubicBezTo>
                    <a:pt x="38567" y="8458"/>
                    <a:pt x="58986" y="0"/>
                    <a:pt x="80277" y="0"/>
                  </a:cubicBezTo>
                  <a:close/>
                </a:path>
              </a:pathLst>
            </a:custGeom>
            <a:solidFill>
              <a:srgbClr val="FF5B37"/>
            </a:soli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 bwMode="auto">
            <a:xfrm>
              <a:off x="0" y="-38100"/>
              <a:ext cx="160553" cy="1986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sp>
        <p:nvSpPr>
          <p:cNvPr id="1242526204" name="Freeform 13"/>
          <p:cNvSpPr/>
          <p:nvPr/>
        </p:nvSpPr>
        <p:spPr bwMode="auto">
          <a:xfrm rot="0" flipH="0" flipV="0">
            <a:off x="5454950" y="6639550"/>
            <a:ext cx="443900" cy="457200"/>
          </a:xfrm>
          <a:custGeom>
            <a:avLst/>
            <a:gdLst/>
            <a:ahLst/>
            <a:cxnLst/>
            <a:rect l="l" t="t" r="r" b="b"/>
            <a:pathLst>
              <a:path w="443900" h="457200" fill="norm" stroke="1" extrusionOk="0">
                <a:moveTo>
                  <a:pt x="0" y="0"/>
                </a:moveTo>
                <a:lnTo>
                  <a:pt x="443900" y="0"/>
                </a:lnTo>
                <a:lnTo>
                  <a:pt x="4439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grpSp>
        <p:nvGrpSpPr>
          <p:cNvPr id="984954376" name="Group 14"/>
          <p:cNvGrpSpPr/>
          <p:nvPr/>
        </p:nvGrpSpPr>
        <p:grpSpPr bwMode="auto">
          <a:xfrm rot="0">
            <a:off x="609600" y="5883557"/>
            <a:ext cx="3607557" cy="3793843"/>
            <a:chOff x="0" y="0"/>
            <a:chExt cx="950139" cy="999201"/>
          </a:xfrm>
        </p:grpSpPr>
        <p:sp>
          <p:nvSpPr>
            <p:cNvPr id="15" name="Freeform 15"/>
            <p:cNvSpPr/>
            <p:nvPr/>
          </p:nvSpPr>
          <p:spPr bwMode="auto">
            <a:xfrm rot="0" flipH="0" flipV="0">
              <a:off x="0" y="0"/>
              <a:ext cx="950139" cy="999201"/>
            </a:xfrm>
            <a:custGeom>
              <a:avLst/>
              <a:gdLst/>
              <a:ahLst/>
              <a:cxnLst/>
              <a:rect l="l" t="t" r="r" b="b"/>
              <a:pathLst>
                <a:path w="950139" h="999201" fill="norm" stroke="1" extrusionOk="0">
                  <a:moveTo>
                    <a:pt x="68673" y="0"/>
                  </a:moveTo>
                  <a:lnTo>
                    <a:pt x="881466" y="0"/>
                  </a:lnTo>
                  <a:cubicBezTo>
                    <a:pt x="899679" y="0"/>
                    <a:pt x="917146" y="7235"/>
                    <a:pt x="930025" y="20114"/>
                  </a:cubicBezTo>
                  <a:cubicBezTo>
                    <a:pt x="942903" y="32992"/>
                    <a:pt x="950139" y="50460"/>
                    <a:pt x="950139" y="68673"/>
                  </a:cubicBezTo>
                  <a:lnTo>
                    <a:pt x="950139" y="930528"/>
                  </a:lnTo>
                  <a:cubicBezTo>
                    <a:pt x="950139" y="948742"/>
                    <a:pt x="942903" y="966209"/>
                    <a:pt x="930025" y="979088"/>
                  </a:cubicBezTo>
                  <a:cubicBezTo>
                    <a:pt x="917146" y="991966"/>
                    <a:pt x="899679" y="999201"/>
                    <a:pt x="881466" y="999201"/>
                  </a:cubicBezTo>
                  <a:lnTo>
                    <a:pt x="68673" y="999201"/>
                  </a:lnTo>
                  <a:cubicBezTo>
                    <a:pt x="50460" y="999201"/>
                    <a:pt x="32992" y="991966"/>
                    <a:pt x="20114" y="979088"/>
                  </a:cubicBezTo>
                  <a:cubicBezTo>
                    <a:pt x="7235" y="966209"/>
                    <a:pt x="0" y="948742"/>
                    <a:pt x="0" y="930528"/>
                  </a:cubicBezTo>
                  <a:lnTo>
                    <a:pt x="0" y="68673"/>
                  </a:lnTo>
                  <a:cubicBezTo>
                    <a:pt x="0" y="50460"/>
                    <a:pt x="7235" y="32992"/>
                    <a:pt x="20114" y="20114"/>
                  </a:cubicBezTo>
                  <a:cubicBezTo>
                    <a:pt x="32992" y="7235"/>
                    <a:pt x="50460" y="0"/>
                    <a:pt x="68673" y="0"/>
                  </a:cubicBezTo>
                  <a:close/>
                </a:path>
              </a:pathLst>
            </a:custGeom>
            <a:solidFill>
              <a:srgbClr val="F5F5F5"/>
            </a:solidFill>
            <a:ln cap="rnd">
              <a:noFill/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 bwMode="auto">
            <a:xfrm>
              <a:off x="0" y="0"/>
              <a:ext cx="950139" cy="99920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36002797" name="Group 17"/>
          <p:cNvGrpSpPr/>
          <p:nvPr/>
        </p:nvGrpSpPr>
        <p:grpSpPr bwMode="auto">
          <a:xfrm rot="0">
            <a:off x="1116843" y="6449050"/>
            <a:ext cx="838200" cy="838200"/>
            <a:chOff x="0" y="0"/>
            <a:chExt cx="160553" cy="160553"/>
          </a:xfrm>
        </p:grpSpPr>
        <p:sp>
          <p:nvSpPr>
            <p:cNvPr id="18" name="Freeform 18"/>
            <p:cNvSpPr/>
            <p:nvPr/>
          </p:nvSpPr>
          <p:spPr bwMode="auto">
            <a:xfrm rot="0" flipH="0" flipV="0">
              <a:off x="0" y="0"/>
              <a:ext cx="160553" cy="160553"/>
            </a:xfrm>
            <a:custGeom>
              <a:avLst/>
              <a:gdLst/>
              <a:ahLst/>
              <a:cxnLst/>
              <a:rect l="l" t="t" r="r" b="b"/>
              <a:pathLst>
                <a:path w="160553" h="160553" fill="norm" stroke="1" extrusionOk="0">
                  <a:moveTo>
                    <a:pt x="80277" y="0"/>
                  </a:moveTo>
                  <a:lnTo>
                    <a:pt x="80277" y="0"/>
                  </a:lnTo>
                  <a:cubicBezTo>
                    <a:pt x="124612" y="0"/>
                    <a:pt x="160553" y="35941"/>
                    <a:pt x="160553" y="80277"/>
                  </a:cubicBezTo>
                  <a:lnTo>
                    <a:pt x="160553" y="80277"/>
                  </a:lnTo>
                  <a:cubicBezTo>
                    <a:pt x="160553" y="101567"/>
                    <a:pt x="152095" y="121986"/>
                    <a:pt x="137041" y="137041"/>
                  </a:cubicBezTo>
                  <a:cubicBezTo>
                    <a:pt x="121986" y="152095"/>
                    <a:pt x="101567" y="160553"/>
                    <a:pt x="80277" y="160553"/>
                  </a:cubicBezTo>
                  <a:lnTo>
                    <a:pt x="80277" y="160553"/>
                  </a:lnTo>
                  <a:cubicBezTo>
                    <a:pt x="58986" y="160553"/>
                    <a:pt x="38567" y="152095"/>
                    <a:pt x="23512" y="137041"/>
                  </a:cubicBezTo>
                  <a:cubicBezTo>
                    <a:pt x="8458" y="121986"/>
                    <a:pt x="0" y="101567"/>
                    <a:pt x="0" y="80277"/>
                  </a:cubicBezTo>
                  <a:lnTo>
                    <a:pt x="0" y="80277"/>
                  </a:lnTo>
                  <a:cubicBezTo>
                    <a:pt x="0" y="58986"/>
                    <a:pt x="8458" y="38567"/>
                    <a:pt x="23512" y="23512"/>
                  </a:cubicBezTo>
                  <a:cubicBezTo>
                    <a:pt x="38567" y="8458"/>
                    <a:pt x="58986" y="0"/>
                    <a:pt x="80277" y="0"/>
                  </a:cubicBezTo>
                  <a:close/>
                </a:path>
              </a:pathLst>
            </a:custGeom>
            <a:solidFill>
              <a:srgbClr val="FF5B37"/>
            </a:solidFill>
            <a:ln cap="rnd">
              <a:noFill/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 bwMode="auto">
            <a:xfrm>
              <a:off x="0" y="-38100"/>
              <a:ext cx="160553" cy="1986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sp>
        <p:nvSpPr>
          <p:cNvPr id="1223962852" name="Freeform 20"/>
          <p:cNvSpPr/>
          <p:nvPr/>
        </p:nvSpPr>
        <p:spPr bwMode="auto">
          <a:xfrm rot="0" flipH="0" flipV="0">
            <a:off x="1307343" y="66395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fill="norm" stroke="1" extrusionOk="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39723669" name="TextBox 21"/>
          <p:cNvSpPr txBox="1"/>
          <p:nvPr/>
        </p:nvSpPr>
        <p:spPr bwMode="auto">
          <a:xfrm rot="0">
            <a:off x="1117979" y="8259727"/>
            <a:ext cx="2590800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20"/>
              </a:lnSpc>
              <a:defRPr/>
            </a:pPr>
            <a:r>
              <a:rPr sz="5600" b="1">
                <a:solidFill>
                  <a:srgbClr val="FF5B37"/>
                </a:solidFill>
              </a:rPr>
              <a:t>20+</a:t>
            </a:r>
            <a:endParaRPr/>
          </a:p>
        </p:txBody>
      </p:sp>
      <p:sp>
        <p:nvSpPr>
          <p:cNvPr id="1993425641" name="TextBox 22"/>
          <p:cNvSpPr txBox="1"/>
          <p:nvPr/>
        </p:nvSpPr>
        <p:spPr bwMode="auto">
          <a:xfrm rot="0">
            <a:off x="5257800" y="7732854"/>
            <a:ext cx="2591936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ts val="0"/>
              </a:spcBef>
              <a:defRPr/>
            </a:pPr>
            <a:r>
              <a:rPr sz="1200">
                <a:solidFill>
                  <a:srgbClr val="555555"/>
                </a:solidFill>
              </a:rPr>
              <a:t>User Rating (internal)</a:t>
            </a:r>
            <a:endParaRPr/>
          </a:p>
        </p:txBody>
      </p:sp>
      <p:sp>
        <p:nvSpPr>
          <p:cNvPr id="128265855" name="TextBox 23"/>
          <p:cNvSpPr txBox="1"/>
          <p:nvPr/>
        </p:nvSpPr>
        <p:spPr bwMode="auto">
          <a:xfrm rot="0">
            <a:off x="1195748" y="613808"/>
            <a:ext cx="1391384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  <a:spcBef>
                <a:spcPts val="0"/>
              </a:spcBef>
              <a:defRPr/>
            </a:pPr>
            <a:r>
              <a:rPr sz="1400" b="1">
                <a:solidFill>
                  <a:srgbClr val="000000"/>
                </a:solidFill>
              </a:rPr>
              <a:t>DailyUtility</a:t>
            </a:r>
            <a:endParaRPr/>
          </a:p>
        </p:txBody>
      </p:sp>
      <p:sp>
        <p:nvSpPr>
          <p:cNvPr id="653193080" name="TextBox 24"/>
          <p:cNvSpPr txBox="1"/>
          <p:nvPr/>
        </p:nvSpPr>
        <p:spPr bwMode="auto">
          <a:xfrm rot="0">
            <a:off x="1117979" y="2181065"/>
            <a:ext cx="6731757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79"/>
              </a:lnSpc>
              <a:defRPr/>
            </a:pPr>
            <a:r>
              <a:rPr sz="4000" b="1">
                <a:solidFill>
                  <a:srgbClr val="000000"/>
                </a:solidFill>
              </a:rPr>
              <a:t>Traction &amp; Status</a:t>
            </a:r>
            <a:endParaRPr/>
          </a:p>
        </p:txBody>
      </p:sp>
      <p:sp>
        <p:nvSpPr>
          <p:cNvPr id="2087784895" name="TextBox 25"/>
          <p:cNvSpPr txBox="1"/>
          <p:nvPr/>
        </p:nvSpPr>
        <p:spPr bwMode="auto">
          <a:xfrm rot="0">
            <a:off x="5258936" y="8259727"/>
            <a:ext cx="2590800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20"/>
              </a:lnSpc>
              <a:defRPr/>
            </a:pPr>
            <a:r>
              <a:rPr sz="3600" b="1">
                <a:solidFill>
                  <a:srgbClr val="FF5B37"/>
                </a:solidFill>
              </a:rPr>
              <a:t>100% Offline</a:t>
            </a:r>
            <a:endParaRPr/>
          </a:p>
        </p:txBody>
      </p:sp>
      <p:sp>
        <p:nvSpPr>
          <p:cNvPr id="1344917559" name="TextBox 26"/>
          <p:cNvSpPr txBox="1"/>
          <p:nvPr/>
        </p:nvSpPr>
        <p:spPr bwMode="auto">
          <a:xfrm rot="0">
            <a:off x="1116843" y="7732854"/>
            <a:ext cx="2591936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ts val="0"/>
              </a:spcBef>
              <a:defRPr/>
            </a:pPr>
            <a:r>
              <a:rPr sz="1200">
                <a:solidFill>
                  <a:srgbClr val="555555"/>
                </a:solidFill>
              </a:rPr>
              <a:t>Personal Data Coverage</a:t>
            </a:r>
            <a:endParaRPr/>
          </a:p>
        </p:txBody>
      </p:sp>
      <p:sp>
        <p:nvSpPr>
          <p:cNvPr id="494320083" name="TextBox 27"/>
          <p:cNvSpPr txBox="1"/>
          <p:nvPr/>
        </p:nvSpPr>
        <p:spPr bwMode="auto">
          <a:xfrm rot="0">
            <a:off x="1117979" y="3541506"/>
            <a:ext cx="6732893" cy="140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defRPr/>
            </a:pPr>
            <a:r>
              <a:rPr sz="1400">
                <a:solidFill>
                  <a:srgbClr val="1F1F1F"/>
                </a:solidFill>
              </a:rPr>
              <a:t>Every personal feature — tasks, notes, finance, baki, loans, subscriptions, habits, mood, vault, shopping, calculator history — works with the airplane mode on.</a:t>
            </a:r>
            <a:endParaRPr/>
          </a:p>
        </p:txBody>
      </p:sp>
      <p:pic>
        <p:nvPicPr>
          <p:cNvPr id="1985826031" name="Picture 27" descr="Screenshot_20260927_063438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8988552" y="1609344"/>
            <a:ext cx="2834640" cy="3931920"/>
          </a:xfrm>
          <a:prstGeom prst="rect">
            <a:avLst/>
          </a:prstGeom>
        </p:spPr>
      </p:pic>
      <p:pic>
        <p:nvPicPr>
          <p:cNvPr id="248999292" name="Picture 28" descr="Screenshot_20260927_064642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11914632" y="1609344"/>
            <a:ext cx="2834640" cy="3931920"/>
          </a:xfrm>
          <a:prstGeom prst="rect">
            <a:avLst/>
          </a:prstGeom>
        </p:spPr>
      </p:pic>
      <p:pic>
        <p:nvPicPr>
          <p:cNvPr id="1149114258" name="Picture 29" descr="Screenshot_20260927_064606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14840712" y="1609344"/>
            <a:ext cx="2834640" cy="3931920"/>
          </a:xfrm>
          <a:prstGeom prst="rect">
            <a:avLst/>
          </a:prstGeom>
        </p:spPr>
      </p:pic>
      <p:pic>
        <p:nvPicPr>
          <p:cNvPr id="737832781" name="Picture 30" descr="Screenshot_20260927_064404.png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8988552" y="5724144"/>
            <a:ext cx="2834640" cy="3931920"/>
          </a:xfrm>
          <a:prstGeom prst="rect">
            <a:avLst/>
          </a:prstGeom>
        </p:spPr>
      </p:pic>
      <p:pic>
        <p:nvPicPr>
          <p:cNvPr id="1381543548" name="Picture 31" descr="Screenshot_20260927_064418.png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11914632" y="5724144"/>
            <a:ext cx="2834640" cy="3931920"/>
          </a:xfrm>
          <a:prstGeom prst="rect">
            <a:avLst/>
          </a:prstGeom>
        </p:spPr>
      </p:pic>
      <p:pic>
        <p:nvPicPr>
          <p:cNvPr id="496890510" name="Picture 32" descr="Screenshot_20260927_064450.png"/>
          <p:cNvPicPr>
            <a:picLocks noChangeAspect="1"/>
          </p:cNvPicPr>
          <p:nvPr/>
        </p:nvPicPr>
        <p:blipFill rotWithShape="1">
          <a:blip r:embed="rId12"/>
          <a:stretch/>
        </p:blipFill>
        <p:spPr bwMode="auto">
          <a:xfrm>
            <a:off x="14840712" y="5724144"/>
            <a:ext cx="2834640" cy="3931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DFDF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5759717" name="Freeform 2"/>
          <p:cNvSpPr/>
          <p:nvPr/>
        </p:nvSpPr>
        <p:spPr bwMode="auto">
          <a:xfrm rot="0" flipH="0" flipV="0">
            <a:off x="609600" y="609600"/>
            <a:ext cx="446522" cy="341792"/>
          </a:xfrm>
          <a:custGeom>
            <a:avLst/>
            <a:gdLst/>
            <a:ahLst/>
            <a:cxnLst/>
            <a:rect l="l" t="t" r="r" b="b"/>
            <a:pathLst>
              <a:path w="446522" h="341792" fill="norm" stroke="1" extrusionOk="0">
                <a:moveTo>
                  <a:pt x="0" y="0"/>
                </a:moveTo>
                <a:lnTo>
                  <a:pt x="446522" y="0"/>
                </a:lnTo>
                <a:lnTo>
                  <a:pt x="446522" y="341792"/>
                </a:lnTo>
                <a:lnTo>
                  <a:pt x="0" y="3417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304378299" name="Group 3"/>
          <p:cNvGrpSpPr/>
          <p:nvPr/>
        </p:nvGrpSpPr>
        <p:grpSpPr bwMode="auto">
          <a:xfrm rot="0">
            <a:off x="5916706" y="7255226"/>
            <a:ext cx="3564255" cy="2422174"/>
            <a:chOff x="0" y="0"/>
            <a:chExt cx="938734" cy="637939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938734" cy="637939"/>
            </a:xfrm>
            <a:custGeom>
              <a:avLst/>
              <a:gdLst/>
              <a:ahLst/>
              <a:cxnLst/>
              <a:rect l="l" t="t" r="r" b="b"/>
              <a:pathLst>
                <a:path w="938734" h="637939" fill="norm" stroke="1" extrusionOk="0">
                  <a:moveTo>
                    <a:pt x="69507" y="0"/>
                  </a:moveTo>
                  <a:lnTo>
                    <a:pt x="869227" y="0"/>
                  </a:lnTo>
                  <a:cubicBezTo>
                    <a:pt x="907614" y="0"/>
                    <a:pt x="938734" y="31119"/>
                    <a:pt x="938734" y="69507"/>
                  </a:cubicBezTo>
                  <a:lnTo>
                    <a:pt x="938734" y="568432"/>
                  </a:lnTo>
                  <a:cubicBezTo>
                    <a:pt x="938734" y="606820"/>
                    <a:pt x="907614" y="637939"/>
                    <a:pt x="869227" y="637939"/>
                  </a:cubicBezTo>
                  <a:lnTo>
                    <a:pt x="69507" y="637939"/>
                  </a:lnTo>
                  <a:cubicBezTo>
                    <a:pt x="31119" y="637939"/>
                    <a:pt x="0" y="606820"/>
                    <a:pt x="0" y="568432"/>
                  </a:cubicBezTo>
                  <a:lnTo>
                    <a:pt x="0" y="69507"/>
                  </a:lnTo>
                  <a:cubicBezTo>
                    <a:pt x="0" y="31119"/>
                    <a:pt x="31119" y="0"/>
                    <a:pt x="69507" y="0"/>
                  </a:cubicBezTo>
                  <a:close/>
                </a:path>
              </a:pathLst>
            </a:custGeom>
            <a:solidFill>
              <a:srgbClr val="F5F5F5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0"/>
              <a:ext cx="938734" cy="63793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1192167001" name="Group 6"/>
          <p:cNvGrpSpPr/>
          <p:nvPr/>
        </p:nvGrpSpPr>
        <p:grpSpPr bwMode="auto">
          <a:xfrm rot="0">
            <a:off x="5916706" y="1611118"/>
            <a:ext cx="3564255" cy="5344567"/>
            <a:chOff x="0" y="0"/>
            <a:chExt cx="552196" cy="828013"/>
          </a:xfrm>
        </p:grpSpPr>
        <p:sp>
          <p:nvSpPr>
            <p:cNvPr id="7" name="Freeform 7"/>
            <p:cNvSpPr/>
            <p:nvPr/>
          </p:nvSpPr>
          <p:spPr bwMode="auto">
            <a:xfrm rot="394668" flipH="0" flipV="0">
              <a:off x="-38110" y="-21403"/>
              <a:ext cx="628416" cy="870822"/>
            </a:xfrm>
            <a:custGeom>
              <a:avLst/>
              <a:gdLst/>
              <a:ahLst/>
              <a:cxnLst/>
              <a:rect l="l" t="t" r="r" b="b"/>
              <a:pathLst>
                <a:path w="628416" h="870822" fill="norm" stroke="1" extrusionOk="0">
                  <a:moveTo>
                    <a:pt x="61552" y="47795"/>
                  </a:moveTo>
                  <a:lnTo>
                    <a:pt x="472014" y="464"/>
                  </a:lnTo>
                  <a:cubicBezTo>
                    <a:pt x="510149" y="-3934"/>
                    <a:pt x="544628" y="23416"/>
                    <a:pt x="549026" y="61551"/>
                  </a:cubicBezTo>
                  <a:lnTo>
                    <a:pt x="627952" y="746015"/>
                  </a:lnTo>
                  <a:cubicBezTo>
                    <a:pt x="632350" y="784150"/>
                    <a:pt x="605000" y="818629"/>
                    <a:pt x="566865" y="823026"/>
                  </a:cubicBezTo>
                  <a:lnTo>
                    <a:pt x="156403" y="870357"/>
                  </a:lnTo>
                  <a:cubicBezTo>
                    <a:pt x="118268" y="874755"/>
                    <a:pt x="83788" y="847405"/>
                    <a:pt x="79391" y="809270"/>
                  </a:cubicBezTo>
                  <a:lnTo>
                    <a:pt x="464" y="124807"/>
                  </a:lnTo>
                  <a:cubicBezTo>
                    <a:pt x="-3933" y="86672"/>
                    <a:pt x="23417" y="52192"/>
                    <a:pt x="61552" y="47795"/>
                  </a:cubicBezTo>
                  <a:close/>
                </a:path>
              </a:pathLst>
            </a:custGeom>
            <a:blipFill rotWithShape="1">
              <a:blip r:embed="rId4"/>
              <a:stretch>
                <a:fillRect l="-8486" t="-861" r="-13387" b="-31144"/>
              </a:stretch>
            </a:blipFill>
          </p:spPr>
        </p:sp>
      </p:grpSp>
      <p:sp>
        <p:nvSpPr>
          <p:cNvPr id="1916267430" name="AutoShape 8"/>
          <p:cNvSpPr/>
          <p:nvPr/>
        </p:nvSpPr>
        <p:spPr bwMode="auto">
          <a:xfrm flipV="1">
            <a:off x="7036566" y="8692539"/>
            <a:ext cx="1324535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34717051" name="Group 9"/>
          <p:cNvGrpSpPr/>
          <p:nvPr/>
        </p:nvGrpSpPr>
        <p:grpSpPr bwMode="auto">
          <a:xfrm rot="0">
            <a:off x="14114145" y="7255226"/>
            <a:ext cx="3564255" cy="2422174"/>
            <a:chOff x="0" y="0"/>
            <a:chExt cx="938734" cy="637939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938734" cy="637939"/>
            </a:xfrm>
            <a:custGeom>
              <a:avLst/>
              <a:gdLst/>
              <a:ahLst/>
              <a:cxnLst/>
              <a:rect l="l" t="t" r="r" b="b"/>
              <a:pathLst>
                <a:path w="938734" h="637939" fill="norm" stroke="1" extrusionOk="0">
                  <a:moveTo>
                    <a:pt x="69507" y="0"/>
                  </a:moveTo>
                  <a:lnTo>
                    <a:pt x="869227" y="0"/>
                  </a:lnTo>
                  <a:cubicBezTo>
                    <a:pt x="907614" y="0"/>
                    <a:pt x="938734" y="31119"/>
                    <a:pt x="938734" y="69507"/>
                  </a:cubicBezTo>
                  <a:lnTo>
                    <a:pt x="938734" y="568432"/>
                  </a:lnTo>
                  <a:cubicBezTo>
                    <a:pt x="938734" y="606820"/>
                    <a:pt x="907614" y="637939"/>
                    <a:pt x="869227" y="637939"/>
                  </a:cubicBezTo>
                  <a:lnTo>
                    <a:pt x="69507" y="637939"/>
                  </a:lnTo>
                  <a:cubicBezTo>
                    <a:pt x="31119" y="637939"/>
                    <a:pt x="0" y="606820"/>
                    <a:pt x="0" y="568432"/>
                  </a:cubicBezTo>
                  <a:lnTo>
                    <a:pt x="0" y="69507"/>
                  </a:lnTo>
                  <a:cubicBezTo>
                    <a:pt x="0" y="31119"/>
                    <a:pt x="31119" y="0"/>
                    <a:pt x="69507" y="0"/>
                  </a:cubicBezTo>
                  <a:close/>
                </a:path>
              </a:pathLst>
            </a:custGeom>
            <a:solidFill>
              <a:srgbClr val="F5F5F5"/>
            </a:solidFill>
            <a:ln cap="rnd">
              <a:noFill/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0"/>
              <a:ext cx="938734" cy="63793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1916382025" name="Group 12"/>
          <p:cNvGrpSpPr/>
          <p:nvPr/>
        </p:nvGrpSpPr>
        <p:grpSpPr bwMode="auto">
          <a:xfrm rot="0">
            <a:off x="14114145" y="1611118"/>
            <a:ext cx="3564255" cy="5344567"/>
            <a:chOff x="0" y="0"/>
            <a:chExt cx="552196" cy="828013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552196" cy="828013"/>
            </a:xfrm>
            <a:custGeom>
              <a:avLst/>
              <a:gdLst/>
              <a:ahLst/>
              <a:cxnLst/>
              <a:rect l="l" t="t" r="r" b="b"/>
              <a:pathLst>
                <a:path w="552196" h="828013" fill="norm" stroke="1" extrusionOk="0">
                  <a:moveTo>
                    <a:pt x="69507" y="0"/>
                  </a:moveTo>
                  <a:lnTo>
                    <a:pt x="482689" y="0"/>
                  </a:lnTo>
                  <a:cubicBezTo>
                    <a:pt x="521077" y="0"/>
                    <a:pt x="552196" y="31119"/>
                    <a:pt x="552196" y="69507"/>
                  </a:cubicBezTo>
                  <a:lnTo>
                    <a:pt x="552196" y="758506"/>
                  </a:lnTo>
                  <a:cubicBezTo>
                    <a:pt x="552196" y="796894"/>
                    <a:pt x="521077" y="828013"/>
                    <a:pt x="482689" y="828013"/>
                  </a:cubicBezTo>
                  <a:lnTo>
                    <a:pt x="69507" y="828013"/>
                  </a:lnTo>
                  <a:cubicBezTo>
                    <a:pt x="31119" y="828013"/>
                    <a:pt x="0" y="796894"/>
                    <a:pt x="0" y="758506"/>
                  </a:cubicBezTo>
                  <a:lnTo>
                    <a:pt x="0" y="69507"/>
                  </a:lnTo>
                  <a:cubicBezTo>
                    <a:pt x="0" y="31119"/>
                    <a:pt x="31119" y="0"/>
                    <a:pt x="69507" y="0"/>
                  </a:cubicBezTo>
                  <a:close/>
                </a:path>
              </a:pathLst>
            </a:custGeom>
            <a:blipFill rotWithShape="1">
              <a:blip r:embed="rId5"/>
              <a:stretch>
                <a:fillRect l="-15521" t="-13815" r="-23367" b="-25206"/>
              </a:stretch>
            </a:blipFill>
          </p:spPr>
        </p:sp>
      </p:grpSp>
      <p:sp>
        <p:nvSpPr>
          <p:cNvPr id="1951584937" name="AutoShape 14"/>
          <p:cNvSpPr/>
          <p:nvPr/>
        </p:nvSpPr>
        <p:spPr bwMode="auto">
          <a:xfrm>
            <a:off x="15234005" y="8692539"/>
            <a:ext cx="1324535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20165990" name="Group 15"/>
          <p:cNvGrpSpPr/>
          <p:nvPr/>
        </p:nvGrpSpPr>
        <p:grpSpPr bwMode="auto">
          <a:xfrm rot="0">
            <a:off x="10244222" y="7255226"/>
            <a:ext cx="3564255" cy="2422174"/>
            <a:chOff x="0" y="0"/>
            <a:chExt cx="938734" cy="637939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938734" cy="637939"/>
            </a:xfrm>
            <a:custGeom>
              <a:avLst/>
              <a:gdLst/>
              <a:ahLst/>
              <a:cxnLst/>
              <a:rect l="l" t="t" r="r" b="b"/>
              <a:pathLst>
                <a:path w="938734" h="637939" fill="norm" stroke="1" extrusionOk="0">
                  <a:moveTo>
                    <a:pt x="69507" y="0"/>
                  </a:moveTo>
                  <a:lnTo>
                    <a:pt x="869227" y="0"/>
                  </a:lnTo>
                  <a:cubicBezTo>
                    <a:pt x="907614" y="0"/>
                    <a:pt x="938734" y="31119"/>
                    <a:pt x="938734" y="69507"/>
                  </a:cubicBezTo>
                  <a:lnTo>
                    <a:pt x="938734" y="568432"/>
                  </a:lnTo>
                  <a:cubicBezTo>
                    <a:pt x="938734" y="606820"/>
                    <a:pt x="907614" y="637939"/>
                    <a:pt x="869227" y="637939"/>
                  </a:cubicBezTo>
                  <a:lnTo>
                    <a:pt x="69507" y="637939"/>
                  </a:lnTo>
                  <a:cubicBezTo>
                    <a:pt x="31119" y="637939"/>
                    <a:pt x="0" y="606820"/>
                    <a:pt x="0" y="568432"/>
                  </a:cubicBezTo>
                  <a:lnTo>
                    <a:pt x="0" y="69507"/>
                  </a:lnTo>
                  <a:cubicBezTo>
                    <a:pt x="0" y="31119"/>
                    <a:pt x="31119" y="0"/>
                    <a:pt x="69507" y="0"/>
                  </a:cubicBezTo>
                  <a:close/>
                </a:path>
              </a:pathLst>
            </a:custGeom>
            <a:solidFill>
              <a:srgbClr val="F5F5F5"/>
            </a:solidFill>
            <a:ln cap="rnd">
              <a:noFill/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 bwMode="auto">
            <a:xfrm>
              <a:off x="0" y="0"/>
              <a:ext cx="938734" cy="63793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665760755" name="Group 18"/>
          <p:cNvGrpSpPr/>
          <p:nvPr/>
        </p:nvGrpSpPr>
        <p:grpSpPr bwMode="auto">
          <a:xfrm rot="0">
            <a:off x="10244222" y="1611118"/>
            <a:ext cx="3564255" cy="5344567"/>
            <a:chOff x="0" y="0"/>
            <a:chExt cx="552196" cy="828013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552196" cy="828013"/>
            </a:xfrm>
            <a:custGeom>
              <a:avLst/>
              <a:gdLst/>
              <a:ahLst/>
              <a:cxnLst/>
              <a:rect l="l" t="t" r="r" b="b"/>
              <a:pathLst>
                <a:path w="552196" h="828013" fill="norm" stroke="1" extrusionOk="0">
                  <a:moveTo>
                    <a:pt x="69507" y="0"/>
                  </a:moveTo>
                  <a:lnTo>
                    <a:pt x="482689" y="0"/>
                  </a:lnTo>
                  <a:cubicBezTo>
                    <a:pt x="521077" y="0"/>
                    <a:pt x="552196" y="31119"/>
                    <a:pt x="552196" y="69507"/>
                  </a:cubicBezTo>
                  <a:lnTo>
                    <a:pt x="552196" y="758506"/>
                  </a:lnTo>
                  <a:cubicBezTo>
                    <a:pt x="552196" y="796894"/>
                    <a:pt x="521077" y="828013"/>
                    <a:pt x="482689" y="828013"/>
                  </a:cubicBezTo>
                  <a:lnTo>
                    <a:pt x="69507" y="828013"/>
                  </a:lnTo>
                  <a:cubicBezTo>
                    <a:pt x="31119" y="828013"/>
                    <a:pt x="0" y="796894"/>
                    <a:pt x="0" y="758506"/>
                  </a:cubicBezTo>
                  <a:lnTo>
                    <a:pt x="0" y="69507"/>
                  </a:lnTo>
                  <a:cubicBezTo>
                    <a:pt x="0" y="31119"/>
                    <a:pt x="31119" y="0"/>
                    <a:pt x="69507" y="0"/>
                  </a:cubicBezTo>
                  <a:close/>
                </a:path>
              </a:pathLst>
            </a:custGeom>
            <a:blipFill rotWithShape="1">
              <a:blip r:embed="rId6"/>
              <a:stretch>
                <a:fillRect l="-15074" t="-12199" r="-19722" b="-22727"/>
              </a:stretch>
            </a:blipFill>
          </p:spPr>
        </p:sp>
      </p:grpSp>
      <p:sp>
        <p:nvSpPr>
          <p:cNvPr id="1793038730" name="AutoShape 20"/>
          <p:cNvSpPr/>
          <p:nvPr/>
        </p:nvSpPr>
        <p:spPr bwMode="auto">
          <a:xfrm>
            <a:off x="11364081" y="8692539"/>
            <a:ext cx="1324535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85157112" name="TextBox 21"/>
          <p:cNvSpPr txBox="1"/>
          <p:nvPr/>
        </p:nvSpPr>
        <p:spPr bwMode="auto">
          <a:xfrm rot="0">
            <a:off x="1195748" y="613808"/>
            <a:ext cx="1391384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  <a:spcBef>
                <a:spcPts val="0"/>
              </a:spcBef>
              <a:defRPr/>
            </a:pPr>
            <a:r>
              <a:rPr sz="1400" b="1">
                <a:solidFill>
                  <a:srgbClr val="000000"/>
                </a:solidFill>
              </a:rPr>
              <a:t>DailyUtility</a:t>
            </a:r>
            <a:endParaRPr/>
          </a:p>
        </p:txBody>
      </p:sp>
      <p:sp>
        <p:nvSpPr>
          <p:cNvPr id="1196096645" name="TextBox 22"/>
          <p:cNvSpPr txBox="1"/>
          <p:nvPr/>
        </p:nvSpPr>
        <p:spPr bwMode="auto">
          <a:xfrm rot="0">
            <a:off x="609600" y="2340301"/>
            <a:ext cx="4343400" cy="2914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79"/>
              </a:lnSpc>
              <a:defRPr/>
            </a:pPr>
            <a:r>
              <a:rPr sz="4000" b="1">
                <a:solidFill>
                  <a:srgbClr val="000000"/>
                </a:solidFill>
              </a:rPr>
              <a:t>Built Solo,</a:t>
            </a:r>
            <a:br>
              <a:rPr sz="4000" b="1">
                <a:solidFill>
                  <a:srgbClr val="000000"/>
                </a:solidFill>
              </a:rPr>
            </a:br>
            <a:r>
              <a:rPr sz="4000" b="1">
                <a:solidFill>
                  <a:srgbClr val="000000"/>
                </a:solidFill>
              </a:rPr>
              <a:t>End-to-End</a:t>
            </a:r>
            <a:endParaRPr/>
          </a:p>
        </p:txBody>
      </p:sp>
      <p:sp>
        <p:nvSpPr>
          <p:cNvPr id="253330734" name="TextBox 23"/>
          <p:cNvSpPr txBox="1"/>
          <p:nvPr/>
        </p:nvSpPr>
        <p:spPr bwMode="auto">
          <a:xfrm rot="0">
            <a:off x="6374298" y="7668431"/>
            <a:ext cx="2649071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  <a:defRPr/>
            </a:pPr>
            <a:r>
              <a:rPr sz="1400" b="1">
                <a:solidFill>
                  <a:srgbClr val="000000"/>
                </a:solidFill>
              </a:rPr>
              <a:t>Nazmul</a:t>
            </a:r>
            <a:endParaRPr/>
          </a:p>
        </p:txBody>
      </p:sp>
      <p:sp>
        <p:nvSpPr>
          <p:cNvPr id="1266183043" name="TextBox 24"/>
          <p:cNvSpPr txBox="1"/>
          <p:nvPr/>
        </p:nvSpPr>
        <p:spPr bwMode="auto">
          <a:xfrm rot="0">
            <a:off x="6374298" y="8076590"/>
            <a:ext cx="2649071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ts val="0"/>
              </a:spcBef>
              <a:defRPr/>
            </a:pPr>
            <a:r>
              <a:rPr sz="1100">
                <a:solidFill>
                  <a:srgbClr val="1F1F1F"/>
                </a:solidFill>
              </a:rPr>
              <a:t>Designer · Developer · Maintainer</a:t>
            </a:r>
            <a:endParaRPr/>
          </a:p>
        </p:txBody>
      </p:sp>
      <p:sp>
        <p:nvSpPr>
          <p:cNvPr id="221810290" name="TextBox 25"/>
          <p:cNvSpPr txBox="1"/>
          <p:nvPr/>
        </p:nvSpPr>
        <p:spPr bwMode="auto">
          <a:xfrm rot="0">
            <a:off x="6374298" y="8914945"/>
            <a:ext cx="2649071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ts val="0"/>
              </a:spcBef>
              <a:defRPr/>
            </a:pPr>
            <a:r>
              <a:rPr sz="1100">
                <a:solidFill>
                  <a:srgbClr val="1F1F1F"/>
                </a:solidFill>
              </a:rPr>
              <a:t>nazmulislamabir1500@gmail.com</a:t>
            </a:r>
            <a:endParaRPr/>
          </a:p>
        </p:txBody>
      </p:sp>
      <p:sp>
        <p:nvSpPr>
          <p:cNvPr id="1489601387" name="TextBox 26"/>
          <p:cNvSpPr txBox="1"/>
          <p:nvPr/>
        </p:nvSpPr>
        <p:spPr bwMode="auto">
          <a:xfrm rot="0">
            <a:off x="14571737" y="7668431"/>
            <a:ext cx="2649071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  <a:defRPr/>
            </a:pPr>
            <a:r>
              <a:rPr sz="1400" b="1">
                <a:solidFill>
                  <a:srgbClr val="000000"/>
                </a:solidFill>
              </a:rPr>
              <a:t>Open Source</a:t>
            </a:r>
            <a:endParaRPr/>
          </a:p>
        </p:txBody>
      </p:sp>
      <p:sp>
        <p:nvSpPr>
          <p:cNvPr id="147582698" name="TextBox 27"/>
          <p:cNvSpPr txBox="1"/>
          <p:nvPr/>
        </p:nvSpPr>
        <p:spPr bwMode="auto">
          <a:xfrm rot="0">
            <a:off x="14571737" y="8076590"/>
            <a:ext cx="2649071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ts val="0"/>
              </a:spcBef>
              <a:defRPr/>
            </a:pPr>
            <a:r>
              <a:rPr sz="1100">
                <a:solidFill>
                  <a:srgbClr val="1F1F1F"/>
                </a:solidFill>
              </a:rPr>
              <a:t>MIT-licensed Flutter codebase</a:t>
            </a:r>
            <a:endParaRPr/>
          </a:p>
        </p:txBody>
      </p:sp>
      <p:sp>
        <p:nvSpPr>
          <p:cNvPr id="1559939464" name="TextBox 28"/>
          <p:cNvSpPr txBox="1"/>
          <p:nvPr/>
        </p:nvSpPr>
        <p:spPr bwMode="auto">
          <a:xfrm rot="0">
            <a:off x="14571737" y="8914945"/>
            <a:ext cx="2649071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ts val="0"/>
              </a:spcBef>
              <a:defRPr/>
            </a:pPr>
            <a:r>
              <a:rPr sz="1100">
                <a:solidFill>
                  <a:srgbClr val="1F1F1F"/>
                </a:solidFill>
              </a:rPr>
              <a:t>PRs welcome</a:t>
            </a:r>
            <a:endParaRPr/>
          </a:p>
        </p:txBody>
      </p:sp>
      <p:sp>
        <p:nvSpPr>
          <p:cNvPr id="602139880" name="TextBox 29"/>
          <p:cNvSpPr txBox="1"/>
          <p:nvPr/>
        </p:nvSpPr>
        <p:spPr bwMode="auto">
          <a:xfrm rot="0">
            <a:off x="10701814" y="7668431"/>
            <a:ext cx="2649071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  <a:defRPr/>
            </a:pPr>
            <a:r>
              <a:rPr sz="1400" b="1">
                <a:solidFill>
                  <a:srgbClr val="000000"/>
                </a:solidFill>
              </a:rPr>
              <a:t>Community</a:t>
            </a:r>
            <a:endParaRPr/>
          </a:p>
        </p:txBody>
      </p:sp>
      <p:sp>
        <p:nvSpPr>
          <p:cNvPr id="2026157141" name="TextBox 30"/>
          <p:cNvSpPr txBox="1"/>
          <p:nvPr/>
        </p:nvSpPr>
        <p:spPr bwMode="auto">
          <a:xfrm rot="0">
            <a:off x="10701814" y="8076590"/>
            <a:ext cx="2649071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ts val="0"/>
              </a:spcBef>
              <a:defRPr/>
            </a:pPr>
            <a:r>
              <a:rPr sz="1100">
                <a:solidFill>
                  <a:srgbClr val="1F1F1F"/>
                </a:solidFill>
              </a:rPr>
              <a:t>Bengali-first testers</a:t>
            </a:r>
            <a:endParaRPr/>
          </a:p>
        </p:txBody>
      </p:sp>
      <p:sp>
        <p:nvSpPr>
          <p:cNvPr id="766023972" name="TextBox 31"/>
          <p:cNvSpPr txBox="1"/>
          <p:nvPr/>
        </p:nvSpPr>
        <p:spPr bwMode="auto">
          <a:xfrm rot="0">
            <a:off x="10701814" y="8914945"/>
            <a:ext cx="2649071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ts val="0"/>
              </a:spcBef>
              <a:defRPr/>
            </a:pPr>
            <a:r>
              <a:rPr sz="1100">
                <a:solidFill>
                  <a:srgbClr val="1F1F1F"/>
                </a:solidFill>
              </a:rPr>
              <a:t>500+ invite list</a:t>
            </a:r>
            <a:endParaRPr/>
          </a:p>
        </p:txBody>
      </p:sp>
      <p:sp>
        <p:nvSpPr>
          <p:cNvPr id="585277932" name="TextBox 32"/>
          <p:cNvSpPr txBox="1"/>
          <p:nvPr/>
        </p:nvSpPr>
        <p:spPr bwMode="auto">
          <a:xfrm rot="0">
            <a:off x="609600" y="7152820"/>
            <a:ext cx="4343400" cy="2111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defRPr/>
            </a:pPr>
            <a:r>
              <a:rPr sz="1200">
                <a:solidFill>
                  <a:srgbClr val="1F1F1F"/>
                </a:solidFill>
              </a:rPr>
              <a:t>Daily Utility is currently a one-person project: design, Flutter code, Hive/Firebase wiring, screenshots, README and pitch deck are all maintained solo. Early users from Bangladesh are testing the local features (Baki Khata, BD land-units, prayer times).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DFDF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5468856" name="Freeform 2"/>
          <p:cNvSpPr/>
          <p:nvPr/>
        </p:nvSpPr>
        <p:spPr bwMode="auto">
          <a:xfrm rot="1409309" flipH="1" flipV="0">
            <a:off x="-1404006" y="3161874"/>
            <a:ext cx="17895613" cy="14706940"/>
          </a:xfrm>
          <a:custGeom>
            <a:avLst/>
            <a:gdLst/>
            <a:ahLst/>
            <a:cxnLst/>
            <a:rect l="l" t="t" r="r" b="b"/>
            <a:pathLst>
              <a:path w="17895613" h="14706940" fill="norm" stroke="1" extrusionOk="0">
                <a:moveTo>
                  <a:pt x="17895612" y="0"/>
                </a:moveTo>
                <a:lnTo>
                  <a:pt x="0" y="0"/>
                </a:lnTo>
                <a:lnTo>
                  <a:pt x="0" y="14706940"/>
                </a:lnTo>
                <a:lnTo>
                  <a:pt x="17895612" y="14706940"/>
                </a:lnTo>
                <a:lnTo>
                  <a:pt x="17895612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grpSp>
        <p:nvGrpSpPr>
          <p:cNvPr id="796459428" name="Group 3"/>
          <p:cNvGrpSpPr>
            <a:grpSpLocks noChangeAspect="1"/>
          </p:cNvGrpSpPr>
          <p:nvPr/>
        </p:nvGrpSpPr>
        <p:grpSpPr bwMode="auto">
          <a:xfrm rot="0">
            <a:off x="609600" y="609600"/>
            <a:ext cx="5306002" cy="10498836"/>
            <a:chOff x="0" y="0"/>
            <a:chExt cx="2620010" cy="5184140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53340" y="25400"/>
              <a:ext cx="2513329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 fill="norm" stroke="1" extrusionOk="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Freeform 5"/>
            <p:cNvSpPr/>
            <p:nvPr/>
          </p:nvSpPr>
          <p:spPr bwMode="auto">
            <a:xfrm rot="-5400000" flipH="0" flipV="0">
              <a:off x="-1127754" y="1469384"/>
              <a:ext cx="4876800" cy="2250453"/>
            </a:xfrm>
            <a:custGeom>
              <a:avLst/>
              <a:gdLst/>
              <a:ahLst/>
              <a:cxnLst/>
              <a:rect l="l" t="t" r="r" b="b"/>
              <a:pathLst>
                <a:path w="4876800" h="2250453" fill="norm" stroke="1" extrusionOk="0">
                  <a:moveTo>
                    <a:pt x="4876800" y="2040889"/>
                  </a:moveTo>
                  <a:lnTo>
                    <a:pt x="4876800" y="1769110"/>
                  </a:lnTo>
                  <a:lnTo>
                    <a:pt x="4819650" y="1769110"/>
                  </a:lnTo>
                  <a:cubicBezTo>
                    <a:pt x="4754880" y="1769110"/>
                    <a:pt x="4701540" y="1715770"/>
                    <a:pt x="4701540" y="1650999"/>
                  </a:cubicBezTo>
                  <a:lnTo>
                    <a:pt x="4701540" y="601980"/>
                  </a:lnTo>
                  <a:cubicBezTo>
                    <a:pt x="4701540" y="537210"/>
                    <a:pt x="4754880" y="483870"/>
                    <a:pt x="4819650" y="483870"/>
                  </a:cubicBezTo>
                  <a:lnTo>
                    <a:pt x="4876800" y="483870"/>
                  </a:lnTo>
                  <a:lnTo>
                    <a:pt x="4876800" y="209550"/>
                  </a:lnTo>
                  <a:cubicBezTo>
                    <a:pt x="4876800" y="93980"/>
                    <a:pt x="4782820" y="0"/>
                    <a:pt x="4667250" y="0"/>
                  </a:cubicBez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2040889"/>
                  </a:lnTo>
                  <a:cubicBezTo>
                    <a:pt x="0" y="2156460"/>
                    <a:pt x="93980" y="2250439"/>
                    <a:pt x="209550" y="2250439"/>
                  </a:cubicBezTo>
                  <a:lnTo>
                    <a:pt x="4667250" y="2250439"/>
                  </a:lnTo>
                  <a:cubicBezTo>
                    <a:pt x="4782820" y="2251710"/>
                    <a:pt x="4876800" y="2157729"/>
                    <a:pt x="4876800" y="2040889"/>
                  </a:cubicBezTo>
                  <a:close/>
                </a:path>
              </a:pathLst>
            </a:custGeom>
            <a:blipFill rotWithShape="1">
              <a:blip r:embed="rId4"/>
              <a:stretch>
                <a:fillRect l="0" t="-22300" r="0" b="-22299"/>
              </a:stretch>
            </a:blipFill>
          </p:spPr>
        </p:sp>
        <p:sp>
          <p:nvSpPr>
            <p:cNvPr id="6" name="Freeform 6"/>
            <p:cNvSpPr/>
            <p:nvPr/>
          </p:nvSpPr>
          <p:spPr bwMode="auto">
            <a:xfrm rot="0" flipH="0" flipV="0"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 fill="norm" stroke="1" extrusionOk="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FF5B37"/>
            </a:solidFill>
          </p:spPr>
        </p:sp>
        <p:sp>
          <p:nvSpPr>
            <p:cNvPr id="7" name="Freeform 7"/>
            <p:cNvSpPr/>
            <p:nvPr/>
          </p:nvSpPr>
          <p:spPr bwMode="auto">
            <a:xfrm rot="0" flipH="0" flipV="0"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 fill="norm" stroke="1" extrusionOk="0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FF5B37"/>
            </a:solidFill>
          </p:spPr>
        </p:sp>
        <p:sp>
          <p:nvSpPr>
            <p:cNvPr id="8" name="Freeform 8"/>
            <p:cNvSpPr/>
            <p:nvPr/>
          </p:nvSpPr>
          <p:spPr bwMode="auto">
            <a:xfrm rot="0" flipH="0" flipV="0"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 fill="norm" stroke="1" extrusionOk="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F5B37"/>
            </a:solidFill>
          </p:spPr>
        </p:sp>
        <p:sp>
          <p:nvSpPr>
            <p:cNvPr id="9" name="Freeform 9"/>
            <p:cNvSpPr/>
            <p:nvPr/>
          </p:nvSpPr>
          <p:spPr bwMode="auto">
            <a:xfrm rot="0" flipH="0" flipV="0"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 fill="norm" stroke="1" extrusionOk="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F5B37"/>
            </a:solidFill>
          </p:spPr>
        </p:sp>
        <p:sp>
          <p:nvSpPr>
            <p:cNvPr id="10" name="Freeform 10"/>
            <p:cNvSpPr/>
            <p:nvPr/>
          </p:nvSpPr>
          <p:spPr bwMode="auto">
            <a:xfrm rot="0" flipH="0" flipV="0"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 fill="norm" stroke="1" extrusionOk="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FF5B37"/>
            </a:solidFill>
          </p:spPr>
        </p:sp>
        <p:sp>
          <p:nvSpPr>
            <p:cNvPr id="11" name="Freeform 11"/>
            <p:cNvSpPr/>
            <p:nvPr/>
          </p:nvSpPr>
          <p:spPr bwMode="auto">
            <a:xfrm rot="0" flipH="0" flipV="0"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 fill="norm" stroke="1" extrusionOk="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FF5B37"/>
            </a:solidFill>
          </p:spPr>
        </p:sp>
        <p:sp>
          <p:nvSpPr>
            <p:cNvPr id="12" name="Freeform 12"/>
            <p:cNvSpPr/>
            <p:nvPr/>
          </p:nvSpPr>
          <p:spPr bwMode="auto">
            <a:xfrm rot="0" flipH="0" flipV="0"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 fill="norm" stroke="1" extrusionOk="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378104894" name="Freeform 13"/>
          <p:cNvSpPr/>
          <p:nvPr/>
        </p:nvSpPr>
        <p:spPr bwMode="auto">
          <a:xfrm rot="0" flipH="0" flipV="0">
            <a:off x="8344472" y="609600"/>
            <a:ext cx="446522" cy="341792"/>
          </a:xfrm>
          <a:custGeom>
            <a:avLst/>
            <a:gdLst/>
            <a:ahLst/>
            <a:cxnLst/>
            <a:rect l="l" t="t" r="r" b="b"/>
            <a:pathLst>
              <a:path w="446522" h="341792" fill="norm" stroke="1" extrusionOk="0">
                <a:moveTo>
                  <a:pt x="0" y="0"/>
                </a:moveTo>
                <a:lnTo>
                  <a:pt x="446522" y="0"/>
                </a:lnTo>
                <a:lnTo>
                  <a:pt x="446522" y="341792"/>
                </a:lnTo>
                <a:lnTo>
                  <a:pt x="0" y="3417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grpSp>
        <p:nvGrpSpPr>
          <p:cNvPr id="532215443" name="Group 14"/>
          <p:cNvGrpSpPr>
            <a:grpSpLocks noChangeAspect="1"/>
          </p:cNvGrpSpPr>
          <p:nvPr/>
        </p:nvGrpSpPr>
        <p:grpSpPr bwMode="auto">
          <a:xfrm rot="0">
            <a:off x="3505199" y="2325072"/>
            <a:ext cx="3715790" cy="7352328"/>
            <a:chOff x="0" y="0"/>
            <a:chExt cx="2620010" cy="5184140"/>
          </a:xfrm>
        </p:grpSpPr>
        <p:sp>
          <p:nvSpPr>
            <p:cNvPr id="15" name="Freeform 15"/>
            <p:cNvSpPr/>
            <p:nvPr/>
          </p:nvSpPr>
          <p:spPr bwMode="auto">
            <a:xfrm rot="0" flipH="0" flipV="0">
              <a:off x="53340" y="25400"/>
              <a:ext cx="2513329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 fill="norm" stroke="1" extrusionOk="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Freeform 16"/>
            <p:cNvSpPr/>
            <p:nvPr/>
          </p:nvSpPr>
          <p:spPr bwMode="auto">
            <a:xfrm rot="0" flipH="0" flipV="0"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 fill="norm" stroke="1" extrusionOk="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1">
              <a:blip r:embed="rId6"/>
              <a:stretch>
                <a:fillRect l="-58351" t="0" r="-58351" b="0"/>
              </a:stretch>
            </a:blipFill>
          </p:spPr>
        </p:sp>
        <p:sp>
          <p:nvSpPr>
            <p:cNvPr id="17" name="Freeform 17"/>
            <p:cNvSpPr/>
            <p:nvPr/>
          </p:nvSpPr>
          <p:spPr bwMode="auto">
            <a:xfrm rot="0" flipH="0" flipV="0"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 fill="norm" stroke="1" extrusionOk="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FF5B37"/>
            </a:solidFill>
          </p:spPr>
        </p:sp>
        <p:sp>
          <p:nvSpPr>
            <p:cNvPr id="18" name="Freeform 18"/>
            <p:cNvSpPr/>
            <p:nvPr/>
          </p:nvSpPr>
          <p:spPr bwMode="auto">
            <a:xfrm rot="0" flipH="0" flipV="0"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 fill="norm" stroke="1" extrusionOk="0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FF5B37"/>
            </a:solidFill>
          </p:spPr>
        </p:sp>
        <p:sp>
          <p:nvSpPr>
            <p:cNvPr id="19" name="Freeform 19"/>
            <p:cNvSpPr/>
            <p:nvPr/>
          </p:nvSpPr>
          <p:spPr bwMode="auto">
            <a:xfrm rot="0" flipH="0" flipV="0"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 fill="norm" stroke="1" extrusionOk="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F5B37"/>
            </a:solidFill>
          </p:spPr>
        </p:sp>
        <p:sp>
          <p:nvSpPr>
            <p:cNvPr id="20" name="Freeform 20"/>
            <p:cNvSpPr/>
            <p:nvPr/>
          </p:nvSpPr>
          <p:spPr bwMode="auto">
            <a:xfrm rot="0" flipH="0" flipV="0"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 fill="norm" stroke="1" extrusionOk="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FF5B37"/>
            </a:solidFill>
          </p:spPr>
        </p:sp>
        <p:sp>
          <p:nvSpPr>
            <p:cNvPr id="21" name="Freeform 21"/>
            <p:cNvSpPr/>
            <p:nvPr/>
          </p:nvSpPr>
          <p:spPr bwMode="auto">
            <a:xfrm rot="0" flipH="0" flipV="0"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 fill="norm" stroke="1" extrusionOk="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FF5B37"/>
            </a:solidFill>
          </p:spPr>
        </p:sp>
        <p:sp>
          <p:nvSpPr>
            <p:cNvPr id="22" name="Freeform 22"/>
            <p:cNvSpPr/>
            <p:nvPr/>
          </p:nvSpPr>
          <p:spPr bwMode="auto">
            <a:xfrm rot="0" flipH="0" flipV="0"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 fill="norm" stroke="1" extrusionOk="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FF5B37"/>
            </a:solidFill>
          </p:spPr>
        </p:sp>
        <p:sp>
          <p:nvSpPr>
            <p:cNvPr id="23" name="Freeform 23"/>
            <p:cNvSpPr/>
            <p:nvPr/>
          </p:nvSpPr>
          <p:spPr bwMode="auto">
            <a:xfrm rot="0" flipH="0" flipV="0"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 fill="norm" stroke="1" extrusionOk="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079672764" name="Group 24"/>
          <p:cNvGrpSpPr/>
          <p:nvPr/>
        </p:nvGrpSpPr>
        <p:grpSpPr bwMode="auto">
          <a:xfrm rot="0">
            <a:off x="8344472" y="7331426"/>
            <a:ext cx="838200" cy="838200"/>
            <a:chOff x="0" y="0"/>
            <a:chExt cx="160553" cy="160553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160553" cy="160553"/>
            </a:xfrm>
            <a:custGeom>
              <a:avLst/>
              <a:gdLst/>
              <a:ahLst/>
              <a:cxnLst/>
              <a:rect l="l" t="t" r="r" b="b"/>
              <a:pathLst>
                <a:path w="160553" h="160553" fill="norm" stroke="1" extrusionOk="0">
                  <a:moveTo>
                    <a:pt x="80277" y="0"/>
                  </a:moveTo>
                  <a:lnTo>
                    <a:pt x="80277" y="0"/>
                  </a:lnTo>
                  <a:cubicBezTo>
                    <a:pt x="124612" y="0"/>
                    <a:pt x="160553" y="35941"/>
                    <a:pt x="160553" y="80277"/>
                  </a:cubicBezTo>
                  <a:lnTo>
                    <a:pt x="160553" y="80277"/>
                  </a:lnTo>
                  <a:cubicBezTo>
                    <a:pt x="160553" y="101567"/>
                    <a:pt x="152095" y="121986"/>
                    <a:pt x="137041" y="137041"/>
                  </a:cubicBezTo>
                  <a:cubicBezTo>
                    <a:pt x="121986" y="152095"/>
                    <a:pt x="101567" y="160553"/>
                    <a:pt x="80277" y="160553"/>
                  </a:cubicBezTo>
                  <a:lnTo>
                    <a:pt x="80277" y="160553"/>
                  </a:lnTo>
                  <a:cubicBezTo>
                    <a:pt x="58986" y="160553"/>
                    <a:pt x="38567" y="152095"/>
                    <a:pt x="23512" y="137041"/>
                  </a:cubicBezTo>
                  <a:cubicBezTo>
                    <a:pt x="8458" y="121986"/>
                    <a:pt x="0" y="101567"/>
                    <a:pt x="0" y="80277"/>
                  </a:cubicBezTo>
                  <a:lnTo>
                    <a:pt x="0" y="80277"/>
                  </a:lnTo>
                  <a:cubicBezTo>
                    <a:pt x="0" y="58986"/>
                    <a:pt x="8458" y="38567"/>
                    <a:pt x="23512" y="23512"/>
                  </a:cubicBezTo>
                  <a:cubicBezTo>
                    <a:pt x="38567" y="8458"/>
                    <a:pt x="58986" y="0"/>
                    <a:pt x="80277" y="0"/>
                  </a:cubicBezTo>
                  <a:close/>
                </a:path>
              </a:pathLst>
            </a:custGeom>
            <a:solidFill>
              <a:srgbClr val="FF5B37"/>
            </a:solidFill>
            <a:ln cap="rnd">
              <a:noFill/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 bwMode="auto">
            <a:xfrm>
              <a:off x="0" y="-38100"/>
              <a:ext cx="160553" cy="1986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sp>
        <p:nvSpPr>
          <p:cNvPr id="1322834467" name="Freeform 27"/>
          <p:cNvSpPr/>
          <p:nvPr/>
        </p:nvSpPr>
        <p:spPr bwMode="auto">
          <a:xfrm rot="0" flipH="0" flipV="0">
            <a:off x="8531169" y="7521926"/>
            <a:ext cx="464806" cy="457200"/>
          </a:xfrm>
          <a:custGeom>
            <a:avLst/>
            <a:gdLst/>
            <a:ahLst/>
            <a:cxnLst/>
            <a:rect l="l" t="t" r="r" b="b"/>
            <a:pathLst>
              <a:path w="464806" h="457200" fill="norm" stroke="1" extrusionOk="0">
                <a:moveTo>
                  <a:pt x="0" y="0"/>
                </a:moveTo>
                <a:lnTo>
                  <a:pt x="464806" y="0"/>
                </a:lnTo>
                <a:lnTo>
                  <a:pt x="464806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 l="0" t="0" r="0" b="0"/>
            </a:stretch>
          </a:blipFill>
        </p:spPr>
      </p:sp>
      <p:grpSp>
        <p:nvGrpSpPr>
          <p:cNvPr id="456899871" name="Group 28"/>
          <p:cNvGrpSpPr/>
          <p:nvPr/>
        </p:nvGrpSpPr>
        <p:grpSpPr bwMode="auto">
          <a:xfrm rot="0">
            <a:off x="8344472" y="8420100"/>
            <a:ext cx="838200" cy="838200"/>
            <a:chOff x="0" y="0"/>
            <a:chExt cx="160553" cy="160553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160553" cy="160553"/>
            </a:xfrm>
            <a:custGeom>
              <a:avLst/>
              <a:gdLst/>
              <a:ahLst/>
              <a:cxnLst/>
              <a:rect l="l" t="t" r="r" b="b"/>
              <a:pathLst>
                <a:path w="160553" h="160553" fill="norm" stroke="1" extrusionOk="0">
                  <a:moveTo>
                    <a:pt x="80277" y="0"/>
                  </a:moveTo>
                  <a:lnTo>
                    <a:pt x="80277" y="0"/>
                  </a:lnTo>
                  <a:cubicBezTo>
                    <a:pt x="124612" y="0"/>
                    <a:pt x="160553" y="35941"/>
                    <a:pt x="160553" y="80277"/>
                  </a:cubicBezTo>
                  <a:lnTo>
                    <a:pt x="160553" y="80277"/>
                  </a:lnTo>
                  <a:cubicBezTo>
                    <a:pt x="160553" y="101567"/>
                    <a:pt x="152095" y="121986"/>
                    <a:pt x="137041" y="137041"/>
                  </a:cubicBezTo>
                  <a:cubicBezTo>
                    <a:pt x="121986" y="152095"/>
                    <a:pt x="101567" y="160553"/>
                    <a:pt x="80277" y="160553"/>
                  </a:cubicBezTo>
                  <a:lnTo>
                    <a:pt x="80277" y="160553"/>
                  </a:lnTo>
                  <a:cubicBezTo>
                    <a:pt x="58986" y="160553"/>
                    <a:pt x="38567" y="152095"/>
                    <a:pt x="23512" y="137041"/>
                  </a:cubicBezTo>
                  <a:cubicBezTo>
                    <a:pt x="8458" y="121986"/>
                    <a:pt x="0" y="101567"/>
                    <a:pt x="0" y="80277"/>
                  </a:cubicBezTo>
                  <a:lnTo>
                    <a:pt x="0" y="80277"/>
                  </a:lnTo>
                  <a:cubicBezTo>
                    <a:pt x="0" y="58986"/>
                    <a:pt x="8458" y="38567"/>
                    <a:pt x="23512" y="23512"/>
                  </a:cubicBezTo>
                  <a:cubicBezTo>
                    <a:pt x="38567" y="8458"/>
                    <a:pt x="58986" y="0"/>
                    <a:pt x="80277" y="0"/>
                  </a:cubicBezTo>
                  <a:close/>
                </a:path>
              </a:pathLst>
            </a:custGeom>
            <a:solidFill>
              <a:srgbClr val="FF5B37"/>
            </a:solidFill>
            <a:ln cap="rnd">
              <a:noFill/>
              <a:prstDash val="solid"/>
              <a:round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160553" cy="1986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1037542896" name="Group 31"/>
          <p:cNvGrpSpPr/>
          <p:nvPr/>
        </p:nvGrpSpPr>
        <p:grpSpPr bwMode="auto">
          <a:xfrm rot="0">
            <a:off x="15813902" y="7331426"/>
            <a:ext cx="1864498" cy="1926874"/>
            <a:chOff x="0" y="0"/>
            <a:chExt cx="491061" cy="507489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491061" cy="507489"/>
            </a:xfrm>
            <a:custGeom>
              <a:avLst/>
              <a:gdLst/>
              <a:ahLst/>
              <a:cxnLst/>
              <a:rect l="l" t="t" r="r" b="b"/>
              <a:pathLst>
                <a:path w="491061" h="507489" fill="norm" stroke="1" extrusionOk="0">
                  <a:moveTo>
                    <a:pt x="132873" y="0"/>
                  </a:moveTo>
                  <a:lnTo>
                    <a:pt x="358188" y="0"/>
                  </a:lnTo>
                  <a:cubicBezTo>
                    <a:pt x="393428" y="0"/>
                    <a:pt x="427225" y="13999"/>
                    <a:pt x="452144" y="38918"/>
                  </a:cubicBezTo>
                  <a:cubicBezTo>
                    <a:pt x="477062" y="63836"/>
                    <a:pt x="491061" y="97633"/>
                    <a:pt x="491061" y="132873"/>
                  </a:cubicBezTo>
                  <a:lnTo>
                    <a:pt x="491061" y="374616"/>
                  </a:lnTo>
                  <a:cubicBezTo>
                    <a:pt x="491061" y="448000"/>
                    <a:pt x="431572" y="507489"/>
                    <a:pt x="358188" y="507489"/>
                  </a:cubicBezTo>
                  <a:lnTo>
                    <a:pt x="132873" y="507489"/>
                  </a:lnTo>
                  <a:cubicBezTo>
                    <a:pt x="59489" y="507489"/>
                    <a:pt x="0" y="448000"/>
                    <a:pt x="0" y="374616"/>
                  </a:cubicBezTo>
                  <a:lnTo>
                    <a:pt x="0" y="132873"/>
                  </a:lnTo>
                  <a:cubicBezTo>
                    <a:pt x="0" y="59489"/>
                    <a:pt x="59489" y="0"/>
                    <a:pt x="132873" y="0"/>
                  </a:cubicBezTo>
                  <a:close/>
                </a:path>
              </a:pathLst>
            </a:custGeom>
            <a:solidFill>
              <a:srgbClr val="F7E4D9"/>
            </a:solidFill>
            <a:ln cap="rnd">
              <a:noFill/>
              <a:prstDash val="solid"/>
              <a:round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0"/>
              <a:ext cx="491061" cy="50748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40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sp>
        <p:nvSpPr>
          <p:cNvPr id="378382045" name="Freeform 34"/>
          <p:cNvSpPr/>
          <p:nvPr/>
        </p:nvSpPr>
        <p:spPr bwMode="auto">
          <a:xfrm rot="0" flipH="0" flipV="0">
            <a:off x="16075210" y="7623922"/>
            <a:ext cx="1341882" cy="1341882"/>
          </a:xfrm>
          <a:custGeom>
            <a:avLst/>
            <a:gdLst/>
            <a:ahLst/>
            <a:cxnLst/>
            <a:rect l="l" t="t" r="r" b="b"/>
            <a:pathLst>
              <a:path w="1341882" h="1341882" fill="norm" stroke="1" extrusionOk="0">
                <a:moveTo>
                  <a:pt x="0" y="0"/>
                </a:moveTo>
                <a:lnTo>
                  <a:pt x="1341882" y="0"/>
                </a:lnTo>
                <a:lnTo>
                  <a:pt x="1341882" y="1341882"/>
                </a:lnTo>
                <a:lnTo>
                  <a:pt x="0" y="13418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/>
            <a:stretch>
              <a:fillRect l="0" t="0" r="0" b="0"/>
            </a:stretch>
          </a:blipFill>
        </p:spPr>
      </p:sp>
      <p:sp>
        <p:nvSpPr>
          <p:cNvPr id="1959628470" name="Freeform 35"/>
          <p:cNvSpPr/>
          <p:nvPr/>
        </p:nvSpPr>
        <p:spPr bwMode="auto">
          <a:xfrm rot="0" flipH="0" flipV="0">
            <a:off x="8534972" y="8610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fill="norm" stroke="1" extrusionOk="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/>
            <a:stretch>
              <a:fillRect l="0" t="0" r="0" b="0"/>
            </a:stretch>
          </a:blipFill>
        </p:spPr>
      </p:sp>
      <p:grpSp>
        <p:nvGrpSpPr>
          <p:cNvPr id="1050711951" name="Group 36"/>
          <p:cNvGrpSpPr/>
          <p:nvPr/>
        </p:nvGrpSpPr>
        <p:grpSpPr bwMode="auto">
          <a:xfrm rot="0">
            <a:off x="9447190" y="7331426"/>
            <a:ext cx="4500163" cy="838200"/>
            <a:chOff x="0" y="0"/>
            <a:chExt cx="1185228" cy="220760"/>
          </a:xfrm>
        </p:grpSpPr>
        <p:sp>
          <p:nvSpPr>
            <p:cNvPr id="37" name="Freeform 37"/>
            <p:cNvSpPr/>
            <p:nvPr/>
          </p:nvSpPr>
          <p:spPr bwMode="auto">
            <a:xfrm rot="0" flipH="0" flipV="0">
              <a:off x="0" y="0"/>
              <a:ext cx="1185228" cy="220760"/>
            </a:xfrm>
            <a:custGeom>
              <a:avLst/>
              <a:gdLst/>
              <a:ahLst/>
              <a:cxnLst/>
              <a:rect l="l" t="t" r="r" b="b"/>
              <a:pathLst>
                <a:path w="1185228" h="220760" fill="norm" stroke="1" extrusionOk="0">
                  <a:moveTo>
                    <a:pt x="110380" y="0"/>
                  </a:moveTo>
                  <a:lnTo>
                    <a:pt x="1074848" y="0"/>
                  </a:lnTo>
                  <a:cubicBezTo>
                    <a:pt x="1135809" y="0"/>
                    <a:pt x="1185228" y="49419"/>
                    <a:pt x="1185228" y="110380"/>
                  </a:cubicBezTo>
                  <a:lnTo>
                    <a:pt x="1185228" y="110380"/>
                  </a:lnTo>
                  <a:cubicBezTo>
                    <a:pt x="1185228" y="139655"/>
                    <a:pt x="1173599" y="167731"/>
                    <a:pt x="1152899" y="188431"/>
                  </a:cubicBezTo>
                  <a:cubicBezTo>
                    <a:pt x="1132198" y="209131"/>
                    <a:pt x="1104123" y="220760"/>
                    <a:pt x="1074848" y="220760"/>
                  </a:cubicBezTo>
                  <a:lnTo>
                    <a:pt x="110380" y="220760"/>
                  </a:lnTo>
                  <a:cubicBezTo>
                    <a:pt x="81106" y="220760"/>
                    <a:pt x="53030" y="209131"/>
                    <a:pt x="32330" y="188431"/>
                  </a:cubicBezTo>
                  <a:cubicBezTo>
                    <a:pt x="11629" y="167731"/>
                    <a:pt x="0" y="139655"/>
                    <a:pt x="0" y="110380"/>
                  </a:cubicBezTo>
                  <a:lnTo>
                    <a:pt x="0" y="110380"/>
                  </a:lnTo>
                  <a:cubicBezTo>
                    <a:pt x="0" y="81106"/>
                    <a:pt x="11629" y="53030"/>
                    <a:pt x="32330" y="32330"/>
                  </a:cubicBezTo>
                  <a:cubicBezTo>
                    <a:pt x="53030" y="11629"/>
                    <a:pt x="81106" y="0"/>
                    <a:pt x="110380" y="0"/>
                  </a:cubicBezTo>
                  <a:close/>
                </a:path>
              </a:pathLst>
            </a:custGeom>
            <a:solidFill>
              <a:srgbClr val="FF5B37"/>
            </a:solidFill>
            <a:ln cap="rnd">
              <a:noFill/>
              <a:prstDash val="solid"/>
              <a:round/>
            </a:ln>
          </p:spPr>
        </p:sp>
        <p:sp>
          <p:nvSpPr>
            <p:cNvPr id="38" name="TextBox 38"/>
            <p:cNvSpPr txBox="1"/>
            <p:nvPr/>
          </p:nvSpPr>
          <p:spPr bwMode="auto">
            <a:xfrm>
              <a:off x="0" y="0"/>
              <a:ext cx="1185228" cy="22076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40"/>
                </a:lnSpc>
                <a:spcBef>
                  <a:spcPts val="0"/>
                </a:spcBef>
                <a:defRPr/>
              </a:pPr>
              <a:r>
                <a:rPr lang="en-US" sz="2200" b="1">
                  <a:solidFill>
                    <a:srgbClr val="F5F5F5"/>
                  </a:solidFill>
                  <a:latin typeface="Inter Medium"/>
                  <a:ea typeface="Inter Medium"/>
                  <a:cs typeface="Inter Medium"/>
                </a:rPr>
                <a:t>hello@reallygreatsite.com</a:t>
              </a:r>
              <a:endParaRPr/>
            </a:p>
          </p:txBody>
        </p:sp>
      </p:grpSp>
      <p:grpSp>
        <p:nvGrpSpPr>
          <p:cNvPr id="1012536252" name="Group 39"/>
          <p:cNvGrpSpPr/>
          <p:nvPr/>
        </p:nvGrpSpPr>
        <p:grpSpPr bwMode="auto">
          <a:xfrm rot="0">
            <a:off x="9447190" y="8420100"/>
            <a:ext cx="5661871" cy="838200"/>
            <a:chOff x="0" y="0"/>
            <a:chExt cx="1491192" cy="220760"/>
          </a:xfrm>
        </p:grpSpPr>
        <p:sp>
          <p:nvSpPr>
            <p:cNvPr id="40" name="Freeform 40"/>
            <p:cNvSpPr/>
            <p:nvPr/>
          </p:nvSpPr>
          <p:spPr bwMode="auto">
            <a:xfrm rot="0" flipH="0" flipV="0">
              <a:off x="0" y="0"/>
              <a:ext cx="1491192" cy="220760"/>
            </a:xfrm>
            <a:custGeom>
              <a:avLst/>
              <a:gdLst/>
              <a:ahLst/>
              <a:cxnLst/>
              <a:rect l="l" t="t" r="r" b="b"/>
              <a:pathLst>
                <a:path w="1491192" h="220760" fill="norm" stroke="1" extrusionOk="0">
                  <a:moveTo>
                    <a:pt x="110380" y="0"/>
                  </a:moveTo>
                  <a:lnTo>
                    <a:pt x="1380812" y="0"/>
                  </a:lnTo>
                  <a:cubicBezTo>
                    <a:pt x="1410087" y="0"/>
                    <a:pt x="1438162" y="11629"/>
                    <a:pt x="1458863" y="32330"/>
                  </a:cubicBezTo>
                  <a:cubicBezTo>
                    <a:pt x="1479563" y="53030"/>
                    <a:pt x="1491192" y="81106"/>
                    <a:pt x="1491192" y="110380"/>
                  </a:cubicBezTo>
                  <a:lnTo>
                    <a:pt x="1491192" y="110380"/>
                  </a:lnTo>
                  <a:cubicBezTo>
                    <a:pt x="1491192" y="139655"/>
                    <a:pt x="1479563" y="167731"/>
                    <a:pt x="1458863" y="188431"/>
                  </a:cubicBezTo>
                  <a:cubicBezTo>
                    <a:pt x="1438162" y="209131"/>
                    <a:pt x="1410087" y="220760"/>
                    <a:pt x="1380812" y="220760"/>
                  </a:cubicBezTo>
                  <a:lnTo>
                    <a:pt x="110380" y="220760"/>
                  </a:lnTo>
                  <a:cubicBezTo>
                    <a:pt x="81106" y="220760"/>
                    <a:pt x="53030" y="209131"/>
                    <a:pt x="32330" y="188431"/>
                  </a:cubicBezTo>
                  <a:cubicBezTo>
                    <a:pt x="11629" y="167731"/>
                    <a:pt x="0" y="139655"/>
                    <a:pt x="0" y="110380"/>
                  </a:cubicBezTo>
                  <a:lnTo>
                    <a:pt x="0" y="110380"/>
                  </a:lnTo>
                  <a:cubicBezTo>
                    <a:pt x="0" y="81106"/>
                    <a:pt x="11629" y="53030"/>
                    <a:pt x="32330" y="32330"/>
                  </a:cubicBezTo>
                  <a:cubicBezTo>
                    <a:pt x="53030" y="11629"/>
                    <a:pt x="81106" y="0"/>
                    <a:pt x="110380" y="0"/>
                  </a:cubicBezTo>
                  <a:close/>
                </a:path>
              </a:pathLst>
            </a:custGeom>
            <a:solidFill>
              <a:srgbClr val="FF5B37"/>
            </a:solidFill>
            <a:ln cap="rnd">
              <a:noFill/>
              <a:prstDash val="solid"/>
              <a:round/>
            </a:ln>
          </p:spPr>
        </p:sp>
        <p:sp>
          <p:nvSpPr>
            <p:cNvPr id="41" name="TextBox 41"/>
            <p:cNvSpPr txBox="1"/>
            <p:nvPr/>
          </p:nvSpPr>
          <p:spPr bwMode="auto">
            <a:xfrm>
              <a:off x="0" y="0"/>
              <a:ext cx="1491192" cy="22076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40"/>
                </a:lnSpc>
                <a:spcBef>
                  <a:spcPts val="0"/>
                </a:spcBef>
                <a:defRPr/>
              </a:pPr>
              <a:r>
                <a:rPr lang="en-US" sz="2200" b="1">
                  <a:solidFill>
                    <a:srgbClr val="F5F5F5"/>
                  </a:solidFill>
                  <a:latin typeface="Inter Medium"/>
                  <a:ea typeface="Inter Medium"/>
                  <a:cs typeface="Inter Medium"/>
                </a:rPr>
                <a:t>123 Anywhere St., Any City, ST 12345</a:t>
              </a:r>
              <a:endParaRPr/>
            </a:p>
          </p:txBody>
        </p:sp>
      </p:grpSp>
      <p:sp>
        <p:nvSpPr>
          <p:cNvPr id="1224914796" name="TextBox 42"/>
          <p:cNvSpPr txBox="1"/>
          <p:nvPr/>
        </p:nvSpPr>
        <p:spPr bwMode="auto">
          <a:xfrm rot="0">
            <a:off x="8344472" y="1611118"/>
            <a:ext cx="9048178" cy="3286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39"/>
              </a:lnSpc>
              <a:defRPr/>
            </a:pPr>
            <a:r>
              <a:rPr sz="3200" b="1">
                <a:solidFill>
                  <a:srgbClr val="000000"/>
                </a:solidFill>
              </a:rPr>
              <a:t>One Phone. Twenty Tools.</a:t>
            </a:r>
            <a:br>
              <a:rPr sz="3200" b="1">
                <a:solidFill>
                  <a:srgbClr val="000000"/>
                </a:solidFill>
              </a:rPr>
            </a:br>
            <a:r>
              <a:rPr sz="3200" b="1">
                <a:solidFill>
                  <a:srgbClr val="000000"/>
                </a:solidFill>
              </a:rPr>
              <a:t>Zero Servers Touching Your Data.</a:t>
            </a:r>
            <a:endParaRPr/>
          </a:p>
        </p:txBody>
      </p:sp>
      <p:sp>
        <p:nvSpPr>
          <p:cNvPr id="965326426" name="TextBox 43"/>
          <p:cNvSpPr txBox="1"/>
          <p:nvPr/>
        </p:nvSpPr>
        <p:spPr bwMode="auto">
          <a:xfrm rot="0">
            <a:off x="8930619" y="613808"/>
            <a:ext cx="1391384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  <a:spcBef>
                <a:spcPts val="0"/>
              </a:spcBef>
              <a:defRPr/>
            </a:pPr>
            <a:r>
              <a:rPr sz="1400" b="1">
                <a:solidFill>
                  <a:srgbClr val="000000"/>
                </a:solidFill>
              </a:rPr>
              <a:t>DailyUtility</a:t>
            </a:r>
            <a:endParaRPr/>
          </a:p>
        </p:txBody>
      </p:sp>
      <p:sp>
        <p:nvSpPr>
          <p:cNvPr id="1557218135" name="Freeform 44"/>
          <p:cNvSpPr/>
          <p:nvPr/>
        </p:nvSpPr>
        <p:spPr bwMode="auto">
          <a:xfrm rot="0" flipH="0" flipV="0">
            <a:off x="4630190" y="5203178"/>
            <a:ext cx="1465810" cy="1122011"/>
          </a:xfrm>
          <a:custGeom>
            <a:avLst/>
            <a:gdLst/>
            <a:ahLst/>
            <a:cxnLst/>
            <a:rect l="l" t="t" r="r" b="b"/>
            <a:pathLst>
              <a:path w="1465810" h="1122011" fill="norm" stroke="1" extrusionOk="0">
                <a:moveTo>
                  <a:pt x="0" y="0"/>
                </a:moveTo>
                <a:lnTo>
                  <a:pt x="1465810" y="0"/>
                </a:lnTo>
                <a:lnTo>
                  <a:pt x="1465810" y="1122012"/>
                </a:lnTo>
                <a:lnTo>
                  <a:pt x="0" y="1122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/>
            <a:stretch>
              <a:fillRect l="0" t="0" r="0" b="0"/>
            </a:stretch>
          </a:blipFill>
        </p:spPr>
      </p:sp>
      <p:sp>
        <p:nvSpPr>
          <p:cNvPr id="423788825" name="TextBox 45"/>
          <p:cNvSpPr txBox="1"/>
          <p:nvPr/>
        </p:nvSpPr>
        <p:spPr bwMode="auto">
          <a:xfrm rot="0">
            <a:off x="4482237" y="6465918"/>
            <a:ext cx="1761716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40"/>
              </a:lnSpc>
              <a:spcBef>
                <a:spcPts val="0"/>
              </a:spcBef>
              <a:defRPr/>
            </a:pPr>
            <a:r>
              <a:rPr sz="1200" b="1">
                <a:solidFill>
                  <a:srgbClr val="000000"/>
                </a:solidFill>
              </a:rPr>
              <a:t>Nazmul</a:t>
            </a:r>
            <a:endParaRPr/>
          </a:p>
        </p:txBody>
      </p:sp>
      <p:sp>
        <p:nvSpPr>
          <p:cNvPr id="996327094" name="TextBox 46"/>
          <p:cNvSpPr txBox="1"/>
          <p:nvPr/>
        </p:nvSpPr>
        <p:spPr bwMode="auto">
          <a:xfrm rot="0">
            <a:off x="8344472" y="5422773"/>
            <a:ext cx="8382000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defRPr/>
            </a:pPr>
            <a:r>
              <a:rPr sz="1400">
                <a:solidFill>
                  <a:srgbClr val="1F1F1F"/>
                </a:solidFill>
              </a:rPr>
              <a:t>Try the build, send feedback, or open an issue on GitHub — every report shapes the next release.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Modern Nutrition &amp; Meal App Pitch Deck Presentation</dc:title>
  <dc:identifier>DAHWWc4W1zE</dc:identifier>
  <cp:lastModifiedBy/>
  <cp:revision>2</cp:revision>
  <dcterms:created xsi:type="dcterms:W3CDTF">2006-08-16T00:00:00Z</dcterms:created>
  <dcterms:modified xsi:type="dcterms:W3CDTF">2026-09-27T02:03:55Z</dcterms:modified>
</cp:coreProperties>
</file>